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Fallecidos por 1.000 siniestros</c:v>
                </c:pt>
              </c:strCache>
            </c:strRef>
          </c:tx>
          <c:spPr>
            <a:solidFill>
              <a:srgbClr val="F5B700"/>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Sheet1!$A$2:$A$10</c:f>
              <c:multiLvlStrCache>
                <c:ptCount val="9"/>
                <c:lvl>
                  <c:pt idx="0">
                    <c:v>2017</c:v>
                  </c:pt>
                  <c:pt idx="1">
                    <c:v>2018</c:v>
                  </c:pt>
                  <c:pt idx="2">
                    <c:v>2019</c:v>
                  </c:pt>
                  <c:pt idx="3">
                    <c:v>2020</c:v>
                  </c:pt>
                  <c:pt idx="4">
                    <c:v>2021</c:v>
                  </c:pt>
                  <c:pt idx="5">
                    <c:v>2022</c:v>
                  </c:pt>
                  <c:pt idx="6">
                    <c:v>2023</c:v>
                  </c:pt>
                  <c:pt idx="7">
                    <c:v>2024</c:v>
                  </c:pt>
                  <c:pt idx="8">
                    <c:v>2025</c:v>
                  </c:pt>
                </c:lvl>
              </c:multiLvlStrCache>
            </c:multiLvlStrRef>
          </c:cat>
          <c:val>
            <c:numRef>
              <c:f>Sheet1!$B$2:$B$10</c:f>
              <c:numCache>
                <c:formatCode>General</c:formatCode>
                <c:ptCount val="9"/>
                <c:pt idx="0">
                  <c:v>31</c:v>
                </c:pt>
                <c:pt idx="1">
                  <c:v>34.8</c:v>
                </c:pt>
                <c:pt idx="2">
                  <c:v>54.3</c:v>
                </c:pt>
                <c:pt idx="3">
                  <c:v>69.3</c:v>
                </c:pt>
                <c:pt idx="4">
                  <c:v>75.9</c:v>
                </c:pt>
                <c:pt idx="5">
                  <c:v>86</c:v>
                </c:pt>
                <c:pt idx="6">
                  <c:v>86.2</c:v>
                </c:pt>
                <c:pt idx="7">
                  <c:v>83.1</c:v>
                </c:pt>
                <c:pt idx="8">
                  <c:v>84.5</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A7B0C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Siniestros</c:v>
                </c:pt>
              </c:strCache>
            </c:strRef>
          </c:tx>
          <c:spPr>
            <a:solidFill>
              <a:srgbClr val="F5B700"/>
            </a:solidFill>
            <a:ln w="38100" cap="flat">
              <a:solidFill>
                <a:srgbClr val="F5B7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5B700"/>
              </a:solidFill>
              <a:ln w="9525" cap="flat">
                <a:solidFill>
                  <a:srgbClr val="F5B700"/>
                </a:solidFill>
                <a:prstDash val="solid"/>
                <a:round/>
              </a:ln>
              <a:effectLst/>
            </c:spPr>
          </c:marker>
          <c:cat>
            <c:multiLvlStrRef>
              <c:f>Sheet1!$A$2:$A$25</c:f>
              <c:multiLvlStrCache>
                <c:ptCount val="24"/>
                <c:lvl>
                  <c:pt idx="0">
                    <c:v>00h</c:v>
                  </c:pt>
                  <c:pt idx="1">
                    <c:v>01h</c:v>
                  </c:pt>
                  <c:pt idx="2">
                    <c:v>02h</c:v>
                  </c:pt>
                  <c:pt idx="3">
                    <c:v>03h</c:v>
                  </c:pt>
                  <c:pt idx="4">
                    <c:v>04h</c:v>
                  </c:pt>
                  <c:pt idx="5">
                    <c:v>05h</c:v>
                  </c:pt>
                  <c:pt idx="6">
                    <c:v>06h</c:v>
                  </c:pt>
                  <c:pt idx="7">
                    <c:v>07h</c:v>
                  </c:pt>
                  <c:pt idx="8">
                    <c:v>08h</c:v>
                  </c:pt>
                  <c:pt idx="9">
                    <c:v>09h</c:v>
                  </c:pt>
                  <c:pt idx="10">
                    <c:v>10h</c:v>
                  </c:pt>
                  <c:pt idx="11">
                    <c:v>11h</c:v>
                  </c:pt>
                  <c:pt idx="12">
                    <c:v>12h</c:v>
                  </c:pt>
                  <c:pt idx="13">
                    <c:v>13h</c:v>
                  </c:pt>
                  <c:pt idx="14">
                    <c:v>14h</c:v>
                  </c:pt>
                  <c:pt idx="15">
                    <c:v>15h</c:v>
                  </c:pt>
                  <c:pt idx="16">
                    <c:v>16h</c:v>
                  </c:pt>
                  <c:pt idx="17">
                    <c:v>17h</c:v>
                  </c:pt>
                  <c:pt idx="18">
                    <c:v>18h</c:v>
                  </c:pt>
                  <c:pt idx="19">
                    <c:v>19h</c:v>
                  </c:pt>
                  <c:pt idx="20">
                    <c:v>20h</c:v>
                  </c:pt>
                  <c:pt idx="21">
                    <c:v>21h</c:v>
                  </c:pt>
                  <c:pt idx="22">
                    <c:v>22h</c:v>
                  </c:pt>
                  <c:pt idx="23">
                    <c:v>23h</c:v>
                  </c:pt>
                </c:lvl>
              </c:multiLvlStrCache>
            </c:multiLvlStrRef>
          </c:cat>
          <c:val>
            <c:numRef>
              <c:f>Sheet1!$B$2:$B$25</c:f>
              <c:numCache>
                <c:formatCode>General</c:formatCode>
                <c:ptCount val="24"/>
                <c:pt idx="0">
                  <c:v>452</c:v>
                </c:pt>
                <c:pt idx="1">
                  <c:v>377</c:v>
                </c:pt>
                <c:pt idx="2">
                  <c:v>325</c:v>
                </c:pt>
                <c:pt idx="3">
                  <c:v>345</c:v>
                </c:pt>
                <c:pt idx="4">
                  <c:v>322</c:v>
                </c:pt>
                <c:pt idx="5">
                  <c:v>343</c:v>
                </c:pt>
                <c:pt idx="6">
                  <c:v>552</c:v>
                </c:pt>
                <c:pt idx="7">
                  <c:v>607</c:v>
                </c:pt>
                <c:pt idx="8">
                  <c:v>502</c:v>
                </c:pt>
                <c:pt idx="9">
                  <c:v>399</c:v>
                </c:pt>
                <c:pt idx="10">
                  <c:v>371</c:v>
                </c:pt>
                <c:pt idx="11">
                  <c:v>341</c:v>
                </c:pt>
                <c:pt idx="12">
                  <c:v>427</c:v>
                </c:pt>
                <c:pt idx="13">
                  <c:v>454</c:v>
                </c:pt>
                <c:pt idx="14">
                  <c:v>423</c:v>
                </c:pt>
                <c:pt idx="15">
                  <c:v>481</c:v>
                </c:pt>
                <c:pt idx="16">
                  <c:v>468</c:v>
                </c:pt>
                <c:pt idx="17">
                  <c:v>461</c:v>
                </c:pt>
                <c:pt idx="18">
                  <c:v>514</c:v>
                </c:pt>
                <c:pt idx="19">
                  <c:v>541</c:v>
                </c:pt>
                <c:pt idx="20">
                  <c:v>480</c:v>
                </c:pt>
                <c:pt idx="21">
                  <c:v>455</c:v>
                </c:pt>
                <c:pt idx="22">
                  <c:v>484</c:v>
                </c:pt>
                <c:pt idx="23">
                  <c:v>464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A7B0C0"/>
                </a:solidFill>
                <a:latin typeface="Arial"/>
              </a:defRPr>
            </a:pPr>
            <a:endParaRPr lang="en-US"/>
          </a:p>
        </c:txPr>
        <c:crossAx val="2094734552"/>
        <c:crosses val="autoZero"/>
        <c:auto val="1"/>
        <c:lblAlgn val="ctr"/>
        <c:noMultiLvlLbl val="1"/>
      </c:catAx>
      <c:valAx>
        <c:axId val="2094734552"/>
        <c:scaling>
          <c:orientation val="minMax"/>
          <c:min val="250"/>
        </c:scaling>
        <c:delete val="0"/>
        <c:axPos val="l"/>
        <c:majorGridlines>
          <c:spPr>
            <a:ln w="6350" cap="flat">
              <a:solidFill>
                <a:srgbClr val="2A304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A7B0C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Siniestros</c:v>
                </c:pt>
              </c:strCache>
            </c:strRef>
          </c:tx>
          <c:spPr>
            <a:solidFill>
              <a:srgbClr val="F5B700"/>
            </a:solidFill>
            <a:effectLst/>
          </c:spPr>
          <c:invertIfNegative val="0"/>
          <c:dLbls>
            <c:numFmt formatCode="#,##0" sourceLinked="0"/>
            <c:txPr>
              <a:bodyPr/>
              <a:lstStyle/>
              <a:p>
                <a:pPr>
                  <a:defRPr b="0" i="0" strike="noStrike" sz="1300" u="none">
                    <a:solidFill>
                      <a:srgbClr val="FFFFFF"/>
                    </a:solidFill>
                    <a:latin typeface="Arial"/>
                  </a:defRPr>
                </a:pPr>
              </a:p>
            </c:txPr>
            <c:showLegendKey val="0"/>
            <c:showVal val="1"/>
            <c:showCatName val="0"/>
            <c:showSerName val="0"/>
            <c:showPercent val="0"/>
            <c:showBubbleSize val="0"/>
            <c:showLeaderLines val="0"/>
          </c:dLbls>
          <c:cat>
            <c:multiLvlStrRef>
              <c:f>Sheet1!$A$2:$A$8</c:f>
              <c:multiLvlStrCache>
                <c:ptCount val="7"/>
                <c:lvl>
                  <c:pt idx="0">
                    <c:v>Conocoto</c:v>
                  </c:pt>
                  <c:pt idx="1">
                    <c:v>Ponceano</c:v>
                  </c:pt>
                  <c:pt idx="2">
                    <c:v>Itchimbía</c:v>
                  </c:pt>
                  <c:pt idx="3">
                    <c:v>Puengasí</c:v>
                  </c:pt>
                  <c:pt idx="4">
                    <c:v>Calderón</c:v>
                  </c:pt>
                  <c:pt idx="5">
                    <c:v>Iñaquito</c:v>
                  </c:pt>
                  <c:pt idx="6">
                    <c:v>Quitumbe</c:v>
                  </c:pt>
                </c:lvl>
              </c:multiLvlStrCache>
            </c:multiLvlStrRef>
          </c:cat>
          <c:val>
            <c:numRef>
              <c:f>Sheet1!$B$2:$B$8</c:f>
              <c:numCache>
                <c:formatCode>General</c:formatCode>
                <c:ptCount val="7"/>
                <c:pt idx="0">
                  <c:v>355</c:v>
                </c:pt>
                <c:pt idx="1">
                  <c:v>358</c:v>
                </c:pt>
                <c:pt idx="2">
                  <c:v>369</c:v>
                </c:pt>
                <c:pt idx="3">
                  <c:v>407</c:v>
                </c:pt>
                <c:pt idx="4">
                  <c:v>534</c:v>
                </c:pt>
                <c:pt idx="5">
                  <c:v>602</c:v>
                </c:pt>
                <c:pt idx="6">
                  <c:v>680</c:v>
                </c:pt>
              </c:numCache>
            </c:numRef>
          </c:val>
        </c:ser>
        <c:dLbls>
          <c:numFmt formatCode="#,##0" sourceLinked="0"/>
          <c:txPr>
            <a:bodyPr/>
            <a:lstStyle/>
            <a:p>
              <a:pPr>
                <a:defRPr b="0" i="0" strike="noStrike" sz="1300" u="none">
                  <a:solidFill>
                    <a:srgbClr val="FFFFF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Somos Maximiliano Parra, Jonathan Larraga y Ariel Pilliza. Nuestro proyecto es un análisis predictivo de accidentes de tránsito en Quito para identificar las zonas y horarios de mayor riesgo. Trabajamos con 44.982 siniestros reales de 10 años (2017 a 2026), todos de fuentes oficiales. El mapa de la derecha no es una ilustración: cada punto es un siniestro real ubicado con sus coordenadas. Ya se ve que no ocurren al azar: se concentran en ciertas vías y zonas.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este proyecto? Porque los siniestros de tránsito matan a más de 1,19 millones de personas al año en el mundo, según la OMS. En Ecuador, en 2025 murieron 2.354 personas: una cada 3,8 horas. Y Quito no es ajeno: en 2025 hubo 3.987 siniestros en el Distrito, con 337 fallecidos y más de 2.500 lesionados. Casi uno de cada cinco siniestros del país ocurre en nuestra ciudad.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el dato que más nos llamó la atención. Entre 2017 y 2025, los siniestros registrados en Quito bajaron a menos de la mitad. Uno pensaría que la situación mejoró. Pero los fallecidos subieron: en 2017 morían 31 personas por cada mil siniestros y hoy mueren 85. Los siniestros no desaparecieron, se volvieron más graves. Por eso no basta con contarlos: hay que entender dónde y cuándo ocurren los más peligrosos.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proponemos? Pasar de contar siniestros a anticiparlos. Partimos de datos oficiales: 10 años de registros de la ANT y del INEC, más las parroquias del Municipio y datos de clima. Los limpiamos e integramos en un solo dataset. Con eso construiremos un modelo que estime el nivel de riesgo por zona y franja horaria, y un dashboard donde se pueda elegir una zona, un día, una hora y si llueve, para ver el riesgo. La idea final es que la AMT o la Policía puedan planificar controles donde y cuando realmente se necesitan.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hoy existen reportes y visores que nos dicen cuántos siniestros hubo, pero ninguno nos dice dónde y cuándo es más probable el próximo. Tomamos como caso de estudio la Avenida Simón Bolívar. El mapa de la izquierda muestra en rojo sus siniestros: dibujan la avenida completa. Entre enero de 2024 y agosto de 2026 hubo 1.203 siniestros y 119 fallecidos en ella; es decir, una de cada siete muertes en las vías de Quito ocurrió en esta avenida. Y hay intersecciones que se repiten una y otra vez, como la de la Universidad Internacional.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aquí está la buena noticia: los siniestros no ocurren al azar. Esta línea muestra los siniestros por hora del día: hay picos a las 7 de la mañana y a las 7 de la noche, justo en la entrada y salida del trabajo. Además, el 35% ocurre el fin de semana, en solo dos de los siete días. También queremos medir si la lluvia influye, porque en Quito llueve en la tarde, justo en horas pico. Si hay patrones, se pueden predecir. Esa es nuestra pregunta: ¿dónde, cuándo y en qué condiciones es más probable un siniestro en Quito?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nuestros datos son oficiales. Del INEC tenemos los siniestros de 2017 a 2023: no tienen ubicación, pero nos permiten ver la tendencia de 10 años. De la ANT tenemos 2024 a 2026, con fecha, hora exacta y coordenadas de cada siniestro: con esto hacemos el mapa. Y como la ANT no dice en qué parroquia urbana ocurrió ni si llovía, sumamos las 65 parroquias oficiales del Municipio y los datos de clima de las 9 estaciones de la REMMAQ y de Open-Meteo.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esto lo unimos en un solo dataset de 44.982 siniestros y 32 variables, agrupadas en tiempo, ubicación, víctimas, características del siniestro y clima. El proceso tiene tres etapas: el archivo original, el limpio y el transformado, que es el que usará el modelo. Y verificamos la calidad: no hay duplicados, todo es del Distrito, eliminamos 3 siniestros que en realidad ocurrieron en Imbabura y detectamos 312 siniestros de diciembre de 2024 con coordenadas erróneas que ubicaban a Quito en Guayaquil.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ya tenemos un adelanto de lo que muestran los datos. Al ubicar cada siniestro en su parroquia real, Quitumbe, Iñaquito y Calderón encabezan la lista. Esto no se podía saber con los datos originales, porque la ANT registra casi todo el sector urbano simplemente como Quito. Además, casi la mitad de los siniestros deja al menos una víctima, y 2.497 tuvieron al menos un fallecido.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Nuestro objetivo general es desarrollar una solución de ciencia de datos que identifique las zonas de mayor riesgo en Quito y prediga el nivel de riesgo por zona y franja horaria, para apoyar la prevención. Para lograrlo tenemos cinco objetivos específicos: primero, limpiar y validar los datos, que ya lo hicimos; segundo, identificar los patrones de horas, días, parroquias y causas; tercero, integrar el clima y medir su efecto; cuarto, construir el modelo predictivo; y quinto, diseñar el dashboard con el mapa y los escenarios, validándolo con la Avenida Simón Bolívar.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por su atención. Cerramos recordando que cada punto de este mapa es una persona y una familia. Nuestro trabajo busca que esos puntos sean cada vez menos. ¿Tienen alguna pregunta?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F"/>
        </a:solidFill>
      </p:bgPr>
    </p:bg>
    <p:spTree>
      <p:nvGrpSpPr>
        <p:cNvPr id="1" name=""/>
        <p:cNvGrpSpPr/>
        <p:nvPr/>
      </p:nvGrpSpPr>
      <p:grpSpPr>
        <a:xfrm>
          <a:off x="0" y="0"/>
          <a:ext cx="0" cy="0"/>
          <a:chOff x="0" y="0"/>
          <a:chExt cx="0" cy="0"/>
        </a:xfrm>
      </p:grpSpPr>
      <p:pic>
        <p:nvPicPr>
          <p:cNvPr id="2" name="Image 0" descr="mapa_portada.png">    </p:cNvPr>
          <p:cNvPicPr>
            <a:picLocks noChangeAspect="1"/>
          </p:cNvPicPr>
          <p:nvPr/>
        </p:nvPicPr>
        <p:blipFill>
          <a:blip r:embed="rId1"/>
          <a:srcRect l="0" r="0" t="0" b="0"/>
          <a:stretch/>
        </p:blipFill>
        <p:spPr>
          <a:xfrm>
            <a:off x="6400800" y="0"/>
            <a:ext cx="5788152" cy="6858000"/>
          </a:xfrm>
          <a:prstGeom prst="rect">
            <a:avLst/>
          </a:prstGeom>
        </p:spPr>
      </p:pic>
      <p:sp>
        <p:nvSpPr>
          <p:cNvPr id="3" name="Text 0"/>
          <p:cNvSpPr txBox="1"/>
          <p:nvPr/>
        </p:nvSpPr>
        <p:spPr>
          <a:xfrm>
            <a:off x="548640" y="548640"/>
            <a:ext cx="5669280" cy="320040"/>
          </a:xfrm>
          <a:prstGeom prst="rect">
            <a:avLst/>
          </a:prstGeom>
          <a:noFill/>
          <a:ln/>
        </p:spPr>
        <p:txBody>
          <a:bodyPr wrap="square" lIns="0" tIns="0" rIns="0" bIns="0" rtlCol="0" anchor="ctr"/>
          <a:lstStyle/>
          <a:p>
            <a:pPr indent="0" marL="0">
              <a:buNone/>
            </a:pPr>
            <a:r>
              <a:rPr lang="en-US" sz="1300" b="1" spc="200" kern="0" dirty="0">
                <a:solidFill>
                  <a:srgbClr val="F5B700"/>
                </a:solidFill>
                <a:latin typeface="Calibri" pitchFamily="34" charset="0"/>
                <a:ea typeface="Calibri" pitchFamily="34" charset="-122"/>
                <a:cs typeface="Calibri" pitchFamily="34" charset="-120"/>
              </a:rPr>
              <a:t>CIENCIA Y ANÁLISIS DE DATOS  ·  QUITO 2026</a:t>
            </a:r>
            <a:endParaRPr lang="en-US" sz="1300" dirty="0"/>
          </a:p>
        </p:txBody>
      </p:sp>
      <p:sp>
        <p:nvSpPr>
          <p:cNvPr id="4" name="Text 1"/>
          <p:cNvSpPr txBox="1"/>
          <p:nvPr/>
        </p:nvSpPr>
        <p:spPr>
          <a:xfrm>
            <a:off x="548640" y="960120"/>
            <a:ext cx="5669280" cy="173736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Análisis Predictivo de Accidentes de Tránsito en Quito</a:t>
            </a:r>
            <a:endParaRPr lang="en-US" sz="3600" dirty="0"/>
          </a:p>
        </p:txBody>
      </p:sp>
      <p:sp>
        <p:nvSpPr>
          <p:cNvPr id="5" name="Text 2"/>
          <p:cNvSpPr txBox="1"/>
          <p:nvPr/>
        </p:nvSpPr>
        <p:spPr>
          <a:xfrm>
            <a:off x="548640" y="2743200"/>
            <a:ext cx="5486400" cy="731520"/>
          </a:xfrm>
          <a:prstGeom prst="rect">
            <a:avLst/>
          </a:prstGeom>
          <a:noFill/>
          <a:ln/>
        </p:spPr>
        <p:txBody>
          <a:bodyPr wrap="square" lIns="0" tIns="0" rIns="0" bIns="0" rtlCol="0" anchor="t"/>
          <a:lstStyle/>
          <a:p>
            <a:pPr indent="0" marL="0">
              <a:buNone/>
            </a:pPr>
            <a:r>
              <a:rPr lang="en-US" sz="1700" dirty="0">
                <a:solidFill>
                  <a:srgbClr val="A7B0C0"/>
                </a:solidFill>
                <a:latin typeface="Calibri" pitchFamily="34" charset="0"/>
                <a:ea typeface="Calibri" pitchFamily="34" charset="-122"/>
                <a:cs typeface="Calibri" pitchFamily="34" charset="-120"/>
              </a:rPr>
              <a:t>Identificación de zonas y horarios de mayor riesgo en el Distrito Metropolitano de Quito</a:t>
            </a:r>
            <a:endParaRPr lang="en-US" sz="1700" dirty="0"/>
          </a:p>
        </p:txBody>
      </p:sp>
      <p:sp>
        <p:nvSpPr>
          <p:cNvPr id="6" name="Text 3"/>
          <p:cNvSpPr txBox="1"/>
          <p:nvPr/>
        </p:nvSpPr>
        <p:spPr>
          <a:xfrm>
            <a:off x="548640" y="3703320"/>
            <a:ext cx="1783080" cy="502920"/>
          </a:xfrm>
          <a:prstGeom prst="rect">
            <a:avLst/>
          </a:prstGeom>
          <a:noFill/>
          <a:ln/>
        </p:spPr>
        <p:txBody>
          <a:bodyPr wrap="square" lIns="0" tIns="0" rIns="0" bIns="0" rtlCol="0" anchor="ctr"/>
          <a:lstStyle/>
          <a:p>
            <a:pPr indent="0" marL="0">
              <a:buNone/>
            </a:pPr>
            <a:r>
              <a:rPr lang="en-US" sz="2600" b="1" dirty="0">
                <a:solidFill>
                  <a:srgbClr val="F5B700"/>
                </a:solidFill>
                <a:latin typeface="Arial" pitchFamily="34" charset="0"/>
                <a:ea typeface="Arial" pitchFamily="34" charset="-122"/>
                <a:cs typeface="Arial" pitchFamily="34" charset="-120"/>
              </a:rPr>
              <a:t>44.982</a:t>
            </a:r>
            <a:endParaRPr lang="en-US" sz="2600" dirty="0"/>
          </a:p>
        </p:txBody>
      </p:sp>
      <p:sp>
        <p:nvSpPr>
          <p:cNvPr id="7" name="Text 4"/>
          <p:cNvSpPr txBox="1"/>
          <p:nvPr/>
        </p:nvSpPr>
        <p:spPr>
          <a:xfrm>
            <a:off x="548640" y="4206240"/>
            <a:ext cx="1783080" cy="548640"/>
          </a:xfrm>
          <a:prstGeom prst="rect">
            <a:avLst/>
          </a:prstGeom>
          <a:noFill/>
          <a:ln/>
        </p:spPr>
        <p:txBody>
          <a:bodyPr wrap="square" lIns="0" tIns="0" rIns="0" bIns="0" rtlCol="0" anchor="t"/>
          <a:lstStyle/>
          <a:p>
            <a:pPr indent="0" marL="0">
              <a:buNone/>
            </a:pPr>
            <a:r>
              <a:rPr lang="en-US" sz="1200" dirty="0">
                <a:solidFill>
                  <a:srgbClr val="A7B0C0"/>
                </a:solidFill>
                <a:latin typeface="Calibri" pitchFamily="34" charset="0"/>
                <a:ea typeface="Calibri" pitchFamily="34" charset="-122"/>
                <a:cs typeface="Calibri" pitchFamily="34" charset="-120"/>
              </a:rPr>
              <a:t>siniestros</a:t>
            </a:r>
            <a:endParaRPr lang="en-US" sz="1200" dirty="0"/>
          </a:p>
          <a:p>
            <a:pPr indent="0" marL="0">
              <a:buNone/>
            </a:pPr>
            <a:r>
              <a:rPr lang="en-US" sz="1200" dirty="0">
                <a:solidFill>
                  <a:srgbClr val="A7B0C0"/>
                </a:solidFill>
                <a:latin typeface="Calibri" pitchFamily="34" charset="0"/>
                <a:ea typeface="Calibri" pitchFamily="34" charset="-122"/>
                <a:cs typeface="Calibri" pitchFamily="34" charset="-120"/>
              </a:rPr>
              <a:t>analizados</a:t>
            </a:r>
            <a:endParaRPr lang="en-US" sz="1200" dirty="0"/>
          </a:p>
        </p:txBody>
      </p:sp>
      <p:sp>
        <p:nvSpPr>
          <p:cNvPr id="8" name="Text 5"/>
          <p:cNvSpPr txBox="1"/>
          <p:nvPr/>
        </p:nvSpPr>
        <p:spPr>
          <a:xfrm>
            <a:off x="2423160" y="3703320"/>
            <a:ext cx="1783080" cy="502920"/>
          </a:xfrm>
          <a:prstGeom prst="rect">
            <a:avLst/>
          </a:prstGeom>
          <a:noFill/>
          <a:ln/>
        </p:spPr>
        <p:txBody>
          <a:bodyPr wrap="square" lIns="0" tIns="0" rIns="0" bIns="0" rtlCol="0" anchor="ctr"/>
          <a:lstStyle/>
          <a:p>
            <a:pPr indent="0" marL="0">
              <a:buNone/>
            </a:pPr>
            <a:r>
              <a:rPr lang="en-US" sz="2600" b="1" dirty="0">
                <a:solidFill>
                  <a:srgbClr val="F5B700"/>
                </a:solidFill>
                <a:latin typeface="Arial" pitchFamily="34" charset="0"/>
                <a:ea typeface="Arial" pitchFamily="34" charset="-122"/>
                <a:cs typeface="Arial" pitchFamily="34" charset="-120"/>
              </a:rPr>
              <a:t>10 años</a:t>
            </a:r>
            <a:endParaRPr lang="en-US" sz="2600" dirty="0"/>
          </a:p>
        </p:txBody>
      </p:sp>
      <p:sp>
        <p:nvSpPr>
          <p:cNvPr id="9" name="Text 6"/>
          <p:cNvSpPr txBox="1"/>
          <p:nvPr/>
        </p:nvSpPr>
        <p:spPr>
          <a:xfrm>
            <a:off x="2423160" y="4206240"/>
            <a:ext cx="1783080" cy="548640"/>
          </a:xfrm>
          <a:prstGeom prst="rect">
            <a:avLst/>
          </a:prstGeom>
          <a:noFill/>
          <a:ln/>
        </p:spPr>
        <p:txBody>
          <a:bodyPr wrap="square" lIns="0" tIns="0" rIns="0" bIns="0" rtlCol="0" anchor="t"/>
          <a:lstStyle/>
          <a:p>
            <a:pPr indent="0" marL="0">
              <a:buNone/>
            </a:pPr>
            <a:r>
              <a:rPr lang="en-US" sz="1200" dirty="0">
                <a:solidFill>
                  <a:srgbClr val="A7B0C0"/>
                </a:solidFill>
                <a:latin typeface="Calibri" pitchFamily="34" charset="0"/>
                <a:ea typeface="Calibri" pitchFamily="34" charset="-122"/>
                <a:cs typeface="Calibri" pitchFamily="34" charset="-120"/>
              </a:rPr>
              <a:t>de datos</a:t>
            </a:r>
            <a:endParaRPr lang="en-US" sz="1200" dirty="0"/>
          </a:p>
          <a:p>
            <a:pPr indent="0" marL="0">
              <a:buNone/>
            </a:pPr>
            <a:r>
              <a:rPr lang="en-US" sz="1200" dirty="0">
                <a:solidFill>
                  <a:srgbClr val="A7B0C0"/>
                </a:solidFill>
                <a:latin typeface="Calibri" pitchFamily="34" charset="0"/>
                <a:ea typeface="Calibri" pitchFamily="34" charset="-122"/>
                <a:cs typeface="Calibri" pitchFamily="34" charset="-120"/>
              </a:rPr>
              <a:t>2017 – 2026</a:t>
            </a:r>
            <a:endParaRPr lang="en-US" sz="1200" dirty="0"/>
          </a:p>
        </p:txBody>
      </p:sp>
      <p:sp>
        <p:nvSpPr>
          <p:cNvPr id="10" name="Text 7"/>
          <p:cNvSpPr txBox="1"/>
          <p:nvPr/>
        </p:nvSpPr>
        <p:spPr>
          <a:xfrm>
            <a:off x="4297680" y="3703320"/>
            <a:ext cx="1783080" cy="502920"/>
          </a:xfrm>
          <a:prstGeom prst="rect">
            <a:avLst/>
          </a:prstGeom>
          <a:noFill/>
          <a:ln/>
        </p:spPr>
        <p:txBody>
          <a:bodyPr wrap="square" lIns="0" tIns="0" rIns="0" bIns="0" rtlCol="0" anchor="ctr"/>
          <a:lstStyle/>
          <a:p>
            <a:pPr indent="0" marL="0">
              <a:buNone/>
            </a:pPr>
            <a:r>
              <a:rPr lang="en-US" sz="2600" b="1" dirty="0">
                <a:solidFill>
                  <a:srgbClr val="F5B700"/>
                </a:solidFill>
                <a:latin typeface="Arial" pitchFamily="34" charset="0"/>
                <a:ea typeface="Arial" pitchFamily="34" charset="-122"/>
                <a:cs typeface="Arial" pitchFamily="34" charset="-120"/>
              </a:rPr>
              <a:t>10.272</a:t>
            </a:r>
            <a:endParaRPr lang="en-US" sz="2600" dirty="0"/>
          </a:p>
        </p:txBody>
      </p:sp>
      <p:sp>
        <p:nvSpPr>
          <p:cNvPr id="11" name="Text 8"/>
          <p:cNvSpPr txBox="1"/>
          <p:nvPr/>
        </p:nvSpPr>
        <p:spPr>
          <a:xfrm>
            <a:off x="4297680" y="4206240"/>
            <a:ext cx="1783080" cy="548640"/>
          </a:xfrm>
          <a:prstGeom prst="rect">
            <a:avLst/>
          </a:prstGeom>
          <a:noFill/>
          <a:ln/>
        </p:spPr>
        <p:txBody>
          <a:bodyPr wrap="square" lIns="0" tIns="0" rIns="0" bIns="0" rtlCol="0" anchor="t"/>
          <a:lstStyle/>
          <a:p>
            <a:pPr indent="0" marL="0">
              <a:buNone/>
            </a:pPr>
            <a:r>
              <a:rPr lang="en-US" sz="1200" dirty="0">
                <a:solidFill>
                  <a:srgbClr val="A7B0C0"/>
                </a:solidFill>
                <a:latin typeface="Calibri" pitchFamily="34" charset="0"/>
                <a:ea typeface="Calibri" pitchFamily="34" charset="-122"/>
                <a:cs typeface="Calibri" pitchFamily="34" charset="-120"/>
              </a:rPr>
              <a:t>siniestros</a:t>
            </a:r>
            <a:endParaRPr lang="en-US" sz="1200" dirty="0"/>
          </a:p>
          <a:p>
            <a:pPr indent="0" marL="0">
              <a:buNone/>
            </a:pPr>
            <a:r>
              <a:rPr lang="en-US" sz="1200" dirty="0">
                <a:solidFill>
                  <a:srgbClr val="A7B0C0"/>
                </a:solidFill>
                <a:latin typeface="Calibri" pitchFamily="34" charset="0"/>
                <a:ea typeface="Calibri" pitchFamily="34" charset="-122"/>
                <a:cs typeface="Calibri" pitchFamily="34" charset="-120"/>
              </a:rPr>
              <a:t>en el mapa</a:t>
            </a:r>
            <a:endParaRPr lang="en-US" sz="1200" dirty="0"/>
          </a:p>
        </p:txBody>
      </p:sp>
      <p:sp>
        <p:nvSpPr>
          <p:cNvPr id="12" name="Shape 9"/>
          <p:cNvSpPr/>
          <p:nvPr/>
        </p:nvSpPr>
        <p:spPr>
          <a:xfrm>
            <a:off x="548640" y="5257800"/>
            <a:ext cx="566928" cy="566928"/>
          </a:xfrm>
          <a:prstGeom prst="ellipse">
            <a:avLst/>
          </a:prstGeom>
          <a:solidFill>
            <a:srgbClr val="F5B700"/>
          </a:solidFill>
          <a:ln w="12700">
            <a:solidFill>
              <a:srgbClr val="F5B700"/>
            </a:solidFill>
            <a:prstDash val="solid"/>
          </a:ln>
        </p:spPr>
      </p:sp>
      <p:pic>
        <p:nvPicPr>
          <p:cNvPr id="13" name="Image 1" descr="preencoded.png">    </p:cNvPr>
          <p:cNvPicPr>
            <a:picLocks noChangeAspect="1"/>
          </p:cNvPicPr>
          <p:nvPr/>
        </p:nvPicPr>
        <p:blipFill>
          <a:blip r:embed="rId2"/>
          <a:stretch>
            <a:fillRect/>
          </a:stretch>
        </p:blipFill>
        <p:spPr>
          <a:xfrm>
            <a:off x="696041" y="5405201"/>
            <a:ext cx="272125" cy="272125"/>
          </a:xfrm>
          <a:prstGeom prst="rect">
            <a:avLst/>
          </a:prstGeom>
        </p:spPr>
      </p:pic>
      <p:sp>
        <p:nvSpPr>
          <p:cNvPr id="14" name="Text 10"/>
          <p:cNvSpPr txBox="1"/>
          <p:nvPr/>
        </p:nvSpPr>
        <p:spPr>
          <a:xfrm>
            <a:off x="1280160" y="5193792"/>
            <a:ext cx="4572000" cy="320040"/>
          </a:xfrm>
          <a:prstGeom prst="rect">
            <a:avLst/>
          </a:prstGeom>
          <a:noFill/>
          <a:ln/>
        </p:spPr>
        <p:txBody>
          <a:bodyPr wrap="square" lIns="0" tIns="0" rIns="0" bIns="0" rtlCol="0" anchor="ctr"/>
          <a:lstStyle/>
          <a:p>
            <a:pPr indent="0" marL="0">
              <a:buNone/>
            </a:pPr>
            <a:r>
              <a:rPr lang="en-US" sz="1200" dirty="0">
                <a:solidFill>
                  <a:srgbClr val="A7B0C0"/>
                </a:solidFill>
                <a:latin typeface="Calibri" pitchFamily="34" charset="0"/>
                <a:ea typeface="Calibri" pitchFamily="34" charset="-122"/>
                <a:cs typeface="Calibri" pitchFamily="34" charset="-120"/>
              </a:rPr>
              <a:t>Integrantes</a:t>
            </a:r>
            <a:endParaRPr lang="en-US" sz="1200" dirty="0"/>
          </a:p>
        </p:txBody>
      </p:sp>
      <p:sp>
        <p:nvSpPr>
          <p:cNvPr id="15" name="Text 11"/>
          <p:cNvSpPr txBox="1"/>
          <p:nvPr/>
        </p:nvSpPr>
        <p:spPr>
          <a:xfrm>
            <a:off x="1280160" y="5504688"/>
            <a:ext cx="50292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Maximiliano Parra  ·  Jonathan Larraga  ·  Ariel Pilliza</a:t>
            </a:r>
            <a:endParaRPr lang="en-US" sz="1600" dirty="0"/>
          </a:p>
        </p:txBody>
      </p:sp>
      <p:sp>
        <p:nvSpPr>
          <p:cNvPr id="16" name="Text 12"/>
          <p:cNvSpPr txBox="1"/>
          <p:nvPr/>
        </p:nvSpPr>
        <p:spPr>
          <a:xfrm>
            <a:off x="6629400" y="6400800"/>
            <a:ext cx="5394960" cy="274320"/>
          </a:xfrm>
          <a:prstGeom prst="rect">
            <a:avLst/>
          </a:prstGeom>
          <a:noFill/>
          <a:ln/>
        </p:spPr>
        <p:txBody>
          <a:bodyPr wrap="square" lIns="0" tIns="0" rIns="0" bIns="0" rtlCol="0" anchor="ctr"/>
          <a:lstStyle/>
          <a:p>
            <a:pPr algn="r" indent="0" marL="0">
              <a:buNone/>
            </a:pPr>
            <a:r>
              <a:rPr lang="en-US" sz="1000" dirty="0">
                <a:solidFill>
                  <a:srgbClr val="A7B0C0"/>
                </a:solidFill>
                <a:latin typeface="Calibri" pitchFamily="34" charset="0"/>
                <a:ea typeface="Calibri" pitchFamily="34" charset="-122"/>
                <a:cs typeface="Calibri" pitchFamily="34" charset="-120"/>
              </a:rPr>
              <a:t>Cada punto del mapa es un siniestro real registrado por la ANT (2024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71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Cada 3,8 horas muere una persona en las vías del país</a:t>
            </a:r>
            <a:endParaRPr lang="en-US" sz="32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600" dirty="0">
                <a:solidFill>
                  <a:srgbClr val="A7B0C0"/>
                </a:solidFill>
                <a:latin typeface="Calibri" pitchFamily="34" charset="0"/>
                <a:ea typeface="Calibri" pitchFamily="34" charset="-122"/>
                <a:cs typeface="Calibri" pitchFamily="34" charset="-120"/>
              </a:rPr>
              <a:t>El problema es mundial, nacional… y también está en nuestra ciudad</a:t>
            </a:r>
            <a:endParaRPr lang="en-US" sz="1600" dirty="0"/>
          </a:p>
        </p:txBody>
      </p:sp>
      <p:sp>
        <p:nvSpPr>
          <p:cNvPr id="4" name="Shape 2"/>
          <p:cNvSpPr/>
          <p:nvPr/>
        </p:nvSpPr>
        <p:spPr>
          <a:xfrm>
            <a:off x="548640" y="1874520"/>
            <a:ext cx="3520440" cy="4160520"/>
          </a:xfrm>
          <a:prstGeom prst="roundRect">
            <a:avLst>
              <a:gd name="adj" fmla="val 3117"/>
            </a:avLst>
          </a:prstGeom>
          <a:solidFill>
            <a:srgbClr val="1E2330"/>
          </a:solidFill>
          <a:ln w="12700">
            <a:solidFill>
              <a:srgbClr val="1E2330"/>
            </a:solidFill>
            <a:prstDash val="solid"/>
          </a:ln>
        </p:spPr>
      </p:sp>
      <p:sp>
        <p:nvSpPr>
          <p:cNvPr id="5" name="Shape 3"/>
          <p:cNvSpPr/>
          <p:nvPr/>
        </p:nvSpPr>
        <p:spPr>
          <a:xfrm>
            <a:off x="868680" y="2194560"/>
            <a:ext cx="731520" cy="731520"/>
          </a:xfrm>
          <a:prstGeom prst="ellipse">
            <a:avLst/>
          </a:prstGeom>
          <a:solidFill>
            <a:srgbClr val="3A4152"/>
          </a:solidFill>
          <a:ln w="12700">
            <a:solidFill>
              <a:srgbClr val="3A4152"/>
            </a:solidFill>
            <a:prstDash val="solid"/>
          </a:ln>
        </p:spPr>
      </p:sp>
      <p:pic>
        <p:nvPicPr>
          <p:cNvPr id="6" name="Image 0" descr="preencoded.png">    </p:cNvPr>
          <p:cNvPicPr>
            <a:picLocks noChangeAspect="1"/>
          </p:cNvPicPr>
          <p:nvPr/>
        </p:nvPicPr>
        <p:blipFill>
          <a:blip r:embed="rId1"/>
          <a:stretch>
            <a:fillRect/>
          </a:stretch>
        </p:blipFill>
        <p:spPr>
          <a:xfrm>
            <a:off x="1058875" y="2384755"/>
            <a:ext cx="351130" cy="351130"/>
          </a:xfrm>
          <a:prstGeom prst="rect">
            <a:avLst/>
          </a:prstGeom>
        </p:spPr>
      </p:pic>
      <p:sp>
        <p:nvSpPr>
          <p:cNvPr id="7" name="Text 4"/>
          <p:cNvSpPr txBox="1"/>
          <p:nvPr/>
        </p:nvSpPr>
        <p:spPr>
          <a:xfrm>
            <a:off x="868680" y="3108960"/>
            <a:ext cx="2926080" cy="320040"/>
          </a:xfrm>
          <a:prstGeom prst="rect">
            <a:avLst/>
          </a:prstGeom>
          <a:noFill/>
          <a:ln/>
        </p:spPr>
        <p:txBody>
          <a:bodyPr wrap="square" lIns="0" tIns="0" rIns="0" bIns="0" rtlCol="0" anchor="ctr"/>
          <a:lstStyle/>
          <a:p>
            <a:pPr indent="0" marL="0">
              <a:buNone/>
            </a:pPr>
            <a:r>
              <a:rPr lang="en-US" sz="1300" b="1" spc="100" kern="0" dirty="0">
                <a:solidFill>
                  <a:srgbClr val="A7B0C0"/>
                </a:solidFill>
                <a:latin typeface="Calibri" pitchFamily="34" charset="0"/>
                <a:ea typeface="Calibri" pitchFamily="34" charset="-122"/>
                <a:cs typeface="Calibri" pitchFamily="34" charset="-120"/>
              </a:rPr>
              <a:t>EL MUNDO</a:t>
            </a:r>
            <a:endParaRPr lang="en-US" sz="1300" dirty="0"/>
          </a:p>
        </p:txBody>
      </p:sp>
      <p:sp>
        <p:nvSpPr>
          <p:cNvPr id="8" name="Text 5"/>
          <p:cNvSpPr txBox="1"/>
          <p:nvPr/>
        </p:nvSpPr>
        <p:spPr>
          <a:xfrm>
            <a:off x="868680" y="3474720"/>
            <a:ext cx="3017520" cy="77724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1,19 M</a:t>
            </a:r>
            <a:endParaRPr lang="en-US" sz="4000" dirty="0"/>
          </a:p>
        </p:txBody>
      </p:sp>
      <p:sp>
        <p:nvSpPr>
          <p:cNvPr id="9" name="Text 6"/>
          <p:cNvSpPr txBox="1"/>
          <p:nvPr/>
        </p:nvSpPr>
        <p:spPr>
          <a:xfrm>
            <a:off x="868680" y="4297680"/>
            <a:ext cx="2926080" cy="7315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millones de personas mueren cada año por siniestros de tránsito</a:t>
            </a:r>
            <a:endParaRPr lang="en-US" sz="1500" dirty="0"/>
          </a:p>
        </p:txBody>
      </p:sp>
      <p:sp>
        <p:nvSpPr>
          <p:cNvPr id="10" name="Text 7"/>
          <p:cNvSpPr txBox="1"/>
          <p:nvPr/>
        </p:nvSpPr>
        <p:spPr>
          <a:xfrm>
            <a:off x="868680" y="5120640"/>
            <a:ext cx="2926080" cy="640080"/>
          </a:xfrm>
          <a:prstGeom prst="rect">
            <a:avLst/>
          </a:prstGeom>
          <a:noFill/>
          <a:ln/>
        </p:spPr>
        <p:txBody>
          <a:bodyPr wrap="square" lIns="0" tIns="0" rIns="0" bIns="0" rtlCol="0" anchor="t"/>
          <a:lstStyle/>
          <a:p>
            <a:pPr indent="0" marL="0">
              <a:buNone/>
            </a:pPr>
            <a:r>
              <a:rPr lang="en-US" sz="1300" i="1" dirty="0">
                <a:solidFill>
                  <a:srgbClr val="A7B0C0"/>
                </a:solidFill>
                <a:latin typeface="Calibri" pitchFamily="34" charset="0"/>
                <a:ea typeface="Calibri" pitchFamily="34" charset="-122"/>
                <a:cs typeface="Calibri" pitchFamily="34" charset="-120"/>
              </a:rPr>
              <a:t>Principal causa de muerte de niños y jóvenes de 5 a 29 años</a:t>
            </a:r>
            <a:endParaRPr lang="en-US" sz="1300" dirty="0"/>
          </a:p>
        </p:txBody>
      </p:sp>
      <p:sp>
        <p:nvSpPr>
          <p:cNvPr id="11" name="Shape 8"/>
          <p:cNvSpPr/>
          <p:nvPr/>
        </p:nvSpPr>
        <p:spPr>
          <a:xfrm>
            <a:off x="4297680" y="1874520"/>
            <a:ext cx="3520440" cy="4160520"/>
          </a:xfrm>
          <a:prstGeom prst="roundRect">
            <a:avLst>
              <a:gd name="adj" fmla="val 3117"/>
            </a:avLst>
          </a:prstGeom>
          <a:solidFill>
            <a:srgbClr val="1E2330"/>
          </a:solidFill>
          <a:ln w="12700">
            <a:solidFill>
              <a:srgbClr val="1E2330"/>
            </a:solidFill>
            <a:prstDash val="solid"/>
          </a:ln>
        </p:spPr>
      </p:sp>
      <p:sp>
        <p:nvSpPr>
          <p:cNvPr id="12" name="Shape 9"/>
          <p:cNvSpPr/>
          <p:nvPr/>
        </p:nvSpPr>
        <p:spPr>
          <a:xfrm>
            <a:off x="4617720" y="2194560"/>
            <a:ext cx="731520" cy="731520"/>
          </a:xfrm>
          <a:prstGeom prst="ellipse">
            <a:avLst/>
          </a:prstGeom>
          <a:solidFill>
            <a:srgbClr val="3A4152"/>
          </a:solidFill>
          <a:ln w="12700">
            <a:solidFill>
              <a:srgbClr val="3A4152"/>
            </a:solidFill>
            <a:prstDash val="solid"/>
          </a:ln>
        </p:spPr>
      </p:sp>
      <p:pic>
        <p:nvPicPr>
          <p:cNvPr id="13" name="Image 1" descr="preencoded.png">    </p:cNvPr>
          <p:cNvPicPr>
            <a:picLocks noChangeAspect="1"/>
          </p:cNvPicPr>
          <p:nvPr/>
        </p:nvPicPr>
        <p:blipFill>
          <a:blip r:embed="rId2"/>
          <a:stretch>
            <a:fillRect/>
          </a:stretch>
        </p:blipFill>
        <p:spPr>
          <a:xfrm>
            <a:off x="4807915" y="2384755"/>
            <a:ext cx="351130" cy="351130"/>
          </a:xfrm>
          <a:prstGeom prst="rect">
            <a:avLst/>
          </a:prstGeom>
        </p:spPr>
      </p:pic>
      <p:sp>
        <p:nvSpPr>
          <p:cNvPr id="14" name="Text 10"/>
          <p:cNvSpPr txBox="1"/>
          <p:nvPr/>
        </p:nvSpPr>
        <p:spPr>
          <a:xfrm>
            <a:off x="4617720" y="3108960"/>
            <a:ext cx="2926080" cy="320040"/>
          </a:xfrm>
          <a:prstGeom prst="rect">
            <a:avLst/>
          </a:prstGeom>
          <a:noFill/>
          <a:ln/>
        </p:spPr>
        <p:txBody>
          <a:bodyPr wrap="square" lIns="0" tIns="0" rIns="0" bIns="0" rtlCol="0" anchor="ctr"/>
          <a:lstStyle/>
          <a:p>
            <a:pPr indent="0" marL="0">
              <a:buNone/>
            </a:pPr>
            <a:r>
              <a:rPr lang="en-US" sz="1300" b="1" spc="100" kern="0" dirty="0">
                <a:solidFill>
                  <a:srgbClr val="A7B0C0"/>
                </a:solidFill>
                <a:latin typeface="Calibri" pitchFamily="34" charset="0"/>
                <a:ea typeface="Calibri" pitchFamily="34" charset="-122"/>
                <a:cs typeface="Calibri" pitchFamily="34" charset="-120"/>
              </a:rPr>
              <a:t>ECUADOR · 2025</a:t>
            </a:r>
            <a:endParaRPr lang="en-US" sz="1300" dirty="0"/>
          </a:p>
        </p:txBody>
      </p:sp>
      <p:sp>
        <p:nvSpPr>
          <p:cNvPr id="15" name="Text 11"/>
          <p:cNvSpPr txBox="1"/>
          <p:nvPr/>
        </p:nvSpPr>
        <p:spPr>
          <a:xfrm>
            <a:off x="4617720" y="3474720"/>
            <a:ext cx="3017520" cy="77724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2.354</a:t>
            </a:r>
            <a:endParaRPr lang="en-US" sz="4000" dirty="0"/>
          </a:p>
        </p:txBody>
      </p:sp>
      <p:sp>
        <p:nvSpPr>
          <p:cNvPr id="16" name="Text 12"/>
          <p:cNvSpPr txBox="1"/>
          <p:nvPr/>
        </p:nvSpPr>
        <p:spPr>
          <a:xfrm>
            <a:off x="4617720" y="4297680"/>
            <a:ext cx="2926080" cy="7315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personas fallecidas en 20.346 siniestros</a:t>
            </a:r>
            <a:endParaRPr lang="en-US" sz="1500" dirty="0"/>
          </a:p>
        </p:txBody>
      </p:sp>
      <p:sp>
        <p:nvSpPr>
          <p:cNvPr id="17" name="Text 13"/>
          <p:cNvSpPr txBox="1"/>
          <p:nvPr/>
        </p:nvSpPr>
        <p:spPr>
          <a:xfrm>
            <a:off x="4617720" y="5120640"/>
            <a:ext cx="2926080" cy="640080"/>
          </a:xfrm>
          <a:prstGeom prst="rect">
            <a:avLst/>
          </a:prstGeom>
          <a:noFill/>
          <a:ln/>
        </p:spPr>
        <p:txBody>
          <a:bodyPr wrap="square" lIns="0" tIns="0" rIns="0" bIns="0" rtlCol="0" anchor="t"/>
          <a:lstStyle/>
          <a:p>
            <a:pPr indent="0" marL="0">
              <a:buNone/>
            </a:pPr>
            <a:r>
              <a:rPr lang="en-US" sz="1300" i="1" dirty="0">
                <a:solidFill>
                  <a:srgbClr val="A7B0C0"/>
                </a:solidFill>
                <a:latin typeface="Calibri" pitchFamily="34" charset="0"/>
                <a:ea typeface="Calibri" pitchFamily="34" charset="-122"/>
                <a:cs typeface="Calibri" pitchFamily="34" charset="-120"/>
              </a:rPr>
              <a:t>Una muerte cada 3,8 horas</a:t>
            </a:r>
            <a:endParaRPr lang="en-US" sz="1300" dirty="0"/>
          </a:p>
        </p:txBody>
      </p:sp>
      <p:sp>
        <p:nvSpPr>
          <p:cNvPr id="18" name="Shape 14"/>
          <p:cNvSpPr/>
          <p:nvPr/>
        </p:nvSpPr>
        <p:spPr>
          <a:xfrm>
            <a:off x="8046720" y="1874520"/>
            <a:ext cx="3520440" cy="4160520"/>
          </a:xfrm>
          <a:prstGeom prst="roundRect">
            <a:avLst>
              <a:gd name="adj" fmla="val 3117"/>
            </a:avLst>
          </a:prstGeom>
          <a:solidFill>
            <a:srgbClr val="262C3B"/>
          </a:solidFill>
          <a:ln w="12700">
            <a:solidFill>
              <a:srgbClr val="262C3B"/>
            </a:solidFill>
            <a:prstDash val="solid"/>
          </a:ln>
        </p:spPr>
      </p:sp>
      <p:sp>
        <p:nvSpPr>
          <p:cNvPr id="19" name="Shape 15"/>
          <p:cNvSpPr/>
          <p:nvPr/>
        </p:nvSpPr>
        <p:spPr>
          <a:xfrm>
            <a:off x="8366760" y="2194560"/>
            <a:ext cx="731520" cy="731520"/>
          </a:xfrm>
          <a:prstGeom prst="ellipse">
            <a:avLst/>
          </a:prstGeom>
          <a:solidFill>
            <a:srgbClr val="F5B700"/>
          </a:solidFill>
          <a:ln w="12700">
            <a:solidFill>
              <a:srgbClr val="F5B700"/>
            </a:solidFill>
            <a:prstDash val="solid"/>
          </a:ln>
        </p:spPr>
      </p:sp>
      <p:pic>
        <p:nvPicPr>
          <p:cNvPr id="20" name="Image 2" descr="preencoded.png">    </p:cNvPr>
          <p:cNvPicPr>
            <a:picLocks noChangeAspect="1"/>
          </p:cNvPicPr>
          <p:nvPr/>
        </p:nvPicPr>
        <p:blipFill>
          <a:blip r:embed="rId3"/>
          <a:stretch>
            <a:fillRect/>
          </a:stretch>
        </p:blipFill>
        <p:spPr>
          <a:xfrm>
            <a:off x="8556955" y="2384755"/>
            <a:ext cx="351130" cy="351130"/>
          </a:xfrm>
          <a:prstGeom prst="rect">
            <a:avLst/>
          </a:prstGeom>
        </p:spPr>
      </p:pic>
      <p:sp>
        <p:nvSpPr>
          <p:cNvPr id="21" name="Text 16"/>
          <p:cNvSpPr txBox="1"/>
          <p:nvPr/>
        </p:nvSpPr>
        <p:spPr>
          <a:xfrm>
            <a:off x="8366760" y="3108960"/>
            <a:ext cx="2926080" cy="320040"/>
          </a:xfrm>
          <a:prstGeom prst="rect">
            <a:avLst/>
          </a:prstGeom>
          <a:noFill/>
          <a:ln/>
        </p:spPr>
        <p:txBody>
          <a:bodyPr wrap="square" lIns="0" tIns="0" rIns="0" bIns="0" rtlCol="0" anchor="ctr"/>
          <a:lstStyle/>
          <a:p>
            <a:pPr indent="0" marL="0">
              <a:buNone/>
            </a:pPr>
            <a:r>
              <a:rPr lang="en-US" sz="1300" b="1" spc="100" kern="0" dirty="0">
                <a:solidFill>
                  <a:srgbClr val="F5B700"/>
                </a:solidFill>
                <a:latin typeface="Calibri" pitchFamily="34" charset="0"/>
                <a:ea typeface="Calibri" pitchFamily="34" charset="-122"/>
                <a:cs typeface="Calibri" pitchFamily="34" charset="-120"/>
              </a:rPr>
              <a:t>QUITO · 2025</a:t>
            </a:r>
            <a:endParaRPr lang="en-US" sz="1300" dirty="0"/>
          </a:p>
        </p:txBody>
      </p:sp>
      <p:sp>
        <p:nvSpPr>
          <p:cNvPr id="22" name="Text 17"/>
          <p:cNvSpPr txBox="1"/>
          <p:nvPr/>
        </p:nvSpPr>
        <p:spPr>
          <a:xfrm>
            <a:off x="8366760" y="3474720"/>
            <a:ext cx="3017520" cy="777240"/>
          </a:xfrm>
          <a:prstGeom prst="rect">
            <a:avLst/>
          </a:prstGeom>
          <a:noFill/>
          <a:ln/>
        </p:spPr>
        <p:txBody>
          <a:bodyPr wrap="square" lIns="0" tIns="0" rIns="0" bIns="0" rtlCol="0" anchor="ctr"/>
          <a:lstStyle/>
          <a:p>
            <a:pPr indent="0" marL="0">
              <a:buNone/>
            </a:pPr>
            <a:r>
              <a:rPr lang="en-US" sz="4000" b="1" dirty="0">
                <a:solidFill>
                  <a:srgbClr val="F5B700"/>
                </a:solidFill>
                <a:latin typeface="Arial" pitchFamily="34" charset="0"/>
                <a:ea typeface="Arial" pitchFamily="34" charset="-122"/>
                <a:cs typeface="Arial" pitchFamily="34" charset="-120"/>
              </a:rPr>
              <a:t>3.987</a:t>
            </a:r>
            <a:endParaRPr lang="en-US" sz="4000" dirty="0"/>
          </a:p>
        </p:txBody>
      </p:sp>
      <p:sp>
        <p:nvSpPr>
          <p:cNvPr id="23" name="Text 18"/>
          <p:cNvSpPr txBox="1"/>
          <p:nvPr/>
        </p:nvSpPr>
        <p:spPr>
          <a:xfrm>
            <a:off x="8366760" y="4297680"/>
            <a:ext cx="2926080" cy="7315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siniestros, con 337 fallecidos y 2.539 lesionados</a:t>
            </a:r>
            <a:endParaRPr lang="en-US" sz="1500" dirty="0"/>
          </a:p>
        </p:txBody>
      </p:sp>
      <p:sp>
        <p:nvSpPr>
          <p:cNvPr id="24" name="Text 19"/>
          <p:cNvSpPr txBox="1"/>
          <p:nvPr/>
        </p:nvSpPr>
        <p:spPr>
          <a:xfrm>
            <a:off x="8366760" y="5120640"/>
            <a:ext cx="2926080" cy="640080"/>
          </a:xfrm>
          <a:prstGeom prst="rect">
            <a:avLst/>
          </a:prstGeom>
          <a:noFill/>
          <a:ln/>
        </p:spPr>
        <p:txBody>
          <a:bodyPr wrap="square" lIns="0" tIns="0" rIns="0" bIns="0" rtlCol="0" anchor="t"/>
          <a:lstStyle/>
          <a:p>
            <a:pPr indent="0" marL="0">
              <a:buNone/>
            </a:pPr>
            <a:r>
              <a:rPr lang="en-US" sz="1300" i="1" dirty="0">
                <a:solidFill>
                  <a:srgbClr val="A7B0C0"/>
                </a:solidFill>
                <a:latin typeface="Calibri" pitchFamily="34" charset="0"/>
                <a:ea typeface="Calibri" pitchFamily="34" charset="-122"/>
                <a:cs typeface="Calibri" pitchFamily="34" charset="-120"/>
              </a:rPr>
              <a:t>Cerca de 1 de cada 5 siniestros del país</a:t>
            </a:r>
            <a:endParaRPr lang="en-US" sz="1300" dirty="0"/>
          </a:p>
        </p:txBody>
      </p:sp>
      <p:sp>
        <p:nvSpPr>
          <p:cNvPr id="25" name="Text 20"/>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Fuentes: OMS (2023) Global status report on road safety · ANT (2026) vía El Diario · ANT, base de datos de siniestros 2025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71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En Quito hay menos siniestros… pero son más mortales</a:t>
            </a:r>
            <a:endParaRPr lang="en-US" sz="32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600" dirty="0">
                <a:solidFill>
                  <a:srgbClr val="A7B0C0"/>
                </a:solidFill>
                <a:latin typeface="Calibri" pitchFamily="34" charset="0"/>
                <a:ea typeface="Calibri" pitchFamily="34" charset="-122"/>
                <a:cs typeface="Calibri" pitchFamily="34" charset="-120"/>
              </a:rPr>
              <a:t>Fallecidos por cada 1.000 siniestros registrados en el DMQ</a:t>
            </a:r>
            <a:endParaRPr lang="en-US" sz="1600" dirty="0"/>
          </a:p>
        </p:txBody>
      </p:sp>
      <p:sp>
        <p:nvSpPr>
          <p:cNvPr id="4" name="Text 2"/>
          <p:cNvSpPr txBox="1"/>
          <p:nvPr/>
        </p:nvSpPr>
        <p:spPr>
          <a:xfrm>
            <a:off x="548640" y="1920240"/>
            <a:ext cx="3657600" cy="320040"/>
          </a:xfrm>
          <a:prstGeom prst="rect">
            <a:avLst/>
          </a:prstGeom>
          <a:noFill/>
          <a:ln/>
        </p:spPr>
        <p:txBody>
          <a:bodyPr wrap="square" lIns="0" tIns="0" rIns="0" bIns="0" rtlCol="0" anchor="ctr"/>
          <a:lstStyle/>
          <a:p>
            <a:pPr indent="0" marL="0">
              <a:buNone/>
            </a:pPr>
            <a:r>
              <a:rPr lang="en-US" sz="1400" dirty="0">
                <a:solidFill>
                  <a:srgbClr val="A7B0C0"/>
                </a:solidFill>
                <a:latin typeface="Calibri" pitchFamily="34" charset="0"/>
                <a:ea typeface="Calibri" pitchFamily="34" charset="-122"/>
                <a:cs typeface="Calibri" pitchFamily="34" charset="-120"/>
              </a:rPr>
              <a:t>Siniestros registrados</a:t>
            </a:r>
            <a:endParaRPr lang="en-US" sz="1400" dirty="0"/>
          </a:p>
        </p:txBody>
      </p:sp>
      <p:sp>
        <p:nvSpPr>
          <p:cNvPr id="5" name="Text 3"/>
          <p:cNvSpPr txBox="1"/>
          <p:nvPr/>
        </p:nvSpPr>
        <p:spPr>
          <a:xfrm>
            <a:off x="548640" y="2240280"/>
            <a:ext cx="3931920"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8.810</a:t>
            </a:r>
            <a:pPr indent="0" marL="0">
              <a:buNone/>
            </a:pPr>
            <a:r>
              <a:rPr lang="en-US" sz="3400" b="1" dirty="0">
                <a:solidFill>
                  <a:srgbClr val="6B7385"/>
                </a:solidFill>
                <a:latin typeface="Arial" pitchFamily="34" charset="0"/>
                <a:ea typeface="Arial" pitchFamily="34" charset="-122"/>
                <a:cs typeface="Arial" pitchFamily="34" charset="-120"/>
              </a:rPr>
              <a:t>  →  </a:t>
            </a:r>
            <a:pPr indent="0" marL="0">
              <a:buNone/>
            </a:pPr>
            <a:r>
              <a:rPr lang="en-US" sz="3400" b="1" dirty="0">
                <a:solidFill>
                  <a:srgbClr val="FFFFFF"/>
                </a:solidFill>
                <a:latin typeface="Arial" pitchFamily="34" charset="0"/>
                <a:ea typeface="Arial" pitchFamily="34" charset="-122"/>
                <a:cs typeface="Arial" pitchFamily="34" charset="-120"/>
              </a:rPr>
              <a:t>3.987</a:t>
            </a:r>
            <a:endParaRPr lang="en-US" sz="3400" dirty="0"/>
          </a:p>
        </p:txBody>
      </p:sp>
      <p:sp>
        <p:nvSpPr>
          <p:cNvPr id="6" name="Text 4"/>
          <p:cNvSpPr txBox="1"/>
          <p:nvPr/>
        </p:nvSpPr>
        <p:spPr>
          <a:xfrm>
            <a:off x="548640" y="2880360"/>
            <a:ext cx="3657600" cy="320040"/>
          </a:xfrm>
          <a:prstGeom prst="rect">
            <a:avLst/>
          </a:prstGeom>
          <a:noFill/>
          <a:ln/>
        </p:spPr>
        <p:txBody>
          <a:bodyPr wrap="square" lIns="0" tIns="0" rIns="0" bIns="0" rtlCol="0" anchor="ctr"/>
          <a:lstStyle/>
          <a:p>
            <a:pPr indent="0" marL="0">
              <a:buNone/>
            </a:pPr>
            <a:r>
              <a:rPr lang="en-US" sz="1300" dirty="0">
                <a:solidFill>
                  <a:srgbClr val="A7B0C0"/>
                </a:solidFill>
                <a:latin typeface="Calibri" pitchFamily="34" charset="0"/>
                <a:ea typeface="Calibri" pitchFamily="34" charset="-122"/>
                <a:cs typeface="Calibri" pitchFamily="34" charset="-120"/>
              </a:rPr>
              <a:t>2017 → 2025  ·  55 % menos</a:t>
            </a:r>
            <a:endParaRPr lang="en-US" sz="1300" dirty="0"/>
          </a:p>
        </p:txBody>
      </p:sp>
      <p:sp>
        <p:nvSpPr>
          <p:cNvPr id="7" name="Text 5"/>
          <p:cNvSpPr txBox="1"/>
          <p:nvPr/>
        </p:nvSpPr>
        <p:spPr>
          <a:xfrm>
            <a:off x="548640" y="3657600"/>
            <a:ext cx="3657600" cy="320040"/>
          </a:xfrm>
          <a:prstGeom prst="rect">
            <a:avLst/>
          </a:prstGeom>
          <a:noFill/>
          <a:ln/>
        </p:spPr>
        <p:txBody>
          <a:bodyPr wrap="square" lIns="0" tIns="0" rIns="0" bIns="0" rtlCol="0" anchor="ctr"/>
          <a:lstStyle/>
          <a:p>
            <a:pPr indent="0" marL="0">
              <a:buNone/>
            </a:pPr>
            <a:r>
              <a:rPr lang="en-US" sz="1400" dirty="0">
                <a:solidFill>
                  <a:srgbClr val="A7B0C0"/>
                </a:solidFill>
                <a:latin typeface="Calibri" pitchFamily="34" charset="0"/>
                <a:ea typeface="Calibri" pitchFamily="34" charset="-122"/>
                <a:cs typeface="Calibri" pitchFamily="34" charset="-120"/>
              </a:rPr>
              <a:t>Fallecidos por cada 1.000 siniestros</a:t>
            </a:r>
            <a:endParaRPr lang="en-US" sz="1400" dirty="0"/>
          </a:p>
        </p:txBody>
      </p:sp>
      <p:sp>
        <p:nvSpPr>
          <p:cNvPr id="8" name="Text 6"/>
          <p:cNvSpPr txBox="1"/>
          <p:nvPr/>
        </p:nvSpPr>
        <p:spPr>
          <a:xfrm>
            <a:off x="548640" y="3977640"/>
            <a:ext cx="3931920" cy="731520"/>
          </a:xfrm>
          <a:prstGeom prst="rect">
            <a:avLst/>
          </a:prstGeom>
          <a:noFill/>
          <a:ln/>
        </p:spPr>
        <p:txBody>
          <a:bodyPr wrap="square" lIns="0" tIns="0" rIns="0" bIns="0" rtlCol="0" anchor="ctr"/>
          <a:lstStyle/>
          <a:p>
            <a:pPr indent="0" marL="0">
              <a:buNone/>
            </a:pPr>
            <a:r>
              <a:rPr lang="en-US" sz="4400" b="1" dirty="0">
                <a:solidFill>
                  <a:srgbClr val="F5B700"/>
                </a:solidFill>
                <a:latin typeface="Arial" pitchFamily="34" charset="0"/>
                <a:ea typeface="Arial" pitchFamily="34" charset="-122"/>
                <a:cs typeface="Arial" pitchFamily="34" charset="-120"/>
              </a:rPr>
              <a:t>31</a:t>
            </a:r>
            <a:pPr indent="0" marL="0">
              <a:buNone/>
            </a:pPr>
            <a:r>
              <a:rPr lang="en-US" sz="4400" b="1" dirty="0">
                <a:solidFill>
                  <a:srgbClr val="6B7385"/>
                </a:solidFill>
                <a:latin typeface="Arial" pitchFamily="34" charset="0"/>
                <a:ea typeface="Arial" pitchFamily="34" charset="-122"/>
                <a:cs typeface="Arial" pitchFamily="34" charset="-120"/>
              </a:rPr>
              <a:t>  →  </a:t>
            </a:r>
            <a:pPr indent="0" marL="0">
              <a:buNone/>
            </a:pPr>
            <a:r>
              <a:rPr lang="en-US" sz="4400" b="1" dirty="0">
                <a:solidFill>
                  <a:srgbClr val="FF4D4D"/>
                </a:solidFill>
                <a:latin typeface="Arial" pitchFamily="34" charset="0"/>
                <a:ea typeface="Arial" pitchFamily="34" charset="-122"/>
                <a:cs typeface="Arial" pitchFamily="34" charset="-120"/>
              </a:rPr>
              <a:t>85</a:t>
            </a:r>
            <a:endParaRPr lang="en-US" sz="4400" dirty="0"/>
          </a:p>
        </p:txBody>
      </p:sp>
      <p:sp>
        <p:nvSpPr>
          <p:cNvPr id="9" name="Text 7"/>
          <p:cNvSpPr txBox="1"/>
          <p:nvPr/>
        </p:nvSpPr>
        <p:spPr>
          <a:xfrm>
            <a:off x="548640" y="4709160"/>
            <a:ext cx="3657600" cy="365760"/>
          </a:xfrm>
          <a:prstGeom prst="rect">
            <a:avLst/>
          </a:prstGeom>
          <a:noFill/>
          <a:ln/>
        </p:spPr>
        <p:txBody>
          <a:bodyPr wrap="square" lIns="0" tIns="0" rIns="0" bIns="0" rtlCol="0" anchor="ctr"/>
          <a:lstStyle/>
          <a:p>
            <a:pPr indent="0" marL="0">
              <a:buNone/>
            </a:pPr>
            <a:r>
              <a:rPr lang="en-US" sz="1500" b="1" i="1" dirty="0">
                <a:solidFill>
                  <a:srgbClr val="FFFFFF"/>
                </a:solidFill>
                <a:latin typeface="Calibri" pitchFamily="34" charset="0"/>
                <a:ea typeface="Calibri" pitchFamily="34" charset="-122"/>
                <a:cs typeface="Calibri" pitchFamily="34" charset="-120"/>
              </a:rPr>
              <a:t>La letalidad casi se triplicó</a:t>
            </a:r>
            <a:endParaRPr lang="en-US" sz="1500" dirty="0"/>
          </a:p>
        </p:txBody>
      </p:sp>
      <p:graphicFrame>
        <p:nvGraphicFramePr>
          <p:cNvPr id="10" name="Chart 0" descr=""/>
          <p:cNvGraphicFramePr/>
          <p:nvPr/>
        </p:nvGraphicFramePr>
        <p:xfrm>
          <a:off x="4754880" y="1783080"/>
          <a:ext cx="6949440" cy="443484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Fuente: cálculo propio con datos del INEC (2017–2023) y la ANT (2024–2025)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71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Nuestra idea: pasar de contar siniestros a anticiparlos</a:t>
            </a:r>
            <a:endParaRPr lang="en-US" sz="32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600" dirty="0">
                <a:solidFill>
                  <a:srgbClr val="A7B0C0"/>
                </a:solidFill>
                <a:latin typeface="Calibri" pitchFamily="34" charset="0"/>
                <a:ea typeface="Calibri" pitchFamily="34" charset="-122"/>
                <a:cs typeface="Calibri" pitchFamily="34" charset="-120"/>
              </a:rPr>
              <a:t>Una solución de ciencia de datos construida solo con datos oficiales y reales</a:t>
            </a:r>
            <a:endParaRPr lang="en-US" sz="1600" dirty="0"/>
          </a:p>
        </p:txBody>
      </p:sp>
      <p:sp>
        <p:nvSpPr>
          <p:cNvPr id="4" name="Shape 2"/>
          <p:cNvSpPr/>
          <p:nvPr/>
        </p:nvSpPr>
        <p:spPr>
          <a:xfrm>
            <a:off x="548640" y="1965960"/>
            <a:ext cx="2560320" cy="2971800"/>
          </a:xfrm>
          <a:prstGeom prst="roundRect">
            <a:avLst>
              <a:gd name="adj" fmla="val 4286"/>
            </a:avLst>
          </a:prstGeom>
          <a:solidFill>
            <a:srgbClr val="1E2330"/>
          </a:solidFill>
          <a:ln w="12700">
            <a:solidFill>
              <a:srgbClr val="1E2330"/>
            </a:solidFill>
            <a:prstDash val="solid"/>
          </a:ln>
        </p:spPr>
      </p:sp>
      <p:sp>
        <p:nvSpPr>
          <p:cNvPr id="5" name="Shape 3"/>
          <p:cNvSpPr/>
          <p:nvPr/>
        </p:nvSpPr>
        <p:spPr>
          <a:xfrm>
            <a:off x="822960" y="2240280"/>
            <a:ext cx="777240" cy="777240"/>
          </a:xfrm>
          <a:prstGeom prst="ellipse">
            <a:avLst/>
          </a:prstGeom>
          <a:solidFill>
            <a:srgbClr val="F5B700"/>
          </a:solidFill>
          <a:ln w="12700">
            <a:solidFill>
              <a:srgbClr val="F5B700"/>
            </a:solidFill>
            <a:prstDash val="solid"/>
          </a:ln>
        </p:spPr>
      </p:sp>
      <p:pic>
        <p:nvPicPr>
          <p:cNvPr id="6" name="Image 0" descr="preencoded.png">    </p:cNvPr>
          <p:cNvPicPr>
            <a:picLocks noChangeAspect="1"/>
          </p:cNvPicPr>
          <p:nvPr/>
        </p:nvPicPr>
        <p:blipFill>
          <a:blip r:embed="rId1"/>
          <a:stretch>
            <a:fillRect/>
          </a:stretch>
        </p:blipFill>
        <p:spPr>
          <a:xfrm>
            <a:off x="1025042" y="2442362"/>
            <a:ext cx="373075" cy="373075"/>
          </a:xfrm>
          <a:prstGeom prst="rect">
            <a:avLst/>
          </a:prstGeom>
        </p:spPr>
      </p:pic>
      <p:sp>
        <p:nvSpPr>
          <p:cNvPr id="7" name="Text 4"/>
          <p:cNvSpPr txBox="1"/>
          <p:nvPr/>
        </p:nvSpPr>
        <p:spPr>
          <a:xfrm>
            <a:off x="2286000" y="2286000"/>
            <a:ext cx="640080" cy="457200"/>
          </a:xfrm>
          <a:prstGeom prst="rect">
            <a:avLst/>
          </a:prstGeom>
          <a:noFill/>
          <a:ln/>
        </p:spPr>
        <p:txBody>
          <a:bodyPr wrap="square" lIns="0" tIns="0" rIns="0" bIns="0" rtlCol="0" anchor="ctr"/>
          <a:lstStyle/>
          <a:p>
            <a:pPr algn="r" indent="0" marL="0">
              <a:buNone/>
            </a:pPr>
            <a:r>
              <a:rPr lang="en-US" sz="2200" b="1" dirty="0">
                <a:solidFill>
                  <a:srgbClr val="6B7385"/>
                </a:solidFill>
                <a:latin typeface="Arial" pitchFamily="34" charset="0"/>
                <a:ea typeface="Arial" pitchFamily="34" charset="-122"/>
                <a:cs typeface="Arial" pitchFamily="34" charset="-120"/>
              </a:rPr>
              <a:t>01</a:t>
            </a:r>
            <a:endParaRPr lang="en-US" sz="2200" dirty="0"/>
          </a:p>
        </p:txBody>
      </p:sp>
      <p:sp>
        <p:nvSpPr>
          <p:cNvPr id="8" name="Text 5"/>
          <p:cNvSpPr txBox="1"/>
          <p:nvPr/>
        </p:nvSpPr>
        <p:spPr>
          <a:xfrm>
            <a:off x="822960" y="3200400"/>
            <a:ext cx="210312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Datos oficiales</a:t>
            </a:r>
            <a:endParaRPr lang="en-US" sz="1800" dirty="0"/>
          </a:p>
        </p:txBody>
      </p:sp>
      <p:sp>
        <p:nvSpPr>
          <p:cNvPr id="9" name="Text 6"/>
          <p:cNvSpPr txBox="1"/>
          <p:nvPr/>
        </p:nvSpPr>
        <p:spPr>
          <a:xfrm>
            <a:off x="822960" y="3657600"/>
            <a:ext cx="2103120" cy="1097280"/>
          </a:xfrm>
          <a:prstGeom prst="rect">
            <a:avLst/>
          </a:prstGeom>
          <a:noFill/>
          <a:ln/>
        </p:spPr>
        <p:txBody>
          <a:bodyPr wrap="square" lIns="0" tIns="0" rIns="0" bIns="0" rtlCol="0" anchor="t"/>
          <a:lstStyle/>
          <a:p>
            <a:pPr indent="0" marL="0">
              <a:buNone/>
            </a:pPr>
            <a:r>
              <a:rPr lang="en-US" sz="1400" dirty="0">
                <a:solidFill>
                  <a:srgbClr val="A7B0C0"/>
                </a:solidFill>
                <a:latin typeface="Calibri" pitchFamily="34" charset="0"/>
                <a:ea typeface="Calibri" pitchFamily="34" charset="-122"/>
                <a:cs typeface="Calibri" pitchFamily="34" charset="-120"/>
              </a:rPr>
              <a:t>10 años de siniestros de la ANT y el INEC, más parroquias y clima</a:t>
            </a:r>
            <a:endParaRPr lang="en-US" sz="1400" dirty="0"/>
          </a:p>
        </p:txBody>
      </p:sp>
      <p:sp>
        <p:nvSpPr>
          <p:cNvPr id="10" name="Text 7"/>
          <p:cNvSpPr txBox="1"/>
          <p:nvPr/>
        </p:nvSpPr>
        <p:spPr>
          <a:xfrm>
            <a:off x="3108960" y="3063240"/>
            <a:ext cx="274320" cy="548640"/>
          </a:xfrm>
          <a:prstGeom prst="rect">
            <a:avLst/>
          </a:prstGeom>
          <a:noFill/>
          <a:ln/>
        </p:spPr>
        <p:txBody>
          <a:bodyPr wrap="square" lIns="0" tIns="0" rIns="0" bIns="0" rtlCol="0" anchor="ctr"/>
          <a:lstStyle/>
          <a:p>
            <a:pPr algn="ctr" indent="0" marL="0">
              <a:buNone/>
            </a:pPr>
            <a:r>
              <a:rPr lang="en-US" sz="3000" b="1" dirty="0">
                <a:solidFill>
                  <a:srgbClr val="F5B700"/>
                </a:solidFill>
                <a:latin typeface="Calibri" pitchFamily="34" charset="0"/>
                <a:ea typeface="Calibri" pitchFamily="34" charset="-122"/>
                <a:cs typeface="Calibri" pitchFamily="34" charset="-120"/>
              </a:rPr>
              <a:t>›</a:t>
            </a:r>
            <a:endParaRPr lang="en-US" sz="3000" dirty="0"/>
          </a:p>
        </p:txBody>
      </p:sp>
      <p:sp>
        <p:nvSpPr>
          <p:cNvPr id="11" name="Shape 8"/>
          <p:cNvSpPr/>
          <p:nvPr/>
        </p:nvSpPr>
        <p:spPr>
          <a:xfrm>
            <a:off x="3383280" y="1965960"/>
            <a:ext cx="2560320" cy="2971800"/>
          </a:xfrm>
          <a:prstGeom prst="roundRect">
            <a:avLst>
              <a:gd name="adj" fmla="val 4286"/>
            </a:avLst>
          </a:prstGeom>
          <a:solidFill>
            <a:srgbClr val="1E2330"/>
          </a:solidFill>
          <a:ln w="12700">
            <a:solidFill>
              <a:srgbClr val="1E2330"/>
            </a:solidFill>
            <a:prstDash val="solid"/>
          </a:ln>
        </p:spPr>
      </p:sp>
      <p:sp>
        <p:nvSpPr>
          <p:cNvPr id="12" name="Shape 9"/>
          <p:cNvSpPr/>
          <p:nvPr/>
        </p:nvSpPr>
        <p:spPr>
          <a:xfrm>
            <a:off x="3657600" y="2240280"/>
            <a:ext cx="777240" cy="777240"/>
          </a:xfrm>
          <a:prstGeom prst="ellipse">
            <a:avLst/>
          </a:prstGeom>
          <a:solidFill>
            <a:srgbClr val="F5B700"/>
          </a:solidFill>
          <a:ln w="12700">
            <a:solidFill>
              <a:srgbClr val="F5B700"/>
            </a:solidFill>
            <a:prstDash val="solid"/>
          </a:ln>
        </p:spPr>
      </p:sp>
      <p:pic>
        <p:nvPicPr>
          <p:cNvPr id="13" name="Image 1" descr="preencoded.png">    </p:cNvPr>
          <p:cNvPicPr>
            <a:picLocks noChangeAspect="1"/>
          </p:cNvPicPr>
          <p:nvPr/>
        </p:nvPicPr>
        <p:blipFill>
          <a:blip r:embed="rId2"/>
          <a:stretch>
            <a:fillRect/>
          </a:stretch>
        </p:blipFill>
        <p:spPr>
          <a:xfrm>
            <a:off x="3859682" y="2442362"/>
            <a:ext cx="373075" cy="373075"/>
          </a:xfrm>
          <a:prstGeom prst="rect">
            <a:avLst/>
          </a:prstGeom>
        </p:spPr>
      </p:pic>
      <p:sp>
        <p:nvSpPr>
          <p:cNvPr id="14" name="Text 10"/>
          <p:cNvSpPr txBox="1"/>
          <p:nvPr/>
        </p:nvSpPr>
        <p:spPr>
          <a:xfrm>
            <a:off x="5120640" y="2286000"/>
            <a:ext cx="640080" cy="457200"/>
          </a:xfrm>
          <a:prstGeom prst="rect">
            <a:avLst/>
          </a:prstGeom>
          <a:noFill/>
          <a:ln/>
        </p:spPr>
        <p:txBody>
          <a:bodyPr wrap="square" lIns="0" tIns="0" rIns="0" bIns="0" rtlCol="0" anchor="ctr"/>
          <a:lstStyle/>
          <a:p>
            <a:pPr algn="r" indent="0" marL="0">
              <a:buNone/>
            </a:pPr>
            <a:r>
              <a:rPr lang="en-US" sz="2200" b="1" dirty="0">
                <a:solidFill>
                  <a:srgbClr val="6B7385"/>
                </a:solidFill>
                <a:latin typeface="Arial" pitchFamily="34" charset="0"/>
                <a:ea typeface="Arial" pitchFamily="34" charset="-122"/>
                <a:cs typeface="Arial" pitchFamily="34" charset="-120"/>
              </a:rPr>
              <a:t>02</a:t>
            </a:r>
            <a:endParaRPr lang="en-US" sz="2200" dirty="0"/>
          </a:p>
        </p:txBody>
      </p:sp>
      <p:sp>
        <p:nvSpPr>
          <p:cNvPr id="15" name="Text 11"/>
          <p:cNvSpPr txBox="1"/>
          <p:nvPr/>
        </p:nvSpPr>
        <p:spPr>
          <a:xfrm>
            <a:off x="3657600" y="3200400"/>
            <a:ext cx="210312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Limpieza de datos</a:t>
            </a:r>
            <a:endParaRPr lang="en-US" sz="1800" dirty="0"/>
          </a:p>
        </p:txBody>
      </p:sp>
      <p:sp>
        <p:nvSpPr>
          <p:cNvPr id="16" name="Text 12"/>
          <p:cNvSpPr txBox="1"/>
          <p:nvPr/>
        </p:nvSpPr>
        <p:spPr>
          <a:xfrm>
            <a:off x="3657600" y="3657600"/>
            <a:ext cx="2103120" cy="1097280"/>
          </a:xfrm>
          <a:prstGeom prst="rect">
            <a:avLst/>
          </a:prstGeom>
          <a:noFill/>
          <a:ln/>
        </p:spPr>
        <p:txBody>
          <a:bodyPr wrap="square" lIns="0" tIns="0" rIns="0" bIns="0" rtlCol="0" anchor="t"/>
          <a:lstStyle/>
          <a:p>
            <a:pPr indent="0" marL="0">
              <a:buNone/>
            </a:pPr>
            <a:r>
              <a:rPr lang="en-US" sz="1400" dirty="0">
                <a:solidFill>
                  <a:srgbClr val="A7B0C0"/>
                </a:solidFill>
                <a:latin typeface="Calibri" pitchFamily="34" charset="0"/>
                <a:ea typeface="Calibri" pitchFamily="34" charset="-122"/>
                <a:cs typeface="Calibri" pitchFamily="34" charset="-120"/>
              </a:rPr>
              <a:t>Integrados en un solo dataset confiable, validado y solo de Quito</a:t>
            </a:r>
            <a:endParaRPr lang="en-US" sz="1400" dirty="0"/>
          </a:p>
        </p:txBody>
      </p:sp>
      <p:sp>
        <p:nvSpPr>
          <p:cNvPr id="17" name="Text 13"/>
          <p:cNvSpPr txBox="1"/>
          <p:nvPr/>
        </p:nvSpPr>
        <p:spPr>
          <a:xfrm>
            <a:off x="5943600" y="3063240"/>
            <a:ext cx="274320" cy="548640"/>
          </a:xfrm>
          <a:prstGeom prst="rect">
            <a:avLst/>
          </a:prstGeom>
          <a:noFill/>
          <a:ln/>
        </p:spPr>
        <p:txBody>
          <a:bodyPr wrap="square" lIns="0" tIns="0" rIns="0" bIns="0" rtlCol="0" anchor="ctr"/>
          <a:lstStyle/>
          <a:p>
            <a:pPr algn="ctr" indent="0" marL="0">
              <a:buNone/>
            </a:pPr>
            <a:r>
              <a:rPr lang="en-US" sz="3000" b="1" dirty="0">
                <a:solidFill>
                  <a:srgbClr val="F5B700"/>
                </a:solidFill>
                <a:latin typeface="Calibri" pitchFamily="34" charset="0"/>
                <a:ea typeface="Calibri" pitchFamily="34" charset="-122"/>
                <a:cs typeface="Calibri" pitchFamily="34" charset="-120"/>
              </a:rPr>
              <a:t>›</a:t>
            </a:r>
            <a:endParaRPr lang="en-US" sz="3000" dirty="0"/>
          </a:p>
        </p:txBody>
      </p:sp>
      <p:sp>
        <p:nvSpPr>
          <p:cNvPr id="18" name="Shape 14"/>
          <p:cNvSpPr/>
          <p:nvPr/>
        </p:nvSpPr>
        <p:spPr>
          <a:xfrm>
            <a:off x="6217920" y="1965960"/>
            <a:ext cx="2560320" cy="2971800"/>
          </a:xfrm>
          <a:prstGeom prst="roundRect">
            <a:avLst>
              <a:gd name="adj" fmla="val 4286"/>
            </a:avLst>
          </a:prstGeom>
          <a:solidFill>
            <a:srgbClr val="1E2330"/>
          </a:solidFill>
          <a:ln w="12700">
            <a:solidFill>
              <a:srgbClr val="1E2330"/>
            </a:solidFill>
            <a:prstDash val="solid"/>
          </a:ln>
        </p:spPr>
      </p:sp>
      <p:sp>
        <p:nvSpPr>
          <p:cNvPr id="19" name="Shape 15"/>
          <p:cNvSpPr/>
          <p:nvPr/>
        </p:nvSpPr>
        <p:spPr>
          <a:xfrm>
            <a:off x="6492240" y="2240280"/>
            <a:ext cx="777240" cy="777240"/>
          </a:xfrm>
          <a:prstGeom prst="ellipse">
            <a:avLst/>
          </a:prstGeom>
          <a:solidFill>
            <a:srgbClr val="F5B700"/>
          </a:solidFill>
          <a:ln w="12700">
            <a:solidFill>
              <a:srgbClr val="F5B700"/>
            </a:solidFill>
            <a:prstDash val="solid"/>
          </a:ln>
        </p:spPr>
      </p:sp>
      <p:pic>
        <p:nvPicPr>
          <p:cNvPr id="20" name="Image 2" descr="preencoded.png">    </p:cNvPr>
          <p:cNvPicPr>
            <a:picLocks noChangeAspect="1"/>
          </p:cNvPicPr>
          <p:nvPr/>
        </p:nvPicPr>
        <p:blipFill>
          <a:blip r:embed="rId3"/>
          <a:stretch>
            <a:fillRect/>
          </a:stretch>
        </p:blipFill>
        <p:spPr>
          <a:xfrm>
            <a:off x="6694322" y="2442362"/>
            <a:ext cx="373075" cy="373075"/>
          </a:xfrm>
          <a:prstGeom prst="rect">
            <a:avLst/>
          </a:prstGeom>
        </p:spPr>
      </p:pic>
      <p:sp>
        <p:nvSpPr>
          <p:cNvPr id="21" name="Text 16"/>
          <p:cNvSpPr txBox="1"/>
          <p:nvPr/>
        </p:nvSpPr>
        <p:spPr>
          <a:xfrm>
            <a:off x="7955280" y="2286000"/>
            <a:ext cx="640080" cy="457200"/>
          </a:xfrm>
          <a:prstGeom prst="rect">
            <a:avLst/>
          </a:prstGeom>
          <a:noFill/>
          <a:ln/>
        </p:spPr>
        <p:txBody>
          <a:bodyPr wrap="square" lIns="0" tIns="0" rIns="0" bIns="0" rtlCol="0" anchor="ctr"/>
          <a:lstStyle/>
          <a:p>
            <a:pPr algn="r" indent="0" marL="0">
              <a:buNone/>
            </a:pPr>
            <a:r>
              <a:rPr lang="en-US" sz="2200" b="1" dirty="0">
                <a:solidFill>
                  <a:srgbClr val="6B7385"/>
                </a:solidFill>
                <a:latin typeface="Arial" pitchFamily="34" charset="0"/>
                <a:ea typeface="Arial" pitchFamily="34" charset="-122"/>
                <a:cs typeface="Arial" pitchFamily="34" charset="-120"/>
              </a:rPr>
              <a:t>03</a:t>
            </a:r>
            <a:endParaRPr lang="en-US" sz="2200" dirty="0"/>
          </a:p>
        </p:txBody>
      </p:sp>
      <p:sp>
        <p:nvSpPr>
          <p:cNvPr id="22" name="Text 17"/>
          <p:cNvSpPr txBox="1"/>
          <p:nvPr/>
        </p:nvSpPr>
        <p:spPr>
          <a:xfrm>
            <a:off x="6492240" y="3200400"/>
            <a:ext cx="210312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Modelo predictivo</a:t>
            </a:r>
            <a:endParaRPr lang="en-US" sz="1800" dirty="0"/>
          </a:p>
        </p:txBody>
      </p:sp>
      <p:sp>
        <p:nvSpPr>
          <p:cNvPr id="23" name="Text 18"/>
          <p:cNvSpPr txBox="1"/>
          <p:nvPr/>
        </p:nvSpPr>
        <p:spPr>
          <a:xfrm>
            <a:off x="6492240" y="3657600"/>
            <a:ext cx="2103120" cy="1097280"/>
          </a:xfrm>
          <a:prstGeom prst="rect">
            <a:avLst/>
          </a:prstGeom>
          <a:noFill/>
          <a:ln/>
        </p:spPr>
        <p:txBody>
          <a:bodyPr wrap="square" lIns="0" tIns="0" rIns="0" bIns="0" rtlCol="0" anchor="t"/>
          <a:lstStyle/>
          <a:p>
            <a:pPr indent="0" marL="0">
              <a:buNone/>
            </a:pPr>
            <a:r>
              <a:rPr lang="en-US" sz="1400" dirty="0">
                <a:solidFill>
                  <a:srgbClr val="A7B0C0"/>
                </a:solidFill>
                <a:latin typeface="Calibri" pitchFamily="34" charset="0"/>
                <a:ea typeface="Calibri" pitchFamily="34" charset="-122"/>
                <a:cs typeface="Calibri" pitchFamily="34" charset="-120"/>
              </a:rPr>
              <a:t>Estima el nivel de riesgo por zona y franja horaria</a:t>
            </a:r>
            <a:endParaRPr lang="en-US" sz="1400" dirty="0"/>
          </a:p>
        </p:txBody>
      </p:sp>
      <p:sp>
        <p:nvSpPr>
          <p:cNvPr id="24" name="Text 19"/>
          <p:cNvSpPr txBox="1"/>
          <p:nvPr/>
        </p:nvSpPr>
        <p:spPr>
          <a:xfrm>
            <a:off x="8778240" y="3063240"/>
            <a:ext cx="274320" cy="548640"/>
          </a:xfrm>
          <a:prstGeom prst="rect">
            <a:avLst/>
          </a:prstGeom>
          <a:noFill/>
          <a:ln/>
        </p:spPr>
        <p:txBody>
          <a:bodyPr wrap="square" lIns="0" tIns="0" rIns="0" bIns="0" rtlCol="0" anchor="ctr"/>
          <a:lstStyle/>
          <a:p>
            <a:pPr algn="ctr" indent="0" marL="0">
              <a:buNone/>
            </a:pPr>
            <a:r>
              <a:rPr lang="en-US" sz="3000" b="1" dirty="0">
                <a:solidFill>
                  <a:srgbClr val="F5B700"/>
                </a:solidFill>
                <a:latin typeface="Calibri" pitchFamily="34" charset="0"/>
                <a:ea typeface="Calibri" pitchFamily="34" charset="-122"/>
                <a:cs typeface="Calibri" pitchFamily="34" charset="-120"/>
              </a:rPr>
              <a:t>›</a:t>
            </a:r>
            <a:endParaRPr lang="en-US" sz="3000" dirty="0"/>
          </a:p>
        </p:txBody>
      </p:sp>
      <p:sp>
        <p:nvSpPr>
          <p:cNvPr id="25" name="Shape 20"/>
          <p:cNvSpPr/>
          <p:nvPr/>
        </p:nvSpPr>
        <p:spPr>
          <a:xfrm>
            <a:off x="9052560" y="1965960"/>
            <a:ext cx="2560320" cy="2971800"/>
          </a:xfrm>
          <a:prstGeom prst="roundRect">
            <a:avLst>
              <a:gd name="adj" fmla="val 4286"/>
            </a:avLst>
          </a:prstGeom>
          <a:solidFill>
            <a:srgbClr val="262C3B"/>
          </a:solidFill>
          <a:ln w="12700">
            <a:solidFill>
              <a:srgbClr val="262C3B"/>
            </a:solidFill>
            <a:prstDash val="solid"/>
          </a:ln>
        </p:spPr>
      </p:sp>
      <p:sp>
        <p:nvSpPr>
          <p:cNvPr id="26" name="Shape 21"/>
          <p:cNvSpPr/>
          <p:nvPr/>
        </p:nvSpPr>
        <p:spPr>
          <a:xfrm>
            <a:off x="9326880" y="2240280"/>
            <a:ext cx="777240" cy="777240"/>
          </a:xfrm>
          <a:prstGeom prst="ellipse">
            <a:avLst/>
          </a:prstGeom>
          <a:solidFill>
            <a:srgbClr val="F5B700"/>
          </a:solidFill>
          <a:ln w="12700">
            <a:solidFill>
              <a:srgbClr val="F5B700"/>
            </a:solidFill>
            <a:prstDash val="solid"/>
          </a:ln>
        </p:spPr>
      </p:sp>
      <p:pic>
        <p:nvPicPr>
          <p:cNvPr id="27" name="Image 3" descr="preencoded.png">    </p:cNvPr>
          <p:cNvPicPr>
            <a:picLocks noChangeAspect="1"/>
          </p:cNvPicPr>
          <p:nvPr/>
        </p:nvPicPr>
        <p:blipFill>
          <a:blip r:embed="rId4"/>
          <a:stretch>
            <a:fillRect/>
          </a:stretch>
        </p:blipFill>
        <p:spPr>
          <a:xfrm>
            <a:off x="9528962" y="2442362"/>
            <a:ext cx="373075" cy="373075"/>
          </a:xfrm>
          <a:prstGeom prst="rect">
            <a:avLst/>
          </a:prstGeom>
        </p:spPr>
      </p:pic>
      <p:sp>
        <p:nvSpPr>
          <p:cNvPr id="28" name="Text 22"/>
          <p:cNvSpPr txBox="1"/>
          <p:nvPr/>
        </p:nvSpPr>
        <p:spPr>
          <a:xfrm>
            <a:off x="10789920" y="2286000"/>
            <a:ext cx="640080" cy="457200"/>
          </a:xfrm>
          <a:prstGeom prst="rect">
            <a:avLst/>
          </a:prstGeom>
          <a:noFill/>
          <a:ln/>
        </p:spPr>
        <p:txBody>
          <a:bodyPr wrap="square" lIns="0" tIns="0" rIns="0" bIns="0" rtlCol="0" anchor="ctr"/>
          <a:lstStyle/>
          <a:p>
            <a:pPr algn="r" indent="0" marL="0">
              <a:buNone/>
            </a:pPr>
            <a:r>
              <a:rPr lang="en-US" sz="2200" b="1" dirty="0">
                <a:solidFill>
                  <a:srgbClr val="6B7385"/>
                </a:solidFill>
                <a:latin typeface="Arial" pitchFamily="34" charset="0"/>
                <a:ea typeface="Arial" pitchFamily="34" charset="-122"/>
                <a:cs typeface="Arial" pitchFamily="34" charset="-120"/>
              </a:rPr>
              <a:t>04</a:t>
            </a:r>
            <a:endParaRPr lang="en-US" sz="2200" dirty="0"/>
          </a:p>
        </p:txBody>
      </p:sp>
      <p:sp>
        <p:nvSpPr>
          <p:cNvPr id="29" name="Text 23"/>
          <p:cNvSpPr txBox="1"/>
          <p:nvPr/>
        </p:nvSpPr>
        <p:spPr>
          <a:xfrm>
            <a:off x="9326880" y="3200400"/>
            <a:ext cx="210312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Mapa y dashboard</a:t>
            </a:r>
            <a:endParaRPr lang="en-US" sz="1800" dirty="0"/>
          </a:p>
        </p:txBody>
      </p:sp>
      <p:sp>
        <p:nvSpPr>
          <p:cNvPr id="30" name="Text 24"/>
          <p:cNvSpPr txBox="1"/>
          <p:nvPr/>
        </p:nvSpPr>
        <p:spPr>
          <a:xfrm>
            <a:off x="9326880" y="3657600"/>
            <a:ext cx="2103120" cy="1097280"/>
          </a:xfrm>
          <a:prstGeom prst="rect">
            <a:avLst/>
          </a:prstGeom>
          <a:noFill/>
          <a:ln/>
        </p:spPr>
        <p:txBody>
          <a:bodyPr wrap="square" lIns="0" tIns="0" rIns="0" bIns="0" rtlCol="0" anchor="t"/>
          <a:lstStyle/>
          <a:p>
            <a:pPr indent="0" marL="0">
              <a:buNone/>
            </a:pPr>
            <a:r>
              <a:rPr lang="en-US" sz="1400" dirty="0">
                <a:solidFill>
                  <a:srgbClr val="A7B0C0"/>
                </a:solidFill>
                <a:latin typeface="Calibri" pitchFamily="34" charset="0"/>
                <a:ea typeface="Calibri" pitchFamily="34" charset="-122"/>
                <a:cs typeface="Calibri" pitchFamily="34" charset="-120"/>
              </a:rPr>
              <a:t>Escenarios: elige zona, día, hora y clima</a:t>
            </a:r>
            <a:endParaRPr lang="en-US" sz="1400" dirty="0"/>
          </a:p>
        </p:txBody>
      </p:sp>
      <p:sp>
        <p:nvSpPr>
          <p:cNvPr id="31" name="Shape 25"/>
          <p:cNvSpPr/>
          <p:nvPr/>
        </p:nvSpPr>
        <p:spPr>
          <a:xfrm>
            <a:off x="548640" y="5303520"/>
            <a:ext cx="11064240" cy="868680"/>
          </a:xfrm>
          <a:prstGeom prst="roundRect">
            <a:avLst>
              <a:gd name="adj" fmla="val 12632"/>
            </a:avLst>
          </a:prstGeom>
          <a:solidFill>
            <a:srgbClr val="262C3B"/>
          </a:solidFill>
          <a:ln w="12700">
            <a:solidFill>
              <a:srgbClr val="262C3B"/>
            </a:solidFill>
            <a:prstDash val="solid"/>
          </a:ln>
        </p:spPr>
      </p:sp>
      <p:sp>
        <p:nvSpPr>
          <p:cNvPr id="32" name="Shape 26"/>
          <p:cNvSpPr/>
          <p:nvPr/>
        </p:nvSpPr>
        <p:spPr>
          <a:xfrm>
            <a:off x="777240" y="5440680"/>
            <a:ext cx="594360" cy="594360"/>
          </a:xfrm>
          <a:prstGeom prst="ellipse">
            <a:avLst/>
          </a:prstGeom>
          <a:solidFill>
            <a:srgbClr val="FF4D4D"/>
          </a:solidFill>
          <a:ln w="12700">
            <a:solidFill>
              <a:srgbClr val="FF4D4D"/>
            </a:solidFill>
            <a:prstDash val="solid"/>
          </a:ln>
        </p:spPr>
      </p:sp>
      <p:pic>
        <p:nvPicPr>
          <p:cNvPr id="33" name="Image 4" descr="preencoded.png">    </p:cNvPr>
          <p:cNvPicPr>
            <a:picLocks noChangeAspect="1"/>
          </p:cNvPicPr>
          <p:nvPr/>
        </p:nvPicPr>
        <p:blipFill>
          <a:blip r:embed="rId5"/>
          <a:stretch>
            <a:fillRect/>
          </a:stretch>
        </p:blipFill>
        <p:spPr>
          <a:xfrm>
            <a:off x="931774" y="5595214"/>
            <a:ext cx="285293" cy="285293"/>
          </a:xfrm>
          <a:prstGeom prst="rect">
            <a:avLst/>
          </a:prstGeom>
        </p:spPr>
      </p:pic>
      <p:sp>
        <p:nvSpPr>
          <p:cNvPr id="34" name="Text 27"/>
          <p:cNvSpPr txBox="1"/>
          <p:nvPr/>
        </p:nvSpPr>
        <p:spPr>
          <a:xfrm>
            <a:off x="1554480" y="5440680"/>
            <a:ext cx="9875520" cy="594360"/>
          </a:xfrm>
          <a:prstGeom prst="rect">
            <a:avLst/>
          </a:prstGeom>
          <a:noFill/>
          <a:ln/>
        </p:spPr>
        <p:txBody>
          <a:bodyPr wrap="square" lIns="0" tIns="0" rIns="0" bIns="0" rtlCol="0" anchor="ctr"/>
          <a:lstStyle/>
          <a:p>
            <a:pPr indent="0" marL="0">
              <a:buNone/>
            </a:pPr>
            <a:r>
              <a:rPr lang="en-US" sz="1700" b="1" dirty="0">
                <a:solidFill>
                  <a:srgbClr val="F5B700"/>
                </a:solidFill>
                <a:latin typeface="Calibri" pitchFamily="34" charset="0"/>
                <a:ea typeface="Calibri" pitchFamily="34" charset="-122"/>
                <a:cs typeface="Calibri" pitchFamily="34" charset="-120"/>
              </a:rPr>
              <a:t>El objetivo: </a:t>
            </a:r>
            <a:pPr indent="0" marL="0">
              <a:buNone/>
            </a:pPr>
            <a:r>
              <a:rPr lang="en-US" sz="1700" dirty="0">
                <a:solidFill>
                  <a:srgbClr val="FFFFFF"/>
                </a:solidFill>
                <a:latin typeface="Calibri" pitchFamily="34" charset="0"/>
                <a:ea typeface="Calibri" pitchFamily="34" charset="-122"/>
                <a:cs typeface="Calibri" pitchFamily="34" charset="-120"/>
              </a:rPr>
              <a:t>que las autoridades estén en el lugar correcto, a la hora correcta, antes de que ocurra el siniestro.</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71F"/>
        </a:solidFill>
      </p:bgPr>
    </p:bg>
    <p:spTree>
      <p:nvGrpSpPr>
        <p:cNvPr id="1" name=""/>
        <p:cNvGrpSpPr/>
        <p:nvPr/>
      </p:nvGrpSpPr>
      <p:grpSpPr>
        <a:xfrm>
          <a:off x="0" y="0"/>
          <a:ext cx="0" cy="0"/>
          <a:chOff x="0" y="0"/>
          <a:chExt cx="0" cy="0"/>
        </a:xfrm>
      </p:grpSpPr>
      <p:pic>
        <p:nvPicPr>
          <p:cNvPr id="2" name="Image 0" descr="mapa_simon_bolivar.png">    </p:cNvPr>
          <p:cNvPicPr>
            <a:picLocks noChangeAspect="1"/>
          </p:cNvPicPr>
          <p:nvPr/>
        </p:nvPicPr>
        <p:blipFill>
          <a:blip r:embed="rId1"/>
          <a:srcRect l="0" r="0" t="0" b="0"/>
          <a:stretch/>
        </p:blipFill>
        <p:spPr>
          <a:xfrm>
            <a:off x="0" y="0"/>
            <a:ext cx="4754880" cy="6858000"/>
          </a:xfrm>
          <a:prstGeom prst="rect">
            <a:avLst/>
          </a:prstGeom>
        </p:spPr>
      </p:pic>
      <p:sp>
        <p:nvSpPr>
          <p:cNvPr id="3" name="Text 0"/>
          <p:cNvSpPr txBox="1"/>
          <p:nvPr/>
        </p:nvSpPr>
        <p:spPr>
          <a:xfrm>
            <a:off x="274320" y="6446520"/>
            <a:ext cx="4297680" cy="274320"/>
          </a:xfrm>
          <a:prstGeom prst="rect">
            <a:avLst/>
          </a:prstGeom>
          <a:noFill/>
          <a:ln/>
        </p:spPr>
        <p:txBody>
          <a:bodyPr wrap="square" lIns="0" tIns="0" rIns="0" bIns="0" rtlCol="0" anchor="ctr"/>
          <a:lstStyle/>
          <a:p>
            <a:pPr indent="0" marL="0">
              <a:buNone/>
            </a:pPr>
            <a:r>
              <a:rPr lang="en-US" sz="1100" dirty="0">
                <a:solidFill>
                  <a:srgbClr val="FF4D4D"/>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Av. Simón Bolívar      </a:t>
            </a:r>
            <a:pPr indent="0" marL="0">
              <a:buNone/>
            </a:pPr>
            <a:r>
              <a:rPr lang="en-US" sz="1100" dirty="0">
                <a:solidFill>
                  <a:srgbClr val="8A93A6"/>
                </a:solidFill>
                <a:latin typeface="Calibri" pitchFamily="34" charset="0"/>
                <a:ea typeface="Calibri" pitchFamily="34" charset="-122"/>
                <a:cs typeface="Calibri" pitchFamily="34" charset="-120"/>
              </a:rPr>
              <a:t>● </a:t>
            </a:r>
            <a:pPr indent="0" marL="0">
              <a:buNone/>
            </a:pPr>
            <a:r>
              <a:rPr lang="en-US" sz="1100" dirty="0">
                <a:solidFill>
                  <a:srgbClr val="FFFFFF"/>
                </a:solidFill>
                <a:latin typeface="Calibri" pitchFamily="34" charset="0"/>
                <a:ea typeface="Calibri" pitchFamily="34" charset="-122"/>
                <a:cs typeface="Calibri" pitchFamily="34" charset="-120"/>
              </a:rPr>
              <a:t>Resto de siniestros</a:t>
            </a:r>
            <a:endParaRPr lang="en-US" sz="1100" dirty="0"/>
          </a:p>
        </p:txBody>
      </p:sp>
      <p:sp>
        <p:nvSpPr>
          <p:cNvPr id="4" name="Text 1"/>
          <p:cNvSpPr txBox="1"/>
          <p:nvPr/>
        </p:nvSpPr>
        <p:spPr>
          <a:xfrm>
            <a:off x="5303520" y="502920"/>
            <a:ext cx="6400800" cy="320040"/>
          </a:xfrm>
          <a:prstGeom prst="rect">
            <a:avLst/>
          </a:prstGeom>
          <a:noFill/>
          <a:ln/>
        </p:spPr>
        <p:txBody>
          <a:bodyPr wrap="square" lIns="0" tIns="0" rIns="0" bIns="0" rtlCol="0" anchor="ctr"/>
          <a:lstStyle/>
          <a:p>
            <a:pPr indent="0" marL="0">
              <a:buNone/>
            </a:pPr>
            <a:r>
              <a:rPr lang="en-US" sz="1300" b="1" spc="200" kern="0" dirty="0">
                <a:solidFill>
                  <a:srgbClr val="F5B700"/>
                </a:solidFill>
                <a:latin typeface="Calibri" pitchFamily="34" charset="0"/>
                <a:ea typeface="Calibri" pitchFamily="34" charset="-122"/>
                <a:cs typeface="Calibri" pitchFamily="34" charset="-120"/>
              </a:rPr>
              <a:t>PLANTEAMIENTO DEL PROBLEMA</a:t>
            </a:r>
            <a:endParaRPr lang="en-US" sz="1300" dirty="0"/>
          </a:p>
        </p:txBody>
      </p:sp>
      <p:sp>
        <p:nvSpPr>
          <p:cNvPr id="5" name="Text 2"/>
          <p:cNvSpPr txBox="1"/>
          <p:nvPr/>
        </p:nvSpPr>
        <p:spPr>
          <a:xfrm>
            <a:off x="5303520" y="868680"/>
            <a:ext cx="6492240" cy="12344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Hoy sabemos qué pasó.</a:t>
            </a:r>
            <a:endParaRPr lang="en-US" sz="3000" dirty="0"/>
          </a:p>
          <a:p>
            <a:pPr indent="0" marL="0">
              <a:buNone/>
            </a:pPr>
            <a:r>
              <a:rPr lang="en-US" sz="3000" b="1" dirty="0">
                <a:solidFill>
                  <a:srgbClr val="FFFFFF"/>
                </a:solidFill>
                <a:latin typeface="Arial" pitchFamily="34" charset="0"/>
                <a:ea typeface="Arial" pitchFamily="34" charset="-122"/>
                <a:cs typeface="Arial" pitchFamily="34" charset="-120"/>
              </a:rPr>
              <a:t>No sabemos qué va a pasar.</a:t>
            </a:r>
            <a:endParaRPr lang="en-US" sz="3000" dirty="0"/>
          </a:p>
        </p:txBody>
      </p:sp>
      <p:sp>
        <p:nvSpPr>
          <p:cNvPr id="6" name="Text 3"/>
          <p:cNvSpPr txBox="1"/>
          <p:nvPr/>
        </p:nvSpPr>
        <p:spPr>
          <a:xfrm>
            <a:off x="5303520" y="2240280"/>
            <a:ext cx="6492240" cy="365760"/>
          </a:xfrm>
          <a:prstGeom prst="rect">
            <a:avLst/>
          </a:prstGeom>
          <a:noFill/>
          <a:ln/>
        </p:spPr>
        <p:txBody>
          <a:bodyPr wrap="square" lIns="0" tIns="0" rIns="0" bIns="0" rtlCol="0" anchor="ctr"/>
          <a:lstStyle/>
          <a:p>
            <a:pPr indent="0" marL="0">
              <a:buNone/>
            </a:pPr>
            <a:r>
              <a:rPr lang="en-US" sz="1500" dirty="0">
                <a:solidFill>
                  <a:srgbClr val="A7B0C0"/>
                </a:solidFill>
                <a:latin typeface="Calibri" pitchFamily="34" charset="0"/>
                <a:ea typeface="Calibri" pitchFamily="34" charset="-122"/>
                <a:cs typeface="Calibri" pitchFamily="34" charset="-120"/>
              </a:rPr>
              <a:t>Caso de estudio: Av. Simón Bolívar  ·  enero 2024 – agosto 2026</a:t>
            </a:r>
            <a:endParaRPr lang="en-US" sz="1500" dirty="0"/>
          </a:p>
        </p:txBody>
      </p:sp>
      <p:sp>
        <p:nvSpPr>
          <p:cNvPr id="7" name="Shape 4"/>
          <p:cNvSpPr/>
          <p:nvPr/>
        </p:nvSpPr>
        <p:spPr>
          <a:xfrm>
            <a:off x="5303520" y="2743200"/>
            <a:ext cx="2011680" cy="1325880"/>
          </a:xfrm>
          <a:prstGeom prst="roundRect">
            <a:avLst>
              <a:gd name="adj" fmla="val 8276"/>
            </a:avLst>
          </a:prstGeom>
          <a:solidFill>
            <a:srgbClr val="1E2330"/>
          </a:solidFill>
          <a:ln w="12700">
            <a:solidFill>
              <a:srgbClr val="1E2330"/>
            </a:solidFill>
            <a:prstDash val="solid"/>
          </a:ln>
        </p:spPr>
      </p:sp>
      <p:sp>
        <p:nvSpPr>
          <p:cNvPr id="8" name="Text 5"/>
          <p:cNvSpPr txBox="1"/>
          <p:nvPr/>
        </p:nvSpPr>
        <p:spPr>
          <a:xfrm>
            <a:off x="5486400" y="2880360"/>
            <a:ext cx="173736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1.203</a:t>
            </a:r>
            <a:endParaRPr lang="en-US" sz="3000" dirty="0"/>
          </a:p>
        </p:txBody>
      </p:sp>
      <p:sp>
        <p:nvSpPr>
          <p:cNvPr id="9" name="Text 6"/>
          <p:cNvSpPr txBox="1"/>
          <p:nvPr/>
        </p:nvSpPr>
        <p:spPr>
          <a:xfrm>
            <a:off x="5486400" y="3520440"/>
            <a:ext cx="1737360" cy="457200"/>
          </a:xfrm>
          <a:prstGeom prst="rect">
            <a:avLst/>
          </a:prstGeom>
          <a:noFill/>
          <a:ln/>
        </p:spPr>
        <p:txBody>
          <a:bodyPr wrap="square" lIns="0" tIns="0" rIns="0" bIns="0" rtlCol="0" anchor="t"/>
          <a:lstStyle/>
          <a:p>
            <a:pPr indent="0" marL="0">
              <a:buNone/>
            </a:pPr>
            <a:r>
              <a:rPr lang="en-US" sz="1300" dirty="0">
                <a:solidFill>
                  <a:srgbClr val="A7B0C0"/>
                </a:solidFill>
                <a:latin typeface="Calibri" pitchFamily="34" charset="0"/>
                <a:ea typeface="Calibri" pitchFamily="34" charset="-122"/>
                <a:cs typeface="Calibri" pitchFamily="34" charset="-120"/>
              </a:rPr>
              <a:t>siniestros</a:t>
            </a:r>
            <a:endParaRPr lang="en-US" sz="1300" dirty="0"/>
          </a:p>
        </p:txBody>
      </p:sp>
      <p:sp>
        <p:nvSpPr>
          <p:cNvPr id="10" name="Shape 7"/>
          <p:cNvSpPr/>
          <p:nvPr/>
        </p:nvSpPr>
        <p:spPr>
          <a:xfrm>
            <a:off x="7498080" y="2743200"/>
            <a:ext cx="2011680" cy="1325880"/>
          </a:xfrm>
          <a:prstGeom prst="roundRect">
            <a:avLst>
              <a:gd name="adj" fmla="val 8276"/>
            </a:avLst>
          </a:prstGeom>
          <a:solidFill>
            <a:srgbClr val="1E2330"/>
          </a:solidFill>
          <a:ln w="12700">
            <a:solidFill>
              <a:srgbClr val="1E2330"/>
            </a:solidFill>
            <a:prstDash val="solid"/>
          </a:ln>
        </p:spPr>
      </p:sp>
      <p:sp>
        <p:nvSpPr>
          <p:cNvPr id="11" name="Text 8"/>
          <p:cNvSpPr txBox="1"/>
          <p:nvPr/>
        </p:nvSpPr>
        <p:spPr>
          <a:xfrm>
            <a:off x="7680960" y="2880360"/>
            <a:ext cx="1737360" cy="640080"/>
          </a:xfrm>
          <a:prstGeom prst="rect">
            <a:avLst/>
          </a:prstGeom>
          <a:noFill/>
          <a:ln/>
        </p:spPr>
        <p:txBody>
          <a:bodyPr wrap="square" lIns="0" tIns="0" rIns="0" bIns="0" rtlCol="0" anchor="ctr"/>
          <a:lstStyle/>
          <a:p>
            <a:pPr indent="0" marL="0">
              <a:buNone/>
            </a:pPr>
            <a:r>
              <a:rPr lang="en-US" sz="3000" b="1" dirty="0">
                <a:solidFill>
                  <a:srgbClr val="FF4D4D"/>
                </a:solidFill>
                <a:latin typeface="Arial" pitchFamily="34" charset="0"/>
                <a:ea typeface="Arial" pitchFamily="34" charset="-122"/>
                <a:cs typeface="Arial" pitchFamily="34" charset="-120"/>
              </a:rPr>
              <a:t>119</a:t>
            </a:r>
            <a:endParaRPr lang="en-US" sz="3000" dirty="0"/>
          </a:p>
        </p:txBody>
      </p:sp>
      <p:sp>
        <p:nvSpPr>
          <p:cNvPr id="12" name="Text 9"/>
          <p:cNvSpPr txBox="1"/>
          <p:nvPr/>
        </p:nvSpPr>
        <p:spPr>
          <a:xfrm>
            <a:off x="7680960" y="3520440"/>
            <a:ext cx="1737360" cy="457200"/>
          </a:xfrm>
          <a:prstGeom prst="rect">
            <a:avLst/>
          </a:prstGeom>
          <a:noFill/>
          <a:ln/>
        </p:spPr>
        <p:txBody>
          <a:bodyPr wrap="square" lIns="0" tIns="0" rIns="0" bIns="0" rtlCol="0" anchor="t"/>
          <a:lstStyle/>
          <a:p>
            <a:pPr indent="0" marL="0">
              <a:buNone/>
            </a:pPr>
            <a:r>
              <a:rPr lang="en-US" sz="1300" dirty="0">
                <a:solidFill>
                  <a:srgbClr val="A7B0C0"/>
                </a:solidFill>
                <a:latin typeface="Calibri" pitchFamily="34" charset="0"/>
                <a:ea typeface="Calibri" pitchFamily="34" charset="-122"/>
                <a:cs typeface="Calibri" pitchFamily="34" charset="-120"/>
              </a:rPr>
              <a:t>fallecidos</a:t>
            </a:r>
            <a:endParaRPr lang="en-US" sz="1300" dirty="0"/>
          </a:p>
        </p:txBody>
      </p:sp>
      <p:sp>
        <p:nvSpPr>
          <p:cNvPr id="13" name="Shape 10"/>
          <p:cNvSpPr/>
          <p:nvPr/>
        </p:nvSpPr>
        <p:spPr>
          <a:xfrm>
            <a:off x="9692640" y="2743200"/>
            <a:ext cx="2011680" cy="1325880"/>
          </a:xfrm>
          <a:prstGeom prst="roundRect">
            <a:avLst>
              <a:gd name="adj" fmla="val 8276"/>
            </a:avLst>
          </a:prstGeom>
          <a:solidFill>
            <a:srgbClr val="1E2330"/>
          </a:solidFill>
          <a:ln w="12700">
            <a:solidFill>
              <a:srgbClr val="1E2330"/>
            </a:solidFill>
            <a:prstDash val="solid"/>
          </a:ln>
        </p:spPr>
      </p:sp>
      <p:sp>
        <p:nvSpPr>
          <p:cNvPr id="14" name="Text 11"/>
          <p:cNvSpPr txBox="1"/>
          <p:nvPr/>
        </p:nvSpPr>
        <p:spPr>
          <a:xfrm>
            <a:off x="9875520" y="2880360"/>
            <a:ext cx="1737360" cy="640080"/>
          </a:xfrm>
          <a:prstGeom prst="rect">
            <a:avLst/>
          </a:prstGeom>
          <a:noFill/>
          <a:ln/>
        </p:spPr>
        <p:txBody>
          <a:bodyPr wrap="square" lIns="0" tIns="0" rIns="0" bIns="0" rtlCol="0" anchor="ctr"/>
          <a:lstStyle/>
          <a:p>
            <a:pPr indent="0" marL="0">
              <a:buNone/>
            </a:pPr>
            <a:r>
              <a:rPr lang="en-US" sz="3000" b="1" dirty="0">
                <a:solidFill>
                  <a:srgbClr val="F5B700"/>
                </a:solidFill>
                <a:latin typeface="Arial" pitchFamily="34" charset="0"/>
                <a:ea typeface="Arial" pitchFamily="34" charset="-122"/>
                <a:cs typeface="Arial" pitchFamily="34" charset="-120"/>
              </a:rPr>
              <a:t>1 de 7</a:t>
            </a:r>
            <a:endParaRPr lang="en-US" sz="3000" dirty="0"/>
          </a:p>
        </p:txBody>
      </p:sp>
      <p:sp>
        <p:nvSpPr>
          <p:cNvPr id="15" name="Text 12"/>
          <p:cNvSpPr txBox="1"/>
          <p:nvPr/>
        </p:nvSpPr>
        <p:spPr>
          <a:xfrm>
            <a:off x="9875520" y="3520440"/>
            <a:ext cx="1737360" cy="457200"/>
          </a:xfrm>
          <a:prstGeom prst="rect">
            <a:avLst/>
          </a:prstGeom>
          <a:noFill/>
          <a:ln/>
        </p:spPr>
        <p:txBody>
          <a:bodyPr wrap="square" lIns="0" tIns="0" rIns="0" bIns="0" rtlCol="0" anchor="t"/>
          <a:lstStyle/>
          <a:p>
            <a:pPr indent="0" marL="0">
              <a:buNone/>
            </a:pPr>
            <a:r>
              <a:rPr lang="en-US" sz="1300" dirty="0">
                <a:solidFill>
                  <a:srgbClr val="A7B0C0"/>
                </a:solidFill>
                <a:latin typeface="Calibri" pitchFamily="34" charset="0"/>
                <a:ea typeface="Calibri" pitchFamily="34" charset="-122"/>
                <a:cs typeface="Calibri" pitchFamily="34" charset="-120"/>
              </a:rPr>
              <a:t>muertes viales de Quito</a:t>
            </a:r>
            <a:endParaRPr lang="en-US" sz="1300" dirty="0"/>
          </a:p>
        </p:txBody>
      </p:sp>
      <p:sp>
        <p:nvSpPr>
          <p:cNvPr id="16" name="Text 13"/>
          <p:cNvSpPr txBox="1"/>
          <p:nvPr/>
        </p:nvSpPr>
        <p:spPr>
          <a:xfrm>
            <a:off x="5303520" y="4297680"/>
            <a:ext cx="64008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Intersecciones con más siniestros</a:t>
            </a:r>
            <a:endParaRPr lang="en-US" sz="1400" dirty="0"/>
          </a:p>
        </p:txBody>
      </p:sp>
      <p:sp>
        <p:nvSpPr>
          <p:cNvPr id="17" name="Text 14"/>
          <p:cNvSpPr txBox="1"/>
          <p:nvPr/>
        </p:nvSpPr>
        <p:spPr>
          <a:xfrm>
            <a:off x="5303520" y="4663440"/>
            <a:ext cx="6400800" cy="100584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A7B0C0"/>
                </a:solidFill>
                <a:latin typeface="Calibri" pitchFamily="34" charset="0"/>
                <a:ea typeface="Calibri" pitchFamily="34" charset="-122"/>
                <a:cs typeface="Calibri" pitchFamily="34" charset="-120"/>
              </a:rPr>
              <a:t>Simón Bolívar y Universidad Internacional  —  68</a:t>
            </a:r>
            <a:endParaRPr lang="en-US" sz="1400" dirty="0"/>
          </a:p>
          <a:p>
            <a:pPr marL="342900" indent="-342900">
              <a:spcAft>
                <a:spcPts val="400"/>
              </a:spcAft>
              <a:buSzPct val="100000"/>
              <a:buChar char="•"/>
            </a:pPr>
            <a:r>
              <a:rPr lang="en-US" sz="1400" dirty="0">
                <a:solidFill>
                  <a:srgbClr val="A7B0C0"/>
                </a:solidFill>
                <a:latin typeface="Calibri" pitchFamily="34" charset="0"/>
                <a:ea typeface="Calibri" pitchFamily="34" charset="-122"/>
                <a:cs typeface="Calibri" pitchFamily="34" charset="-120"/>
              </a:rPr>
              <a:t>Simón Bolívar y De los Conquistadores  —  61</a:t>
            </a:r>
            <a:endParaRPr lang="en-US" sz="1400" dirty="0"/>
          </a:p>
          <a:p>
            <a:pPr marL="342900" indent="-342900">
              <a:spcAft>
                <a:spcPts val="400"/>
              </a:spcAft>
              <a:buSzPct val="100000"/>
              <a:buChar char="•"/>
            </a:pPr>
            <a:r>
              <a:rPr lang="en-US" sz="1400" dirty="0">
                <a:solidFill>
                  <a:srgbClr val="A7B0C0"/>
                </a:solidFill>
                <a:latin typeface="Calibri" pitchFamily="34" charset="0"/>
                <a:ea typeface="Calibri" pitchFamily="34" charset="-122"/>
                <a:cs typeface="Calibri" pitchFamily="34" charset="-120"/>
              </a:rPr>
              <a:t>Simón Bolívar y Autopista General Rumiñahui  —  51</a:t>
            </a:r>
            <a:endParaRPr lang="en-US" sz="1400" dirty="0"/>
          </a:p>
        </p:txBody>
      </p:sp>
      <p:sp>
        <p:nvSpPr>
          <p:cNvPr id="18" name="Text 15"/>
          <p:cNvSpPr txBox="1"/>
          <p:nvPr/>
        </p:nvSpPr>
        <p:spPr>
          <a:xfrm>
            <a:off x="5303520" y="5852160"/>
            <a:ext cx="6492240" cy="640080"/>
          </a:xfrm>
          <a:prstGeom prst="rect">
            <a:avLst/>
          </a:prstGeom>
          <a:noFill/>
          <a:ln/>
        </p:spPr>
        <p:txBody>
          <a:bodyPr wrap="square" lIns="0" tIns="0" rIns="0" bIns="0" rtlCol="0" anchor="t"/>
          <a:lstStyle/>
          <a:p>
            <a:pPr indent="0" marL="0">
              <a:buNone/>
            </a:pPr>
            <a:r>
              <a:rPr lang="en-US" sz="1500" i="1" dirty="0">
                <a:solidFill>
                  <a:srgbClr val="FFFFFF"/>
                </a:solidFill>
                <a:latin typeface="Calibri" pitchFamily="34" charset="0"/>
                <a:ea typeface="Calibri" pitchFamily="34" charset="-122"/>
                <a:cs typeface="Calibri" pitchFamily="34" charset="-120"/>
              </a:rPr>
              <a:t>Los reportes actuales describen el pasado. Ninguno responde: ¿dónde y cuándo será el próximo?</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71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Los siniestros no ocurren al azar: tienen patrones</a:t>
            </a:r>
            <a:endParaRPr lang="en-US" sz="32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600" dirty="0">
                <a:solidFill>
                  <a:srgbClr val="A7B0C0"/>
                </a:solidFill>
                <a:latin typeface="Calibri" pitchFamily="34" charset="0"/>
                <a:ea typeface="Calibri" pitchFamily="34" charset="-122"/>
                <a:cs typeface="Calibri" pitchFamily="34" charset="-120"/>
              </a:rPr>
              <a:t>Siniestros por hora del día en Quito · 2024 – 2026</a:t>
            </a:r>
            <a:endParaRPr lang="en-US" sz="1600" dirty="0"/>
          </a:p>
        </p:txBody>
      </p:sp>
      <p:graphicFrame>
        <p:nvGraphicFramePr>
          <p:cNvPr id="4" name="Chart 0" descr=""/>
          <p:cNvGraphicFramePr/>
          <p:nvPr/>
        </p:nvGraphicFramePr>
        <p:xfrm>
          <a:off x="457200" y="1645920"/>
          <a:ext cx="722376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46720" y="1737360"/>
            <a:ext cx="685800" cy="685800"/>
          </a:xfrm>
          <a:prstGeom prst="ellipse">
            <a:avLst/>
          </a:prstGeom>
          <a:solidFill>
            <a:srgbClr val="F5B700"/>
          </a:solidFill>
          <a:ln w="12700">
            <a:solidFill>
              <a:srgbClr val="F5B700"/>
            </a:solidFill>
            <a:prstDash val="solid"/>
          </a:ln>
        </p:spPr>
      </p:sp>
      <p:pic>
        <p:nvPicPr>
          <p:cNvPr id="6" name="Image 0" descr="preencoded.png">    </p:cNvPr>
          <p:cNvPicPr>
            <a:picLocks noChangeAspect="1"/>
          </p:cNvPicPr>
          <p:nvPr/>
        </p:nvPicPr>
        <p:blipFill>
          <a:blip r:embed="rId2"/>
          <a:stretch>
            <a:fillRect/>
          </a:stretch>
        </p:blipFill>
        <p:spPr>
          <a:xfrm>
            <a:off x="8225028" y="1915668"/>
            <a:ext cx="329184" cy="329184"/>
          </a:xfrm>
          <a:prstGeom prst="rect">
            <a:avLst/>
          </a:prstGeom>
        </p:spPr>
      </p:pic>
      <p:sp>
        <p:nvSpPr>
          <p:cNvPr id="7" name="Text 3"/>
          <p:cNvSpPr txBox="1"/>
          <p:nvPr/>
        </p:nvSpPr>
        <p:spPr>
          <a:xfrm>
            <a:off x="8915400" y="1691640"/>
            <a:ext cx="2926080" cy="411480"/>
          </a:xfrm>
          <a:prstGeom prst="rect">
            <a:avLst/>
          </a:prstGeom>
          <a:noFill/>
          <a:ln/>
        </p:spPr>
        <p:txBody>
          <a:bodyPr wrap="square" lIns="0" tIns="0" rIns="0" bIns="0" rtlCol="0" anchor="ctr"/>
          <a:lstStyle/>
          <a:p>
            <a:pPr indent="0" marL="0">
              <a:buNone/>
            </a:pPr>
            <a:r>
              <a:rPr lang="en-US" sz="2000" b="1" dirty="0">
                <a:solidFill>
                  <a:srgbClr val="F5B700"/>
                </a:solidFill>
                <a:latin typeface="Arial" pitchFamily="34" charset="0"/>
                <a:ea typeface="Arial" pitchFamily="34" charset="-122"/>
                <a:cs typeface="Arial" pitchFamily="34" charset="-120"/>
              </a:rPr>
              <a:t>07:00 y 19:00</a:t>
            </a:r>
            <a:endParaRPr lang="en-US" sz="2000" dirty="0"/>
          </a:p>
        </p:txBody>
      </p:sp>
      <p:sp>
        <p:nvSpPr>
          <p:cNvPr id="8" name="Text 4"/>
          <p:cNvSpPr txBox="1"/>
          <p:nvPr/>
        </p:nvSpPr>
        <p:spPr>
          <a:xfrm>
            <a:off x="8915400" y="2103120"/>
            <a:ext cx="2926080" cy="640080"/>
          </a:xfrm>
          <a:prstGeom prst="rect">
            <a:avLst/>
          </a:prstGeom>
          <a:noFill/>
          <a:ln/>
        </p:spPr>
        <p:txBody>
          <a:bodyPr wrap="square" lIns="0" tIns="0" rIns="0" bIns="0" rtlCol="0" anchor="t"/>
          <a:lstStyle/>
          <a:p>
            <a:pPr indent="0" marL="0">
              <a:buNone/>
            </a:pPr>
            <a:r>
              <a:rPr lang="en-US" sz="1300" dirty="0">
                <a:solidFill>
                  <a:srgbClr val="A7B0C0"/>
                </a:solidFill>
                <a:latin typeface="Calibri" pitchFamily="34" charset="0"/>
                <a:ea typeface="Calibri" pitchFamily="34" charset="-122"/>
                <a:cs typeface="Calibri" pitchFamily="34" charset="-120"/>
              </a:rPr>
              <a:t>Picos en la entrada y salida del trabajo</a:t>
            </a:r>
            <a:endParaRPr lang="en-US" sz="1300" dirty="0"/>
          </a:p>
        </p:txBody>
      </p:sp>
      <p:sp>
        <p:nvSpPr>
          <p:cNvPr id="9" name="Shape 5"/>
          <p:cNvSpPr/>
          <p:nvPr/>
        </p:nvSpPr>
        <p:spPr>
          <a:xfrm>
            <a:off x="8046720" y="2926080"/>
            <a:ext cx="685800" cy="685800"/>
          </a:xfrm>
          <a:prstGeom prst="ellipse">
            <a:avLst/>
          </a:prstGeom>
          <a:solidFill>
            <a:srgbClr val="F5B700"/>
          </a:solidFill>
          <a:ln w="12700">
            <a:solidFill>
              <a:srgbClr val="F5B700"/>
            </a:solidFill>
            <a:prstDash val="solid"/>
          </a:ln>
        </p:spPr>
      </p:sp>
      <p:pic>
        <p:nvPicPr>
          <p:cNvPr id="10" name="Image 1" descr="preencoded.png">    </p:cNvPr>
          <p:cNvPicPr>
            <a:picLocks noChangeAspect="1"/>
          </p:cNvPicPr>
          <p:nvPr/>
        </p:nvPicPr>
        <p:blipFill>
          <a:blip r:embed="rId3"/>
          <a:stretch>
            <a:fillRect/>
          </a:stretch>
        </p:blipFill>
        <p:spPr>
          <a:xfrm>
            <a:off x="8225028" y="3104388"/>
            <a:ext cx="329184" cy="329184"/>
          </a:xfrm>
          <a:prstGeom prst="rect">
            <a:avLst/>
          </a:prstGeom>
        </p:spPr>
      </p:pic>
      <p:sp>
        <p:nvSpPr>
          <p:cNvPr id="11" name="Text 6"/>
          <p:cNvSpPr txBox="1"/>
          <p:nvPr/>
        </p:nvSpPr>
        <p:spPr>
          <a:xfrm>
            <a:off x="8915400" y="2880360"/>
            <a:ext cx="2926080" cy="411480"/>
          </a:xfrm>
          <a:prstGeom prst="rect">
            <a:avLst/>
          </a:prstGeom>
          <a:noFill/>
          <a:ln/>
        </p:spPr>
        <p:txBody>
          <a:bodyPr wrap="square" lIns="0" tIns="0" rIns="0" bIns="0" rtlCol="0" anchor="ctr"/>
          <a:lstStyle/>
          <a:p>
            <a:pPr indent="0" marL="0">
              <a:buNone/>
            </a:pPr>
            <a:r>
              <a:rPr lang="en-US" sz="2000" b="1" dirty="0">
                <a:solidFill>
                  <a:srgbClr val="F5B700"/>
                </a:solidFill>
                <a:latin typeface="Arial" pitchFamily="34" charset="0"/>
                <a:ea typeface="Arial" pitchFamily="34" charset="-122"/>
                <a:cs typeface="Arial" pitchFamily="34" charset="-120"/>
              </a:rPr>
              <a:t>35 %</a:t>
            </a:r>
            <a:endParaRPr lang="en-US" sz="2000" dirty="0"/>
          </a:p>
        </p:txBody>
      </p:sp>
      <p:sp>
        <p:nvSpPr>
          <p:cNvPr id="12" name="Text 7"/>
          <p:cNvSpPr txBox="1"/>
          <p:nvPr/>
        </p:nvSpPr>
        <p:spPr>
          <a:xfrm>
            <a:off x="8915400" y="3291840"/>
            <a:ext cx="2926080" cy="640080"/>
          </a:xfrm>
          <a:prstGeom prst="rect">
            <a:avLst/>
          </a:prstGeom>
          <a:noFill/>
          <a:ln/>
        </p:spPr>
        <p:txBody>
          <a:bodyPr wrap="square" lIns="0" tIns="0" rIns="0" bIns="0" rtlCol="0" anchor="t"/>
          <a:lstStyle/>
          <a:p>
            <a:pPr indent="0" marL="0">
              <a:buNone/>
            </a:pPr>
            <a:r>
              <a:rPr lang="en-US" sz="1300" dirty="0">
                <a:solidFill>
                  <a:srgbClr val="A7B0C0"/>
                </a:solidFill>
                <a:latin typeface="Calibri" pitchFamily="34" charset="0"/>
                <a:ea typeface="Calibri" pitchFamily="34" charset="-122"/>
                <a:cs typeface="Calibri" pitchFamily="34" charset="-120"/>
              </a:rPr>
              <a:t>de los siniestros ocurre sábado y domingo (solo 2 de 7 días)</a:t>
            </a:r>
            <a:endParaRPr lang="en-US" sz="1300" dirty="0"/>
          </a:p>
        </p:txBody>
      </p:sp>
      <p:sp>
        <p:nvSpPr>
          <p:cNvPr id="13" name="Shape 8"/>
          <p:cNvSpPr/>
          <p:nvPr/>
        </p:nvSpPr>
        <p:spPr>
          <a:xfrm>
            <a:off x="8046720" y="4114800"/>
            <a:ext cx="685800" cy="685800"/>
          </a:xfrm>
          <a:prstGeom prst="ellipse">
            <a:avLst/>
          </a:prstGeom>
          <a:solidFill>
            <a:srgbClr val="F5B700"/>
          </a:solidFill>
          <a:ln w="12700">
            <a:solidFill>
              <a:srgbClr val="F5B700"/>
            </a:solidFill>
            <a:prstDash val="solid"/>
          </a:ln>
        </p:spPr>
      </p:sp>
      <p:pic>
        <p:nvPicPr>
          <p:cNvPr id="14" name="Image 2" descr="preencoded.png">    </p:cNvPr>
          <p:cNvPicPr>
            <a:picLocks noChangeAspect="1"/>
          </p:cNvPicPr>
          <p:nvPr/>
        </p:nvPicPr>
        <p:blipFill>
          <a:blip r:embed="rId4"/>
          <a:stretch>
            <a:fillRect/>
          </a:stretch>
        </p:blipFill>
        <p:spPr>
          <a:xfrm>
            <a:off x="8225028" y="4293108"/>
            <a:ext cx="329184" cy="329184"/>
          </a:xfrm>
          <a:prstGeom prst="rect">
            <a:avLst/>
          </a:prstGeom>
        </p:spPr>
      </p:pic>
      <p:sp>
        <p:nvSpPr>
          <p:cNvPr id="15" name="Text 9"/>
          <p:cNvSpPr txBox="1"/>
          <p:nvPr/>
        </p:nvSpPr>
        <p:spPr>
          <a:xfrm>
            <a:off x="8915400" y="4069080"/>
            <a:ext cx="2926080" cy="411480"/>
          </a:xfrm>
          <a:prstGeom prst="rect">
            <a:avLst/>
          </a:prstGeom>
          <a:noFill/>
          <a:ln/>
        </p:spPr>
        <p:txBody>
          <a:bodyPr wrap="square" lIns="0" tIns="0" rIns="0" bIns="0" rtlCol="0" anchor="ctr"/>
          <a:lstStyle/>
          <a:p>
            <a:pPr indent="0" marL="0">
              <a:buNone/>
            </a:pPr>
            <a:r>
              <a:rPr lang="en-US" sz="2000" b="1" dirty="0">
                <a:solidFill>
                  <a:srgbClr val="F5B700"/>
                </a:solidFill>
                <a:latin typeface="Arial" pitchFamily="34" charset="0"/>
                <a:ea typeface="Arial" pitchFamily="34" charset="-122"/>
                <a:cs typeface="Arial" pitchFamily="34" charset="-120"/>
              </a:rPr>
              <a:t>¿Y la lluvia?</a:t>
            </a:r>
            <a:endParaRPr lang="en-US" sz="2000" dirty="0"/>
          </a:p>
        </p:txBody>
      </p:sp>
      <p:sp>
        <p:nvSpPr>
          <p:cNvPr id="16" name="Text 10"/>
          <p:cNvSpPr txBox="1"/>
          <p:nvPr/>
        </p:nvSpPr>
        <p:spPr>
          <a:xfrm>
            <a:off x="8915400" y="4480560"/>
            <a:ext cx="2926080" cy="640080"/>
          </a:xfrm>
          <a:prstGeom prst="rect">
            <a:avLst/>
          </a:prstGeom>
          <a:noFill/>
          <a:ln/>
        </p:spPr>
        <p:txBody>
          <a:bodyPr wrap="square" lIns="0" tIns="0" rIns="0" bIns="0" rtlCol="0" anchor="t"/>
          <a:lstStyle/>
          <a:p>
            <a:pPr indent="0" marL="0">
              <a:buNone/>
            </a:pPr>
            <a:r>
              <a:rPr lang="en-US" sz="1300" dirty="0">
                <a:solidFill>
                  <a:srgbClr val="A7B0C0"/>
                </a:solidFill>
                <a:latin typeface="Calibri" pitchFamily="34" charset="0"/>
                <a:ea typeface="Calibri" pitchFamily="34" charset="-122"/>
                <a:cs typeface="Calibri" pitchFamily="34" charset="-120"/>
              </a:rPr>
              <a:t>Quito tiene lluvias de tarde en horas pico: lo vamos a medir</a:t>
            </a:r>
            <a:endParaRPr lang="en-US" sz="1300" dirty="0"/>
          </a:p>
        </p:txBody>
      </p:sp>
      <p:sp>
        <p:nvSpPr>
          <p:cNvPr id="17" name="Shape 11"/>
          <p:cNvSpPr/>
          <p:nvPr/>
        </p:nvSpPr>
        <p:spPr>
          <a:xfrm>
            <a:off x="8046720" y="5349240"/>
            <a:ext cx="3749040" cy="868680"/>
          </a:xfrm>
          <a:prstGeom prst="roundRect">
            <a:avLst>
              <a:gd name="adj" fmla="val 12632"/>
            </a:avLst>
          </a:prstGeom>
          <a:solidFill>
            <a:srgbClr val="262C3B"/>
          </a:solidFill>
          <a:ln w="12700">
            <a:solidFill>
              <a:srgbClr val="262C3B"/>
            </a:solidFill>
            <a:prstDash val="solid"/>
          </a:ln>
        </p:spPr>
      </p:sp>
      <p:sp>
        <p:nvSpPr>
          <p:cNvPr id="18" name="Text 12"/>
          <p:cNvSpPr txBox="1"/>
          <p:nvPr/>
        </p:nvSpPr>
        <p:spPr>
          <a:xfrm>
            <a:off x="8229600" y="5394960"/>
            <a:ext cx="342900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¿Dónde, cuándo y en qué condiciones es más probable un siniestro en Quito?</a:t>
            </a:r>
            <a:endParaRPr lang="en-US" sz="1400" dirty="0"/>
          </a:p>
        </p:txBody>
      </p:sp>
      <p:sp>
        <p:nvSpPr>
          <p:cNvPr id="19" name="Text 13"/>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Fuente: cálculo propio con la base de siniestros de la ANT (2024 – agosto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71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Nuestros datos: 100 % oficiales y verificables</a:t>
            </a:r>
            <a:endParaRPr lang="en-US" sz="32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600" dirty="0">
                <a:solidFill>
                  <a:srgbClr val="A7B0C0"/>
                </a:solidFill>
                <a:latin typeface="Calibri" pitchFamily="34" charset="0"/>
                <a:ea typeface="Calibri" pitchFamily="34" charset="-122"/>
                <a:cs typeface="Calibri" pitchFamily="34" charset="-120"/>
              </a:rPr>
              <a:t>Cada fuente se eligió para resolver una necesidad del proyecto</a:t>
            </a:r>
            <a:endParaRPr lang="en-US" sz="1600" dirty="0"/>
          </a:p>
        </p:txBody>
      </p:sp>
      <p:sp>
        <p:nvSpPr>
          <p:cNvPr id="4" name="Shape 2"/>
          <p:cNvSpPr/>
          <p:nvPr/>
        </p:nvSpPr>
        <p:spPr>
          <a:xfrm>
            <a:off x="548640" y="1783080"/>
            <a:ext cx="3520440" cy="4023360"/>
          </a:xfrm>
          <a:prstGeom prst="roundRect">
            <a:avLst>
              <a:gd name="adj" fmla="val 3117"/>
            </a:avLst>
          </a:prstGeom>
          <a:solidFill>
            <a:srgbClr val="1E2330"/>
          </a:solidFill>
          <a:ln w="12700">
            <a:solidFill>
              <a:srgbClr val="1E2330"/>
            </a:solidFill>
            <a:prstDash val="solid"/>
          </a:ln>
        </p:spPr>
      </p:sp>
      <p:sp>
        <p:nvSpPr>
          <p:cNvPr id="5" name="Shape 3"/>
          <p:cNvSpPr/>
          <p:nvPr/>
        </p:nvSpPr>
        <p:spPr>
          <a:xfrm>
            <a:off x="868680" y="2057400"/>
            <a:ext cx="731520" cy="731520"/>
          </a:xfrm>
          <a:prstGeom prst="ellipse">
            <a:avLst/>
          </a:prstGeom>
          <a:solidFill>
            <a:srgbClr val="F5B700"/>
          </a:solidFill>
          <a:ln w="12700">
            <a:solidFill>
              <a:srgbClr val="F5B700"/>
            </a:solidFill>
            <a:prstDash val="solid"/>
          </a:ln>
        </p:spPr>
      </p:sp>
      <p:pic>
        <p:nvPicPr>
          <p:cNvPr id="6" name="Image 0" descr="preencoded.png">    </p:cNvPr>
          <p:cNvPicPr>
            <a:picLocks noChangeAspect="1"/>
          </p:cNvPicPr>
          <p:nvPr/>
        </p:nvPicPr>
        <p:blipFill>
          <a:blip r:embed="rId1"/>
          <a:stretch>
            <a:fillRect/>
          </a:stretch>
        </p:blipFill>
        <p:spPr>
          <a:xfrm>
            <a:off x="1058875" y="2247595"/>
            <a:ext cx="351130" cy="351130"/>
          </a:xfrm>
          <a:prstGeom prst="rect">
            <a:avLst/>
          </a:prstGeom>
        </p:spPr>
      </p:pic>
      <p:sp>
        <p:nvSpPr>
          <p:cNvPr id="7" name="Text 4"/>
          <p:cNvSpPr txBox="1"/>
          <p:nvPr/>
        </p:nvSpPr>
        <p:spPr>
          <a:xfrm>
            <a:off x="1783080" y="2084832"/>
            <a:ext cx="2194560" cy="4114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INEC</a:t>
            </a:r>
            <a:endParaRPr lang="en-US" sz="2200" dirty="0"/>
          </a:p>
        </p:txBody>
      </p:sp>
      <p:sp>
        <p:nvSpPr>
          <p:cNvPr id="8" name="Text 5"/>
          <p:cNvSpPr txBox="1"/>
          <p:nvPr/>
        </p:nvSpPr>
        <p:spPr>
          <a:xfrm>
            <a:off x="1783080" y="2487168"/>
            <a:ext cx="2240280" cy="320040"/>
          </a:xfrm>
          <a:prstGeom prst="rect">
            <a:avLst/>
          </a:prstGeom>
          <a:noFill/>
          <a:ln/>
        </p:spPr>
        <p:txBody>
          <a:bodyPr wrap="square" lIns="0" tIns="0" rIns="0" bIns="0" rtlCol="0" anchor="ctr"/>
          <a:lstStyle/>
          <a:p>
            <a:pPr indent="0" marL="0">
              <a:buNone/>
            </a:pPr>
            <a:r>
              <a:rPr lang="en-US" sz="1100" dirty="0">
                <a:solidFill>
                  <a:srgbClr val="A7B0C0"/>
                </a:solidFill>
                <a:latin typeface="Calibri" pitchFamily="34" charset="0"/>
                <a:ea typeface="Calibri" pitchFamily="34" charset="-122"/>
                <a:cs typeface="Calibri" pitchFamily="34" charset="-120"/>
              </a:rPr>
              <a:t>2017 – 2023</a:t>
            </a:r>
            <a:endParaRPr lang="en-US" sz="1100" dirty="0"/>
          </a:p>
        </p:txBody>
      </p:sp>
      <p:sp>
        <p:nvSpPr>
          <p:cNvPr id="9" name="Text 6"/>
          <p:cNvSpPr txBox="1"/>
          <p:nvPr/>
        </p:nvSpPr>
        <p:spPr>
          <a:xfrm>
            <a:off x="868680" y="3063240"/>
            <a:ext cx="2926080" cy="457200"/>
          </a:xfrm>
          <a:prstGeom prst="rect">
            <a:avLst/>
          </a:prstGeom>
          <a:noFill/>
          <a:ln/>
        </p:spPr>
        <p:txBody>
          <a:bodyPr wrap="square" lIns="0" tIns="0" rIns="0" bIns="0" rtlCol="0" anchor="ctr"/>
          <a:lstStyle/>
          <a:p>
            <a:pPr indent="0" marL="0">
              <a:buNone/>
            </a:pPr>
            <a:r>
              <a:rPr lang="en-US" sz="2000" b="1" dirty="0">
                <a:solidFill>
                  <a:srgbClr val="F5B700"/>
                </a:solidFill>
                <a:latin typeface="Arial" pitchFamily="34" charset="0"/>
                <a:ea typeface="Arial" pitchFamily="34" charset="-122"/>
                <a:cs typeface="Arial" pitchFamily="34" charset="-120"/>
              </a:rPr>
              <a:t>34.392 siniestros</a:t>
            </a:r>
            <a:endParaRPr lang="en-US" sz="2000" dirty="0"/>
          </a:p>
        </p:txBody>
      </p:sp>
      <p:sp>
        <p:nvSpPr>
          <p:cNvPr id="10" name="Text 7"/>
          <p:cNvSpPr txBox="1"/>
          <p:nvPr/>
        </p:nvSpPr>
        <p:spPr>
          <a:xfrm>
            <a:off x="868680" y="3611880"/>
            <a:ext cx="2926080" cy="10058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Mes, día de la semana, hora, causa y tipo de siniestro</a:t>
            </a:r>
            <a:endParaRPr lang="en-US" sz="1400" dirty="0"/>
          </a:p>
        </p:txBody>
      </p:sp>
      <p:sp>
        <p:nvSpPr>
          <p:cNvPr id="11" name="Shape 8"/>
          <p:cNvSpPr/>
          <p:nvPr/>
        </p:nvSpPr>
        <p:spPr>
          <a:xfrm>
            <a:off x="777240" y="4572000"/>
            <a:ext cx="3063240" cy="1005840"/>
          </a:xfrm>
          <a:prstGeom prst="roundRect">
            <a:avLst>
              <a:gd name="adj" fmla="val 7273"/>
            </a:avLst>
          </a:prstGeom>
          <a:solidFill>
            <a:srgbClr val="2E3546"/>
          </a:solidFill>
          <a:ln w="12700">
            <a:solidFill>
              <a:srgbClr val="2E3546"/>
            </a:solidFill>
            <a:prstDash val="solid"/>
          </a:ln>
        </p:spPr>
      </p:sp>
      <p:sp>
        <p:nvSpPr>
          <p:cNvPr id="12" name="Text 9"/>
          <p:cNvSpPr txBox="1"/>
          <p:nvPr/>
        </p:nvSpPr>
        <p:spPr>
          <a:xfrm>
            <a:off x="960120" y="4617720"/>
            <a:ext cx="2743200" cy="91440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¿Para qué? Ver cómo evolucionan los siniestros en 10 años</a:t>
            </a:r>
            <a:endParaRPr lang="en-US" sz="1300" dirty="0"/>
          </a:p>
        </p:txBody>
      </p:sp>
      <p:sp>
        <p:nvSpPr>
          <p:cNvPr id="13" name="Shape 10"/>
          <p:cNvSpPr/>
          <p:nvPr/>
        </p:nvSpPr>
        <p:spPr>
          <a:xfrm>
            <a:off x="4297680" y="1783080"/>
            <a:ext cx="3520440" cy="4023360"/>
          </a:xfrm>
          <a:prstGeom prst="roundRect">
            <a:avLst>
              <a:gd name="adj" fmla="val 3117"/>
            </a:avLst>
          </a:prstGeom>
          <a:solidFill>
            <a:srgbClr val="262C3B"/>
          </a:solidFill>
          <a:ln w="12700">
            <a:solidFill>
              <a:srgbClr val="262C3B"/>
            </a:solidFill>
            <a:prstDash val="solid"/>
          </a:ln>
        </p:spPr>
      </p:sp>
      <p:sp>
        <p:nvSpPr>
          <p:cNvPr id="14" name="Shape 11"/>
          <p:cNvSpPr/>
          <p:nvPr/>
        </p:nvSpPr>
        <p:spPr>
          <a:xfrm>
            <a:off x="4617720" y="2057400"/>
            <a:ext cx="731520" cy="731520"/>
          </a:xfrm>
          <a:prstGeom prst="ellipse">
            <a:avLst/>
          </a:prstGeom>
          <a:solidFill>
            <a:srgbClr val="F5B700"/>
          </a:solidFill>
          <a:ln w="12700">
            <a:solidFill>
              <a:srgbClr val="F5B700"/>
            </a:solidFill>
            <a:prstDash val="solid"/>
          </a:ln>
        </p:spPr>
      </p:sp>
      <p:pic>
        <p:nvPicPr>
          <p:cNvPr id="15" name="Image 1" descr="preencoded.png">    </p:cNvPr>
          <p:cNvPicPr>
            <a:picLocks noChangeAspect="1"/>
          </p:cNvPicPr>
          <p:nvPr/>
        </p:nvPicPr>
        <p:blipFill>
          <a:blip r:embed="rId2"/>
          <a:stretch>
            <a:fillRect/>
          </a:stretch>
        </p:blipFill>
        <p:spPr>
          <a:xfrm>
            <a:off x="4807915" y="2247595"/>
            <a:ext cx="351130" cy="351130"/>
          </a:xfrm>
          <a:prstGeom prst="rect">
            <a:avLst/>
          </a:prstGeom>
        </p:spPr>
      </p:pic>
      <p:sp>
        <p:nvSpPr>
          <p:cNvPr id="16" name="Text 12"/>
          <p:cNvSpPr txBox="1"/>
          <p:nvPr/>
        </p:nvSpPr>
        <p:spPr>
          <a:xfrm>
            <a:off x="5532120" y="2084832"/>
            <a:ext cx="2194560" cy="4114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ANT</a:t>
            </a:r>
            <a:endParaRPr lang="en-US" sz="2200" dirty="0"/>
          </a:p>
        </p:txBody>
      </p:sp>
      <p:sp>
        <p:nvSpPr>
          <p:cNvPr id="17" name="Text 13"/>
          <p:cNvSpPr txBox="1"/>
          <p:nvPr/>
        </p:nvSpPr>
        <p:spPr>
          <a:xfrm>
            <a:off x="5532120" y="2487168"/>
            <a:ext cx="2240280" cy="320040"/>
          </a:xfrm>
          <a:prstGeom prst="rect">
            <a:avLst/>
          </a:prstGeom>
          <a:noFill/>
          <a:ln/>
        </p:spPr>
        <p:txBody>
          <a:bodyPr wrap="square" lIns="0" tIns="0" rIns="0" bIns="0" rtlCol="0" anchor="ctr"/>
          <a:lstStyle/>
          <a:p>
            <a:pPr indent="0" marL="0">
              <a:buNone/>
            </a:pPr>
            <a:r>
              <a:rPr lang="en-US" sz="1100" dirty="0">
                <a:solidFill>
                  <a:srgbClr val="A7B0C0"/>
                </a:solidFill>
                <a:latin typeface="Calibri" pitchFamily="34" charset="0"/>
                <a:ea typeface="Calibri" pitchFamily="34" charset="-122"/>
                <a:cs typeface="Calibri" pitchFamily="34" charset="-120"/>
              </a:rPr>
              <a:t>2024 – 2026</a:t>
            </a:r>
            <a:endParaRPr lang="en-US" sz="1100" dirty="0"/>
          </a:p>
        </p:txBody>
      </p:sp>
      <p:sp>
        <p:nvSpPr>
          <p:cNvPr id="18" name="Text 14"/>
          <p:cNvSpPr txBox="1"/>
          <p:nvPr/>
        </p:nvSpPr>
        <p:spPr>
          <a:xfrm>
            <a:off x="4617720" y="3063240"/>
            <a:ext cx="2926080" cy="457200"/>
          </a:xfrm>
          <a:prstGeom prst="rect">
            <a:avLst/>
          </a:prstGeom>
          <a:noFill/>
          <a:ln/>
        </p:spPr>
        <p:txBody>
          <a:bodyPr wrap="square" lIns="0" tIns="0" rIns="0" bIns="0" rtlCol="0" anchor="ctr"/>
          <a:lstStyle/>
          <a:p>
            <a:pPr indent="0" marL="0">
              <a:buNone/>
            </a:pPr>
            <a:r>
              <a:rPr lang="en-US" sz="2000" b="1" dirty="0">
                <a:solidFill>
                  <a:srgbClr val="F5B700"/>
                </a:solidFill>
                <a:latin typeface="Arial" pitchFamily="34" charset="0"/>
                <a:ea typeface="Arial" pitchFamily="34" charset="-122"/>
                <a:cs typeface="Arial" pitchFamily="34" charset="-120"/>
              </a:rPr>
              <a:t>10.590 siniestros</a:t>
            </a:r>
            <a:endParaRPr lang="en-US" sz="2000" dirty="0"/>
          </a:p>
        </p:txBody>
      </p:sp>
      <p:sp>
        <p:nvSpPr>
          <p:cNvPr id="19" name="Text 15"/>
          <p:cNvSpPr txBox="1"/>
          <p:nvPr/>
        </p:nvSpPr>
        <p:spPr>
          <a:xfrm>
            <a:off x="4617720" y="3611880"/>
            <a:ext cx="2926080" cy="10058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Fecha, hora exacta, coordenadas, dirección, vehículos y víctimas</a:t>
            </a:r>
            <a:endParaRPr lang="en-US" sz="1400" dirty="0"/>
          </a:p>
        </p:txBody>
      </p:sp>
      <p:sp>
        <p:nvSpPr>
          <p:cNvPr id="20" name="Shape 16"/>
          <p:cNvSpPr/>
          <p:nvPr/>
        </p:nvSpPr>
        <p:spPr>
          <a:xfrm>
            <a:off x="4526280" y="4572000"/>
            <a:ext cx="3063240" cy="1005840"/>
          </a:xfrm>
          <a:prstGeom prst="roundRect">
            <a:avLst>
              <a:gd name="adj" fmla="val 7273"/>
            </a:avLst>
          </a:prstGeom>
          <a:solidFill>
            <a:srgbClr val="2E3546"/>
          </a:solidFill>
          <a:ln w="12700">
            <a:solidFill>
              <a:srgbClr val="2E3546"/>
            </a:solidFill>
            <a:prstDash val="solid"/>
          </a:ln>
        </p:spPr>
      </p:sp>
      <p:sp>
        <p:nvSpPr>
          <p:cNvPr id="21" name="Text 17"/>
          <p:cNvSpPr txBox="1"/>
          <p:nvPr/>
        </p:nvSpPr>
        <p:spPr>
          <a:xfrm>
            <a:off x="4709160" y="4617720"/>
            <a:ext cx="2743200" cy="91440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¿Para qué? Ubicar cada siniestro en el mapa y en su hora exacta</a:t>
            </a:r>
            <a:endParaRPr lang="en-US" sz="1300" dirty="0"/>
          </a:p>
        </p:txBody>
      </p:sp>
      <p:sp>
        <p:nvSpPr>
          <p:cNvPr id="22" name="Shape 18"/>
          <p:cNvSpPr/>
          <p:nvPr/>
        </p:nvSpPr>
        <p:spPr>
          <a:xfrm>
            <a:off x="8046720" y="1783080"/>
            <a:ext cx="3520440" cy="4023360"/>
          </a:xfrm>
          <a:prstGeom prst="roundRect">
            <a:avLst>
              <a:gd name="adj" fmla="val 3117"/>
            </a:avLst>
          </a:prstGeom>
          <a:solidFill>
            <a:srgbClr val="1E2330"/>
          </a:solidFill>
          <a:ln w="12700">
            <a:solidFill>
              <a:srgbClr val="1E2330"/>
            </a:solidFill>
            <a:prstDash val="solid"/>
          </a:ln>
        </p:spPr>
      </p:sp>
      <p:sp>
        <p:nvSpPr>
          <p:cNvPr id="23" name="Shape 19"/>
          <p:cNvSpPr/>
          <p:nvPr/>
        </p:nvSpPr>
        <p:spPr>
          <a:xfrm>
            <a:off x="8366760" y="2057400"/>
            <a:ext cx="731520" cy="731520"/>
          </a:xfrm>
          <a:prstGeom prst="ellipse">
            <a:avLst/>
          </a:prstGeom>
          <a:solidFill>
            <a:srgbClr val="F5B700"/>
          </a:solidFill>
          <a:ln w="12700">
            <a:solidFill>
              <a:srgbClr val="F5B700"/>
            </a:solidFill>
            <a:prstDash val="solid"/>
          </a:ln>
        </p:spPr>
      </p:sp>
      <p:pic>
        <p:nvPicPr>
          <p:cNvPr id="24" name="Image 2" descr="preencoded.png">    </p:cNvPr>
          <p:cNvPicPr>
            <a:picLocks noChangeAspect="1"/>
          </p:cNvPicPr>
          <p:nvPr/>
        </p:nvPicPr>
        <p:blipFill>
          <a:blip r:embed="rId3"/>
          <a:stretch>
            <a:fillRect/>
          </a:stretch>
        </p:blipFill>
        <p:spPr>
          <a:xfrm>
            <a:off x="8556955" y="2247595"/>
            <a:ext cx="351130" cy="351130"/>
          </a:xfrm>
          <a:prstGeom prst="rect">
            <a:avLst/>
          </a:prstGeom>
        </p:spPr>
      </p:pic>
      <p:sp>
        <p:nvSpPr>
          <p:cNvPr id="25" name="Text 20"/>
          <p:cNvSpPr txBox="1"/>
          <p:nvPr/>
        </p:nvSpPr>
        <p:spPr>
          <a:xfrm>
            <a:off x="9281160" y="2084832"/>
            <a:ext cx="2194560" cy="4114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Contexto</a:t>
            </a:r>
            <a:endParaRPr lang="en-US" sz="2200" dirty="0"/>
          </a:p>
        </p:txBody>
      </p:sp>
      <p:sp>
        <p:nvSpPr>
          <p:cNvPr id="26" name="Text 21"/>
          <p:cNvSpPr txBox="1"/>
          <p:nvPr/>
        </p:nvSpPr>
        <p:spPr>
          <a:xfrm>
            <a:off x="9281160" y="2487168"/>
            <a:ext cx="2240280" cy="320040"/>
          </a:xfrm>
          <a:prstGeom prst="rect">
            <a:avLst/>
          </a:prstGeom>
          <a:noFill/>
          <a:ln/>
        </p:spPr>
        <p:txBody>
          <a:bodyPr wrap="square" lIns="0" tIns="0" rIns="0" bIns="0" rtlCol="0" anchor="ctr"/>
          <a:lstStyle/>
          <a:p>
            <a:pPr indent="0" marL="0">
              <a:buNone/>
            </a:pPr>
            <a:r>
              <a:rPr lang="en-US" sz="1100" dirty="0">
                <a:solidFill>
                  <a:srgbClr val="A7B0C0"/>
                </a:solidFill>
                <a:latin typeface="Calibri" pitchFamily="34" charset="0"/>
                <a:ea typeface="Calibri" pitchFamily="34" charset="-122"/>
                <a:cs typeface="Calibri" pitchFamily="34" charset="-120"/>
              </a:rPr>
              <a:t>GeoQuito · REMMAQ · Open-Meteo</a:t>
            </a:r>
            <a:endParaRPr lang="en-US" sz="1100" dirty="0"/>
          </a:p>
        </p:txBody>
      </p:sp>
      <p:sp>
        <p:nvSpPr>
          <p:cNvPr id="27" name="Text 22"/>
          <p:cNvSpPr txBox="1"/>
          <p:nvPr/>
        </p:nvSpPr>
        <p:spPr>
          <a:xfrm>
            <a:off x="8366760" y="3063240"/>
            <a:ext cx="2926080" cy="457200"/>
          </a:xfrm>
          <a:prstGeom prst="rect">
            <a:avLst/>
          </a:prstGeom>
          <a:noFill/>
          <a:ln/>
        </p:spPr>
        <p:txBody>
          <a:bodyPr wrap="square" lIns="0" tIns="0" rIns="0" bIns="0" rtlCol="0" anchor="ctr"/>
          <a:lstStyle/>
          <a:p>
            <a:pPr indent="0" marL="0">
              <a:buNone/>
            </a:pPr>
            <a:r>
              <a:rPr lang="en-US" sz="2000" b="1" dirty="0">
                <a:solidFill>
                  <a:srgbClr val="F5B700"/>
                </a:solidFill>
                <a:latin typeface="Arial" pitchFamily="34" charset="0"/>
                <a:ea typeface="Arial" pitchFamily="34" charset="-122"/>
                <a:cs typeface="Arial" pitchFamily="34" charset="-120"/>
              </a:rPr>
              <a:t>65 parroquias + clima</a:t>
            </a:r>
            <a:endParaRPr lang="en-US" sz="2000" dirty="0"/>
          </a:p>
        </p:txBody>
      </p:sp>
      <p:sp>
        <p:nvSpPr>
          <p:cNvPr id="28" name="Text 23"/>
          <p:cNvSpPr txBox="1"/>
          <p:nvPr/>
        </p:nvSpPr>
        <p:spPr>
          <a:xfrm>
            <a:off x="8366760" y="3611880"/>
            <a:ext cx="2926080" cy="10058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Parroquias oficiales y lluvia, temperatura y humedad por hora</a:t>
            </a:r>
            <a:endParaRPr lang="en-US" sz="1400" dirty="0"/>
          </a:p>
        </p:txBody>
      </p:sp>
      <p:sp>
        <p:nvSpPr>
          <p:cNvPr id="29" name="Shape 24"/>
          <p:cNvSpPr/>
          <p:nvPr/>
        </p:nvSpPr>
        <p:spPr>
          <a:xfrm>
            <a:off x="8275320" y="4572000"/>
            <a:ext cx="3063240" cy="1005840"/>
          </a:xfrm>
          <a:prstGeom prst="roundRect">
            <a:avLst>
              <a:gd name="adj" fmla="val 7273"/>
            </a:avLst>
          </a:prstGeom>
          <a:solidFill>
            <a:srgbClr val="2E3546"/>
          </a:solidFill>
          <a:ln w="12700">
            <a:solidFill>
              <a:srgbClr val="2E3546"/>
            </a:solidFill>
            <a:prstDash val="solid"/>
          </a:ln>
        </p:spPr>
      </p:sp>
      <p:sp>
        <p:nvSpPr>
          <p:cNvPr id="30" name="Text 25"/>
          <p:cNvSpPr txBox="1"/>
          <p:nvPr/>
        </p:nvSpPr>
        <p:spPr>
          <a:xfrm>
            <a:off x="8458200" y="4617720"/>
            <a:ext cx="2743200" cy="91440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¿Para qué? Saber en qué parroquia fue y si estaba lloviendo</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71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Un solo dataset: 44.982 siniestros × 32 variables</a:t>
            </a:r>
            <a:endParaRPr lang="en-US" sz="32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600" dirty="0">
                <a:solidFill>
                  <a:srgbClr val="A7B0C0"/>
                </a:solidFill>
                <a:latin typeface="Calibri" pitchFamily="34" charset="0"/>
                <a:ea typeface="Calibri" pitchFamily="34" charset="-122"/>
                <a:cs typeface="Calibri" pitchFamily="34" charset="-120"/>
              </a:rPr>
              <a:t>Cada fila es un siniestro real · de lo crudo a lo listo para el modelo</a:t>
            </a:r>
            <a:endParaRPr lang="en-US" sz="1600" dirty="0"/>
          </a:p>
        </p:txBody>
      </p:sp>
      <p:sp>
        <p:nvSpPr>
          <p:cNvPr id="4" name="Shape 2"/>
          <p:cNvSpPr/>
          <p:nvPr/>
        </p:nvSpPr>
        <p:spPr>
          <a:xfrm>
            <a:off x="548640" y="1783080"/>
            <a:ext cx="640080" cy="640080"/>
          </a:xfrm>
          <a:prstGeom prst="ellipse">
            <a:avLst/>
          </a:prstGeom>
          <a:solidFill>
            <a:srgbClr val="F5B700"/>
          </a:solidFill>
          <a:ln w="12700">
            <a:solidFill>
              <a:srgbClr val="F5B700"/>
            </a:solidFill>
            <a:prstDash val="solid"/>
          </a:ln>
        </p:spPr>
      </p:sp>
      <p:pic>
        <p:nvPicPr>
          <p:cNvPr id="5" name="Image 0" descr="preencoded.png">    </p:cNvPr>
          <p:cNvPicPr>
            <a:picLocks noChangeAspect="1"/>
          </p:cNvPicPr>
          <p:nvPr/>
        </p:nvPicPr>
        <p:blipFill>
          <a:blip r:embed="rId1"/>
          <a:stretch>
            <a:fillRect/>
          </a:stretch>
        </p:blipFill>
        <p:spPr>
          <a:xfrm>
            <a:off x="715061" y="1949501"/>
            <a:ext cx="307238" cy="307238"/>
          </a:xfrm>
          <a:prstGeom prst="rect">
            <a:avLst/>
          </a:prstGeom>
        </p:spPr>
      </p:pic>
      <p:sp>
        <p:nvSpPr>
          <p:cNvPr id="6" name="Text 3"/>
          <p:cNvSpPr txBox="1"/>
          <p:nvPr/>
        </p:nvSpPr>
        <p:spPr>
          <a:xfrm>
            <a:off x="1371600" y="1764792"/>
            <a:ext cx="4114800" cy="34747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Tiempo</a:t>
            </a:r>
            <a:endParaRPr lang="en-US" sz="1700" dirty="0"/>
          </a:p>
        </p:txBody>
      </p:sp>
      <p:sp>
        <p:nvSpPr>
          <p:cNvPr id="7" name="Text 4"/>
          <p:cNvSpPr txBox="1"/>
          <p:nvPr/>
        </p:nvSpPr>
        <p:spPr>
          <a:xfrm>
            <a:off x="1371600" y="2093976"/>
            <a:ext cx="4206240" cy="365760"/>
          </a:xfrm>
          <a:prstGeom prst="rect">
            <a:avLst/>
          </a:prstGeom>
          <a:noFill/>
          <a:ln/>
        </p:spPr>
        <p:txBody>
          <a:bodyPr wrap="square" lIns="0" tIns="0" rIns="0" bIns="0" rtlCol="0" anchor="ctr"/>
          <a:lstStyle/>
          <a:p>
            <a:pPr indent="0" marL="0">
              <a:buNone/>
            </a:pPr>
            <a:r>
              <a:rPr lang="en-US" sz="1300" dirty="0">
                <a:solidFill>
                  <a:srgbClr val="A7B0C0"/>
                </a:solidFill>
                <a:latin typeface="Calibri" pitchFamily="34" charset="0"/>
                <a:ea typeface="Calibri" pitchFamily="34" charset="-122"/>
                <a:cs typeface="Calibri" pitchFamily="34" charset="-120"/>
              </a:rPr>
              <a:t>Año, mes, fecha, día, hora, franja horaria</a:t>
            </a:r>
            <a:endParaRPr lang="en-US" sz="1300" dirty="0"/>
          </a:p>
        </p:txBody>
      </p:sp>
      <p:sp>
        <p:nvSpPr>
          <p:cNvPr id="8" name="Shape 5"/>
          <p:cNvSpPr/>
          <p:nvPr/>
        </p:nvSpPr>
        <p:spPr>
          <a:xfrm>
            <a:off x="548640" y="2670048"/>
            <a:ext cx="640080" cy="640080"/>
          </a:xfrm>
          <a:prstGeom prst="ellipse">
            <a:avLst/>
          </a:prstGeom>
          <a:solidFill>
            <a:srgbClr val="F5B700"/>
          </a:solidFill>
          <a:ln w="12700">
            <a:solidFill>
              <a:srgbClr val="F5B700"/>
            </a:solidFill>
            <a:prstDash val="solid"/>
          </a:ln>
        </p:spPr>
      </p:sp>
      <p:pic>
        <p:nvPicPr>
          <p:cNvPr id="9" name="Image 1" descr="preencoded.png">    </p:cNvPr>
          <p:cNvPicPr>
            <a:picLocks noChangeAspect="1"/>
          </p:cNvPicPr>
          <p:nvPr/>
        </p:nvPicPr>
        <p:blipFill>
          <a:blip r:embed="rId2"/>
          <a:stretch>
            <a:fillRect/>
          </a:stretch>
        </p:blipFill>
        <p:spPr>
          <a:xfrm>
            <a:off x="715061" y="2836469"/>
            <a:ext cx="307238" cy="307238"/>
          </a:xfrm>
          <a:prstGeom prst="rect">
            <a:avLst/>
          </a:prstGeom>
        </p:spPr>
      </p:pic>
      <p:sp>
        <p:nvSpPr>
          <p:cNvPr id="10" name="Text 6"/>
          <p:cNvSpPr txBox="1"/>
          <p:nvPr/>
        </p:nvSpPr>
        <p:spPr>
          <a:xfrm>
            <a:off x="1371600" y="2651760"/>
            <a:ext cx="4114800" cy="34747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Ubicación</a:t>
            </a:r>
            <a:endParaRPr lang="en-US" sz="1700" dirty="0"/>
          </a:p>
        </p:txBody>
      </p:sp>
      <p:sp>
        <p:nvSpPr>
          <p:cNvPr id="11" name="Text 7"/>
          <p:cNvSpPr txBox="1"/>
          <p:nvPr/>
        </p:nvSpPr>
        <p:spPr>
          <a:xfrm>
            <a:off x="1371600" y="2980944"/>
            <a:ext cx="4206240" cy="365760"/>
          </a:xfrm>
          <a:prstGeom prst="rect">
            <a:avLst/>
          </a:prstGeom>
          <a:noFill/>
          <a:ln/>
        </p:spPr>
        <p:txBody>
          <a:bodyPr wrap="square" lIns="0" tIns="0" rIns="0" bIns="0" rtlCol="0" anchor="ctr"/>
          <a:lstStyle/>
          <a:p>
            <a:pPr indent="0" marL="0">
              <a:buNone/>
            </a:pPr>
            <a:r>
              <a:rPr lang="en-US" sz="1300" dirty="0">
                <a:solidFill>
                  <a:srgbClr val="A7B0C0"/>
                </a:solidFill>
                <a:latin typeface="Calibri" pitchFamily="34" charset="0"/>
                <a:ea typeface="Calibri" pitchFamily="34" charset="-122"/>
                <a:cs typeface="Calibri" pitchFamily="34" charset="-120"/>
              </a:rPr>
              <a:t>Parroquia, zona, vía, latitud y longitud</a:t>
            </a:r>
            <a:endParaRPr lang="en-US" sz="1300" dirty="0"/>
          </a:p>
        </p:txBody>
      </p:sp>
      <p:sp>
        <p:nvSpPr>
          <p:cNvPr id="12" name="Shape 8"/>
          <p:cNvSpPr/>
          <p:nvPr/>
        </p:nvSpPr>
        <p:spPr>
          <a:xfrm>
            <a:off x="548640" y="3557016"/>
            <a:ext cx="640080" cy="640080"/>
          </a:xfrm>
          <a:prstGeom prst="ellipse">
            <a:avLst/>
          </a:prstGeom>
          <a:solidFill>
            <a:srgbClr val="F5B700"/>
          </a:solidFill>
          <a:ln w="12700">
            <a:solidFill>
              <a:srgbClr val="F5B700"/>
            </a:solidFill>
            <a:prstDash val="solid"/>
          </a:ln>
        </p:spPr>
      </p:sp>
      <p:pic>
        <p:nvPicPr>
          <p:cNvPr id="13" name="Image 2" descr="preencoded.png">    </p:cNvPr>
          <p:cNvPicPr>
            <a:picLocks noChangeAspect="1"/>
          </p:cNvPicPr>
          <p:nvPr/>
        </p:nvPicPr>
        <p:blipFill>
          <a:blip r:embed="rId3"/>
          <a:stretch>
            <a:fillRect/>
          </a:stretch>
        </p:blipFill>
        <p:spPr>
          <a:xfrm>
            <a:off x="715061" y="3723437"/>
            <a:ext cx="307238" cy="307238"/>
          </a:xfrm>
          <a:prstGeom prst="rect">
            <a:avLst/>
          </a:prstGeom>
        </p:spPr>
      </p:pic>
      <p:sp>
        <p:nvSpPr>
          <p:cNvPr id="14" name="Text 9"/>
          <p:cNvSpPr txBox="1"/>
          <p:nvPr/>
        </p:nvSpPr>
        <p:spPr>
          <a:xfrm>
            <a:off x="1371600" y="3538728"/>
            <a:ext cx="4114800" cy="34747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Víctimas</a:t>
            </a:r>
            <a:endParaRPr lang="en-US" sz="1700" dirty="0"/>
          </a:p>
        </p:txBody>
      </p:sp>
      <p:sp>
        <p:nvSpPr>
          <p:cNvPr id="15" name="Text 10"/>
          <p:cNvSpPr txBox="1"/>
          <p:nvPr/>
        </p:nvSpPr>
        <p:spPr>
          <a:xfrm>
            <a:off x="1371600" y="3867912"/>
            <a:ext cx="4206240" cy="365760"/>
          </a:xfrm>
          <a:prstGeom prst="rect">
            <a:avLst/>
          </a:prstGeom>
          <a:noFill/>
          <a:ln/>
        </p:spPr>
        <p:txBody>
          <a:bodyPr wrap="square" lIns="0" tIns="0" rIns="0" bIns="0" rtlCol="0" anchor="ctr"/>
          <a:lstStyle/>
          <a:p>
            <a:pPr indent="0" marL="0">
              <a:buNone/>
            </a:pPr>
            <a:r>
              <a:rPr lang="en-US" sz="1300" dirty="0">
                <a:solidFill>
                  <a:srgbClr val="A7B0C0"/>
                </a:solidFill>
                <a:latin typeface="Calibri" pitchFamily="34" charset="0"/>
                <a:ea typeface="Calibri" pitchFamily="34" charset="-122"/>
                <a:cs typeface="Calibri" pitchFamily="34" charset="-120"/>
              </a:rPr>
              <a:t>Fallecidos, lesionados, total de víctimas</a:t>
            </a:r>
            <a:endParaRPr lang="en-US" sz="1300" dirty="0"/>
          </a:p>
        </p:txBody>
      </p:sp>
      <p:sp>
        <p:nvSpPr>
          <p:cNvPr id="16" name="Shape 11"/>
          <p:cNvSpPr/>
          <p:nvPr/>
        </p:nvSpPr>
        <p:spPr>
          <a:xfrm>
            <a:off x="548640" y="4443984"/>
            <a:ext cx="640080" cy="640080"/>
          </a:xfrm>
          <a:prstGeom prst="ellipse">
            <a:avLst/>
          </a:prstGeom>
          <a:solidFill>
            <a:srgbClr val="F5B700"/>
          </a:solidFill>
          <a:ln w="12700">
            <a:solidFill>
              <a:srgbClr val="F5B700"/>
            </a:solidFill>
            <a:prstDash val="solid"/>
          </a:ln>
        </p:spPr>
      </p:sp>
      <p:pic>
        <p:nvPicPr>
          <p:cNvPr id="17" name="Image 3" descr="preencoded.png">    </p:cNvPr>
          <p:cNvPicPr>
            <a:picLocks noChangeAspect="1"/>
          </p:cNvPicPr>
          <p:nvPr/>
        </p:nvPicPr>
        <p:blipFill>
          <a:blip r:embed="rId4"/>
          <a:stretch>
            <a:fillRect/>
          </a:stretch>
        </p:blipFill>
        <p:spPr>
          <a:xfrm>
            <a:off x="715061" y="4610405"/>
            <a:ext cx="307238" cy="307238"/>
          </a:xfrm>
          <a:prstGeom prst="rect">
            <a:avLst/>
          </a:prstGeom>
        </p:spPr>
      </p:pic>
      <p:sp>
        <p:nvSpPr>
          <p:cNvPr id="18" name="Text 12"/>
          <p:cNvSpPr txBox="1"/>
          <p:nvPr/>
        </p:nvSpPr>
        <p:spPr>
          <a:xfrm>
            <a:off x="1371600" y="4425696"/>
            <a:ext cx="4114800" cy="34747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Siniestro</a:t>
            </a:r>
            <a:endParaRPr lang="en-US" sz="1700" dirty="0"/>
          </a:p>
        </p:txBody>
      </p:sp>
      <p:sp>
        <p:nvSpPr>
          <p:cNvPr id="19" name="Text 13"/>
          <p:cNvSpPr txBox="1"/>
          <p:nvPr/>
        </p:nvSpPr>
        <p:spPr>
          <a:xfrm>
            <a:off x="1371600" y="4754880"/>
            <a:ext cx="4206240" cy="365760"/>
          </a:xfrm>
          <a:prstGeom prst="rect">
            <a:avLst/>
          </a:prstGeom>
          <a:noFill/>
          <a:ln/>
        </p:spPr>
        <p:txBody>
          <a:bodyPr wrap="square" lIns="0" tIns="0" rIns="0" bIns="0" rtlCol="0" anchor="ctr"/>
          <a:lstStyle/>
          <a:p>
            <a:pPr indent="0" marL="0">
              <a:buNone/>
            </a:pPr>
            <a:r>
              <a:rPr lang="en-US" sz="1300" dirty="0">
                <a:solidFill>
                  <a:srgbClr val="A7B0C0"/>
                </a:solidFill>
                <a:latin typeface="Calibri" pitchFamily="34" charset="0"/>
                <a:ea typeface="Calibri" pitchFamily="34" charset="-122"/>
                <a:cs typeface="Calibri" pitchFamily="34" charset="-120"/>
              </a:rPr>
              <a:t>Causa, tipo, vehículos, sexo y edad</a:t>
            </a:r>
            <a:endParaRPr lang="en-US" sz="1300" dirty="0"/>
          </a:p>
        </p:txBody>
      </p:sp>
      <p:sp>
        <p:nvSpPr>
          <p:cNvPr id="20" name="Shape 14"/>
          <p:cNvSpPr/>
          <p:nvPr/>
        </p:nvSpPr>
        <p:spPr>
          <a:xfrm>
            <a:off x="548640" y="5330952"/>
            <a:ext cx="640080" cy="640080"/>
          </a:xfrm>
          <a:prstGeom prst="ellipse">
            <a:avLst/>
          </a:prstGeom>
          <a:solidFill>
            <a:srgbClr val="F5B700"/>
          </a:solidFill>
          <a:ln w="12700">
            <a:solidFill>
              <a:srgbClr val="F5B700"/>
            </a:solidFill>
            <a:prstDash val="solid"/>
          </a:ln>
        </p:spPr>
      </p:sp>
      <p:pic>
        <p:nvPicPr>
          <p:cNvPr id="21" name="Image 4" descr="preencoded.png">    </p:cNvPr>
          <p:cNvPicPr>
            <a:picLocks noChangeAspect="1"/>
          </p:cNvPicPr>
          <p:nvPr/>
        </p:nvPicPr>
        <p:blipFill>
          <a:blip r:embed="rId5"/>
          <a:stretch>
            <a:fillRect/>
          </a:stretch>
        </p:blipFill>
        <p:spPr>
          <a:xfrm>
            <a:off x="715061" y="5497373"/>
            <a:ext cx="307238" cy="307238"/>
          </a:xfrm>
          <a:prstGeom prst="rect">
            <a:avLst/>
          </a:prstGeom>
        </p:spPr>
      </p:pic>
      <p:sp>
        <p:nvSpPr>
          <p:cNvPr id="22" name="Text 15"/>
          <p:cNvSpPr txBox="1"/>
          <p:nvPr/>
        </p:nvSpPr>
        <p:spPr>
          <a:xfrm>
            <a:off x="1371600" y="5312664"/>
            <a:ext cx="4114800" cy="34747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Clima</a:t>
            </a:r>
            <a:endParaRPr lang="en-US" sz="1700" dirty="0"/>
          </a:p>
        </p:txBody>
      </p:sp>
      <p:sp>
        <p:nvSpPr>
          <p:cNvPr id="23" name="Text 16"/>
          <p:cNvSpPr txBox="1"/>
          <p:nvPr/>
        </p:nvSpPr>
        <p:spPr>
          <a:xfrm>
            <a:off x="1371600" y="5641848"/>
            <a:ext cx="4206240" cy="365760"/>
          </a:xfrm>
          <a:prstGeom prst="rect">
            <a:avLst/>
          </a:prstGeom>
          <a:noFill/>
          <a:ln/>
        </p:spPr>
        <p:txBody>
          <a:bodyPr wrap="square" lIns="0" tIns="0" rIns="0" bIns="0" rtlCol="0" anchor="ctr"/>
          <a:lstStyle/>
          <a:p>
            <a:pPr indent="0" marL="0">
              <a:buNone/>
            </a:pPr>
            <a:r>
              <a:rPr lang="en-US" sz="1300" dirty="0">
                <a:solidFill>
                  <a:srgbClr val="A7B0C0"/>
                </a:solidFill>
                <a:latin typeface="Calibri" pitchFamily="34" charset="0"/>
                <a:ea typeface="Calibri" pitchFamily="34" charset="-122"/>
                <a:cs typeface="Calibri" pitchFamily="34" charset="-120"/>
              </a:rPr>
              <a:t>Lluvia, temperatura y humedad (cruce)</a:t>
            </a:r>
            <a:endParaRPr lang="en-US" sz="1300" dirty="0"/>
          </a:p>
        </p:txBody>
      </p:sp>
      <p:sp>
        <p:nvSpPr>
          <p:cNvPr id="24" name="Shape 17"/>
          <p:cNvSpPr/>
          <p:nvPr/>
        </p:nvSpPr>
        <p:spPr>
          <a:xfrm>
            <a:off x="6035040" y="1783080"/>
            <a:ext cx="1783080" cy="1188720"/>
          </a:xfrm>
          <a:prstGeom prst="roundRect">
            <a:avLst>
              <a:gd name="adj" fmla="val 9231"/>
            </a:avLst>
          </a:prstGeom>
          <a:solidFill>
            <a:srgbClr val="1E2330"/>
          </a:solidFill>
          <a:ln w="12700">
            <a:solidFill>
              <a:srgbClr val="1E2330"/>
            </a:solidFill>
            <a:prstDash val="solid"/>
          </a:ln>
        </p:spPr>
      </p:sp>
      <p:sp>
        <p:nvSpPr>
          <p:cNvPr id="25" name="Text 18"/>
          <p:cNvSpPr txBox="1"/>
          <p:nvPr/>
        </p:nvSpPr>
        <p:spPr>
          <a:xfrm>
            <a:off x="6172200" y="1874520"/>
            <a:ext cx="155448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Original</a:t>
            </a:r>
            <a:endParaRPr lang="en-US" sz="1600" dirty="0"/>
          </a:p>
        </p:txBody>
      </p:sp>
      <p:sp>
        <p:nvSpPr>
          <p:cNvPr id="26" name="Text 19"/>
          <p:cNvSpPr txBox="1"/>
          <p:nvPr/>
        </p:nvSpPr>
        <p:spPr>
          <a:xfrm>
            <a:off x="6172200" y="2286000"/>
            <a:ext cx="1554480" cy="594360"/>
          </a:xfrm>
          <a:prstGeom prst="rect">
            <a:avLst/>
          </a:prstGeom>
          <a:noFill/>
          <a:ln/>
        </p:spPr>
        <p:txBody>
          <a:bodyPr wrap="square" lIns="0" tIns="0" rIns="0" bIns="0" rtlCol="0" anchor="t"/>
          <a:lstStyle/>
          <a:p>
            <a:pPr indent="0" marL="0">
              <a:buNone/>
            </a:pPr>
            <a:r>
              <a:rPr lang="en-US" sz="1200" dirty="0">
                <a:solidFill>
                  <a:srgbClr val="A7B0C0"/>
                </a:solidFill>
                <a:latin typeface="Calibri" pitchFamily="34" charset="0"/>
                <a:ea typeface="Calibri" pitchFamily="34" charset="-122"/>
                <a:cs typeface="Calibri" pitchFamily="34" charset="-120"/>
              </a:rPr>
              <a:t>Datos oficiales unidos</a:t>
            </a:r>
            <a:endParaRPr lang="en-US" sz="1200" dirty="0"/>
          </a:p>
        </p:txBody>
      </p:sp>
      <p:sp>
        <p:nvSpPr>
          <p:cNvPr id="27" name="Text 20"/>
          <p:cNvSpPr txBox="1"/>
          <p:nvPr/>
        </p:nvSpPr>
        <p:spPr>
          <a:xfrm>
            <a:off x="7818120" y="2103120"/>
            <a:ext cx="182880" cy="457200"/>
          </a:xfrm>
          <a:prstGeom prst="rect">
            <a:avLst/>
          </a:prstGeom>
          <a:noFill/>
          <a:ln/>
        </p:spPr>
        <p:txBody>
          <a:bodyPr wrap="square" lIns="0" tIns="0" rIns="0" bIns="0" rtlCol="0" anchor="ctr"/>
          <a:lstStyle/>
          <a:p>
            <a:pPr algn="ctr" indent="0" marL="0">
              <a:buNone/>
            </a:pPr>
            <a:r>
              <a:rPr lang="en-US" sz="2400" b="1" dirty="0">
                <a:solidFill>
                  <a:srgbClr val="F5B700"/>
                </a:solidFill>
                <a:latin typeface="Calibri" pitchFamily="34" charset="0"/>
                <a:ea typeface="Calibri" pitchFamily="34" charset="-122"/>
                <a:cs typeface="Calibri" pitchFamily="34" charset="-120"/>
              </a:rPr>
              <a:t>›</a:t>
            </a:r>
            <a:endParaRPr lang="en-US" sz="2400" dirty="0"/>
          </a:p>
        </p:txBody>
      </p:sp>
      <p:sp>
        <p:nvSpPr>
          <p:cNvPr id="28" name="Shape 21"/>
          <p:cNvSpPr/>
          <p:nvPr/>
        </p:nvSpPr>
        <p:spPr>
          <a:xfrm>
            <a:off x="8001000" y="1783080"/>
            <a:ext cx="1783080" cy="1188720"/>
          </a:xfrm>
          <a:prstGeom prst="roundRect">
            <a:avLst>
              <a:gd name="adj" fmla="val 9231"/>
            </a:avLst>
          </a:prstGeom>
          <a:solidFill>
            <a:srgbClr val="1E2330"/>
          </a:solidFill>
          <a:ln w="12700">
            <a:solidFill>
              <a:srgbClr val="1E2330"/>
            </a:solidFill>
            <a:prstDash val="solid"/>
          </a:ln>
        </p:spPr>
      </p:sp>
      <p:sp>
        <p:nvSpPr>
          <p:cNvPr id="29" name="Text 22"/>
          <p:cNvSpPr txBox="1"/>
          <p:nvPr/>
        </p:nvSpPr>
        <p:spPr>
          <a:xfrm>
            <a:off x="8138160" y="1874520"/>
            <a:ext cx="155448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Limpio</a:t>
            </a:r>
            <a:endParaRPr lang="en-US" sz="1600" dirty="0"/>
          </a:p>
        </p:txBody>
      </p:sp>
      <p:sp>
        <p:nvSpPr>
          <p:cNvPr id="30" name="Text 23"/>
          <p:cNvSpPr txBox="1"/>
          <p:nvPr/>
        </p:nvSpPr>
        <p:spPr>
          <a:xfrm>
            <a:off x="8138160" y="2286000"/>
            <a:ext cx="1554480" cy="594360"/>
          </a:xfrm>
          <a:prstGeom prst="rect">
            <a:avLst/>
          </a:prstGeom>
          <a:noFill/>
          <a:ln/>
        </p:spPr>
        <p:txBody>
          <a:bodyPr wrap="square" lIns="0" tIns="0" rIns="0" bIns="0" rtlCol="0" anchor="t"/>
          <a:lstStyle/>
          <a:p>
            <a:pPr indent="0" marL="0">
              <a:buNone/>
            </a:pPr>
            <a:r>
              <a:rPr lang="en-US" sz="1200" dirty="0">
                <a:solidFill>
                  <a:srgbClr val="A7B0C0"/>
                </a:solidFill>
                <a:latin typeface="Calibri" pitchFamily="34" charset="0"/>
                <a:ea typeface="Calibri" pitchFamily="34" charset="-122"/>
                <a:cs typeface="Calibri" pitchFamily="34" charset="-120"/>
              </a:rPr>
              <a:t>Duplicados, N/D, fechas</a:t>
            </a:r>
            <a:endParaRPr lang="en-US" sz="1200" dirty="0"/>
          </a:p>
        </p:txBody>
      </p:sp>
      <p:sp>
        <p:nvSpPr>
          <p:cNvPr id="31" name="Text 24"/>
          <p:cNvSpPr txBox="1"/>
          <p:nvPr/>
        </p:nvSpPr>
        <p:spPr>
          <a:xfrm>
            <a:off x="9784080" y="2103120"/>
            <a:ext cx="182880" cy="457200"/>
          </a:xfrm>
          <a:prstGeom prst="rect">
            <a:avLst/>
          </a:prstGeom>
          <a:noFill/>
          <a:ln/>
        </p:spPr>
        <p:txBody>
          <a:bodyPr wrap="square" lIns="0" tIns="0" rIns="0" bIns="0" rtlCol="0" anchor="ctr"/>
          <a:lstStyle/>
          <a:p>
            <a:pPr algn="ctr" indent="0" marL="0">
              <a:buNone/>
            </a:pPr>
            <a:r>
              <a:rPr lang="en-US" sz="2400" b="1" dirty="0">
                <a:solidFill>
                  <a:srgbClr val="F5B700"/>
                </a:solidFill>
                <a:latin typeface="Calibri" pitchFamily="34" charset="0"/>
                <a:ea typeface="Calibri" pitchFamily="34" charset="-122"/>
                <a:cs typeface="Calibri" pitchFamily="34" charset="-120"/>
              </a:rPr>
              <a:t>›</a:t>
            </a:r>
            <a:endParaRPr lang="en-US" sz="2400" dirty="0"/>
          </a:p>
        </p:txBody>
      </p:sp>
      <p:sp>
        <p:nvSpPr>
          <p:cNvPr id="32" name="Shape 25"/>
          <p:cNvSpPr/>
          <p:nvPr/>
        </p:nvSpPr>
        <p:spPr>
          <a:xfrm>
            <a:off x="9966960" y="1783080"/>
            <a:ext cx="1783080" cy="1188720"/>
          </a:xfrm>
          <a:prstGeom prst="roundRect">
            <a:avLst>
              <a:gd name="adj" fmla="val 9231"/>
            </a:avLst>
          </a:prstGeom>
          <a:solidFill>
            <a:srgbClr val="F5B700"/>
          </a:solidFill>
          <a:ln w="12700">
            <a:solidFill>
              <a:srgbClr val="F5B700"/>
            </a:solidFill>
            <a:prstDash val="solid"/>
          </a:ln>
        </p:spPr>
      </p:sp>
      <p:sp>
        <p:nvSpPr>
          <p:cNvPr id="33" name="Text 26"/>
          <p:cNvSpPr txBox="1"/>
          <p:nvPr/>
        </p:nvSpPr>
        <p:spPr>
          <a:xfrm>
            <a:off x="10104120" y="1874520"/>
            <a:ext cx="1554480" cy="411480"/>
          </a:xfrm>
          <a:prstGeom prst="rect">
            <a:avLst/>
          </a:prstGeom>
          <a:noFill/>
          <a:ln/>
        </p:spPr>
        <p:txBody>
          <a:bodyPr wrap="square" lIns="0" tIns="0" rIns="0" bIns="0" rtlCol="0" anchor="ctr"/>
          <a:lstStyle/>
          <a:p>
            <a:pPr indent="0" marL="0">
              <a:buNone/>
            </a:pPr>
            <a:r>
              <a:rPr lang="en-US" sz="1600" b="1" dirty="0">
                <a:solidFill>
                  <a:srgbClr val="14171F"/>
                </a:solidFill>
                <a:latin typeface="Calibri" pitchFamily="34" charset="0"/>
                <a:ea typeface="Calibri" pitchFamily="34" charset="-122"/>
                <a:cs typeface="Calibri" pitchFamily="34" charset="-120"/>
              </a:rPr>
              <a:t>Transformado</a:t>
            </a:r>
            <a:endParaRPr lang="en-US" sz="1600" dirty="0"/>
          </a:p>
        </p:txBody>
      </p:sp>
      <p:sp>
        <p:nvSpPr>
          <p:cNvPr id="34" name="Text 27"/>
          <p:cNvSpPr txBox="1"/>
          <p:nvPr/>
        </p:nvSpPr>
        <p:spPr>
          <a:xfrm>
            <a:off x="10104120" y="2286000"/>
            <a:ext cx="1554480" cy="594360"/>
          </a:xfrm>
          <a:prstGeom prst="rect">
            <a:avLst/>
          </a:prstGeom>
          <a:noFill/>
          <a:ln/>
        </p:spPr>
        <p:txBody>
          <a:bodyPr wrap="square" lIns="0" tIns="0" rIns="0" bIns="0" rtlCol="0" anchor="t"/>
          <a:lstStyle/>
          <a:p>
            <a:pPr indent="0" marL="0">
              <a:buNone/>
            </a:pPr>
            <a:r>
              <a:rPr lang="en-US" sz="1200" dirty="0">
                <a:solidFill>
                  <a:srgbClr val="14171F"/>
                </a:solidFill>
                <a:latin typeface="Calibri" pitchFamily="34" charset="0"/>
                <a:ea typeface="Calibri" pitchFamily="34" charset="-122"/>
                <a:cs typeface="Calibri" pitchFamily="34" charset="-120"/>
              </a:rPr>
              <a:t>Nuevas variables y gravedad</a:t>
            </a:r>
            <a:endParaRPr lang="en-US" sz="1200" dirty="0"/>
          </a:p>
        </p:txBody>
      </p:sp>
      <p:sp>
        <p:nvSpPr>
          <p:cNvPr id="35" name="Text 28"/>
          <p:cNvSpPr txBox="1"/>
          <p:nvPr/>
        </p:nvSpPr>
        <p:spPr>
          <a:xfrm>
            <a:off x="6035040" y="3246120"/>
            <a:ext cx="548640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Calidad verificada</a:t>
            </a:r>
            <a:endParaRPr lang="en-US" sz="1700" dirty="0"/>
          </a:p>
        </p:txBody>
      </p:sp>
      <p:sp>
        <p:nvSpPr>
          <p:cNvPr id="36" name="Shape 29"/>
          <p:cNvSpPr/>
          <p:nvPr/>
        </p:nvSpPr>
        <p:spPr>
          <a:xfrm>
            <a:off x="6035040" y="3703320"/>
            <a:ext cx="2743200" cy="1051560"/>
          </a:xfrm>
          <a:prstGeom prst="roundRect">
            <a:avLst>
              <a:gd name="adj" fmla="val 10435"/>
            </a:avLst>
          </a:prstGeom>
          <a:solidFill>
            <a:srgbClr val="1E2330"/>
          </a:solidFill>
          <a:ln w="12700">
            <a:solidFill>
              <a:srgbClr val="1E2330"/>
            </a:solidFill>
            <a:prstDash val="solid"/>
          </a:ln>
        </p:spPr>
      </p:sp>
      <p:sp>
        <p:nvSpPr>
          <p:cNvPr id="37" name="Text 30"/>
          <p:cNvSpPr txBox="1"/>
          <p:nvPr/>
        </p:nvSpPr>
        <p:spPr>
          <a:xfrm>
            <a:off x="6217920" y="3794760"/>
            <a:ext cx="2377440" cy="502920"/>
          </a:xfrm>
          <a:prstGeom prst="rect">
            <a:avLst/>
          </a:prstGeom>
          <a:noFill/>
          <a:ln/>
        </p:spPr>
        <p:txBody>
          <a:bodyPr wrap="square" lIns="0" tIns="0" rIns="0" bIns="0" rtlCol="0" anchor="ctr"/>
          <a:lstStyle/>
          <a:p>
            <a:pPr indent="0" marL="0">
              <a:buNone/>
            </a:pPr>
            <a:r>
              <a:rPr lang="en-US" sz="2600" b="1" dirty="0">
                <a:solidFill>
                  <a:srgbClr val="F5B700"/>
                </a:solidFill>
                <a:latin typeface="Arial" pitchFamily="34" charset="0"/>
                <a:ea typeface="Arial" pitchFamily="34" charset="-122"/>
                <a:cs typeface="Arial" pitchFamily="34" charset="-120"/>
              </a:rPr>
              <a:t>0</a:t>
            </a:r>
            <a:endParaRPr lang="en-US" sz="2600" dirty="0"/>
          </a:p>
        </p:txBody>
      </p:sp>
      <p:sp>
        <p:nvSpPr>
          <p:cNvPr id="38" name="Text 31"/>
          <p:cNvSpPr txBox="1"/>
          <p:nvPr/>
        </p:nvSpPr>
        <p:spPr>
          <a:xfrm>
            <a:off x="6217920" y="4297680"/>
            <a:ext cx="2468880" cy="365760"/>
          </a:xfrm>
          <a:prstGeom prst="rect">
            <a:avLst/>
          </a:prstGeom>
          <a:noFill/>
          <a:ln/>
        </p:spPr>
        <p:txBody>
          <a:bodyPr wrap="square" lIns="0" tIns="0" rIns="0" bIns="0" rtlCol="0" anchor="ctr"/>
          <a:lstStyle/>
          <a:p>
            <a:pPr indent="0" marL="0">
              <a:buNone/>
            </a:pPr>
            <a:r>
              <a:rPr lang="en-US" sz="1200" dirty="0">
                <a:solidFill>
                  <a:srgbClr val="A7B0C0"/>
                </a:solidFill>
                <a:latin typeface="Calibri" pitchFamily="34" charset="0"/>
                <a:ea typeface="Calibri" pitchFamily="34" charset="-122"/>
                <a:cs typeface="Calibri" pitchFamily="34" charset="-120"/>
              </a:rPr>
              <a:t>registros duplicados</a:t>
            </a:r>
            <a:endParaRPr lang="en-US" sz="1200" dirty="0"/>
          </a:p>
        </p:txBody>
      </p:sp>
      <p:sp>
        <p:nvSpPr>
          <p:cNvPr id="39" name="Shape 32"/>
          <p:cNvSpPr/>
          <p:nvPr/>
        </p:nvSpPr>
        <p:spPr>
          <a:xfrm>
            <a:off x="8961120" y="3703320"/>
            <a:ext cx="2743200" cy="1051560"/>
          </a:xfrm>
          <a:prstGeom prst="roundRect">
            <a:avLst>
              <a:gd name="adj" fmla="val 10435"/>
            </a:avLst>
          </a:prstGeom>
          <a:solidFill>
            <a:srgbClr val="1E2330"/>
          </a:solidFill>
          <a:ln w="12700">
            <a:solidFill>
              <a:srgbClr val="1E2330"/>
            </a:solidFill>
            <a:prstDash val="solid"/>
          </a:ln>
        </p:spPr>
      </p:sp>
      <p:sp>
        <p:nvSpPr>
          <p:cNvPr id="40" name="Text 33"/>
          <p:cNvSpPr txBox="1"/>
          <p:nvPr/>
        </p:nvSpPr>
        <p:spPr>
          <a:xfrm>
            <a:off x="9144000" y="3794760"/>
            <a:ext cx="2377440" cy="502920"/>
          </a:xfrm>
          <a:prstGeom prst="rect">
            <a:avLst/>
          </a:prstGeom>
          <a:noFill/>
          <a:ln/>
        </p:spPr>
        <p:txBody>
          <a:bodyPr wrap="square" lIns="0" tIns="0" rIns="0" bIns="0" rtlCol="0" anchor="ctr"/>
          <a:lstStyle/>
          <a:p>
            <a:pPr indent="0" marL="0">
              <a:buNone/>
            </a:pPr>
            <a:r>
              <a:rPr lang="en-US" sz="2600" b="1" dirty="0">
                <a:solidFill>
                  <a:srgbClr val="F5B700"/>
                </a:solidFill>
                <a:latin typeface="Arial" pitchFamily="34" charset="0"/>
                <a:ea typeface="Arial" pitchFamily="34" charset="-122"/>
                <a:cs typeface="Arial" pitchFamily="34" charset="-120"/>
              </a:rPr>
              <a:t>100 %</a:t>
            </a:r>
            <a:endParaRPr lang="en-US" sz="2600" dirty="0"/>
          </a:p>
        </p:txBody>
      </p:sp>
      <p:sp>
        <p:nvSpPr>
          <p:cNvPr id="41" name="Text 34"/>
          <p:cNvSpPr txBox="1"/>
          <p:nvPr/>
        </p:nvSpPr>
        <p:spPr>
          <a:xfrm>
            <a:off x="9144000" y="4297680"/>
            <a:ext cx="2468880" cy="365760"/>
          </a:xfrm>
          <a:prstGeom prst="rect">
            <a:avLst/>
          </a:prstGeom>
          <a:noFill/>
          <a:ln/>
        </p:spPr>
        <p:txBody>
          <a:bodyPr wrap="square" lIns="0" tIns="0" rIns="0" bIns="0" rtlCol="0" anchor="ctr"/>
          <a:lstStyle/>
          <a:p>
            <a:pPr indent="0" marL="0">
              <a:buNone/>
            </a:pPr>
            <a:r>
              <a:rPr lang="en-US" sz="1200" dirty="0">
                <a:solidFill>
                  <a:srgbClr val="A7B0C0"/>
                </a:solidFill>
                <a:latin typeface="Calibri" pitchFamily="34" charset="0"/>
                <a:ea typeface="Calibri" pitchFamily="34" charset="-122"/>
                <a:cs typeface="Calibri" pitchFamily="34" charset="-120"/>
              </a:rPr>
              <a:t>siniestros del DMQ</a:t>
            </a:r>
            <a:endParaRPr lang="en-US" sz="1200" dirty="0"/>
          </a:p>
        </p:txBody>
      </p:sp>
      <p:sp>
        <p:nvSpPr>
          <p:cNvPr id="42" name="Shape 35"/>
          <p:cNvSpPr/>
          <p:nvPr/>
        </p:nvSpPr>
        <p:spPr>
          <a:xfrm>
            <a:off x="6035040" y="4937760"/>
            <a:ext cx="2743200" cy="1051560"/>
          </a:xfrm>
          <a:prstGeom prst="roundRect">
            <a:avLst>
              <a:gd name="adj" fmla="val 10435"/>
            </a:avLst>
          </a:prstGeom>
          <a:solidFill>
            <a:srgbClr val="1E2330"/>
          </a:solidFill>
          <a:ln w="12700">
            <a:solidFill>
              <a:srgbClr val="1E2330"/>
            </a:solidFill>
            <a:prstDash val="solid"/>
          </a:ln>
        </p:spPr>
      </p:sp>
      <p:sp>
        <p:nvSpPr>
          <p:cNvPr id="43" name="Text 36"/>
          <p:cNvSpPr txBox="1"/>
          <p:nvPr/>
        </p:nvSpPr>
        <p:spPr>
          <a:xfrm>
            <a:off x="6217920" y="5029200"/>
            <a:ext cx="2377440" cy="502920"/>
          </a:xfrm>
          <a:prstGeom prst="rect">
            <a:avLst/>
          </a:prstGeom>
          <a:noFill/>
          <a:ln/>
        </p:spPr>
        <p:txBody>
          <a:bodyPr wrap="square" lIns="0" tIns="0" rIns="0" bIns="0" rtlCol="0" anchor="ctr"/>
          <a:lstStyle/>
          <a:p>
            <a:pPr indent="0" marL="0">
              <a:buNone/>
            </a:pPr>
            <a:r>
              <a:rPr lang="en-US" sz="2600" b="1" dirty="0">
                <a:solidFill>
                  <a:srgbClr val="FF4D4D"/>
                </a:solidFill>
                <a:latin typeface="Arial" pitchFamily="34" charset="0"/>
                <a:ea typeface="Arial" pitchFamily="34" charset="-122"/>
                <a:cs typeface="Arial" pitchFamily="34" charset="-120"/>
              </a:rPr>
              <a:t>3</a:t>
            </a:r>
            <a:endParaRPr lang="en-US" sz="2600" dirty="0"/>
          </a:p>
        </p:txBody>
      </p:sp>
      <p:sp>
        <p:nvSpPr>
          <p:cNvPr id="44" name="Text 37"/>
          <p:cNvSpPr txBox="1"/>
          <p:nvPr/>
        </p:nvSpPr>
        <p:spPr>
          <a:xfrm>
            <a:off x="6217920" y="5532120"/>
            <a:ext cx="2468880" cy="365760"/>
          </a:xfrm>
          <a:prstGeom prst="rect">
            <a:avLst/>
          </a:prstGeom>
          <a:noFill/>
          <a:ln/>
        </p:spPr>
        <p:txBody>
          <a:bodyPr wrap="square" lIns="0" tIns="0" rIns="0" bIns="0" rtlCol="0" anchor="ctr"/>
          <a:lstStyle/>
          <a:p>
            <a:pPr indent="0" marL="0">
              <a:buNone/>
            </a:pPr>
            <a:r>
              <a:rPr lang="en-US" sz="1200" dirty="0">
                <a:solidFill>
                  <a:srgbClr val="A7B0C0"/>
                </a:solidFill>
                <a:latin typeface="Calibri" pitchFamily="34" charset="0"/>
                <a:ea typeface="Calibri" pitchFamily="34" charset="-122"/>
                <a:cs typeface="Calibri" pitchFamily="34" charset="-120"/>
              </a:rPr>
              <a:t>siniestros de Imbabura eliminados</a:t>
            </a:r>
            <a:endParaRPr lang="en-US" sz="1200" dirty="0"/>
          </a:p>
        </p:txBody>
      </p:sp>
      <p:sp>
        <p:nvSpPr>
          <p:cNvPr id="45" name="Shape 38"/>
          <p:cNvSpPr/>
          <p:nvPr/>
        </p:nvSpPr>
        <p:spPr>
          <a:xfrm>
            <a:off x="8961120" y="4937760"/>
            <a:ext cx="2743200" cy="1051560"/>
          </a:xfrm>
          <a:prstGeom prst="roundRect">
            <a:avLst>
              <a:gd name="adj" fmla="val 10435"/>
            </a:avLst>
          </a:prstGeom>
          <a:solidFill>
            <a:srgbClr val="1E2330"/>
          </a:solidFill>
          <a:ln w="12700">
            <a:solidFill>
              <a:srgbClr val="1E2330"/>
            </a:solidFill>
            <a:prstDash val="solid"/>
          </a:ln>
        </p:spPr>
      </p:sp>
      <p:sp>
        <p:nvSpPr>
          <p:cNvPr id="46" name="Text 39"/>
          <p:cNvSpPr txBox="1"/>
          <p:nvPr/>
        </p:nvSpPr>
        <p:spPr>
          <a:xfrm>
            <a:off x="9144000" y="5029200"/>
            <a:ext cx="2377440" cy="502920"/>
          </a:xfrm>
          <a:prstGeom prst="rect">
            <a:avLst/>
          </a:prstGeom>
          <a:noFill/>
          <a:ln/>
        </p:spPr>
        <p:txBody>
          <a:bodyPr wrap="square" lIns="0" tIns="0" rIns="0" bIns="0" rtlCol="0" anchor="ctr"/>
          <a:lstStyle/>
          <a:p>
            <a:pPr indent="0" marL="0">
              <a:buNone/>
            </a:pPr>
            <a:r>
              <a:rPr lang="en-US" sz="2600" b="1" dirty="0">
                <a:solidFill>
                  <a:srgbClr val="FF4D4D"/>
                </a:solidFill>
                <a:latin typeface="Arial" pitchFamily="34" charset="0"/>
                <a:ea typeface="Arial" pitchFamily="34" charset="-122"/>
                <a:cs typeface="Arial" pitchFamily="34" charset="-120"/>
              </a:rPr>
              <a:t>312</a:t>
            </a:r>
            <a:endParaRPr lang="en-US" sz="2600" dirty="0"/>
          </a:p>
        </p:txBody>
      </p:sp>
      <p:sp>
        <p:nvSpPr>
          <p:cNvPr id="47" name="Text 40"/>
          <p:cNvSpPr txBox="1"/>
          <p:nvPr/>
        </p:nvSpPr>
        <p:spPr>
          <a:xfrm>
            <a:off x="9144000" y="5532120"/>
            <a:ext cx="2468880" cy="365760"/>
          </a:xfrm>
          <a:prstGeom prst="rect">
            <a:avLst/>
          </a:prstGeom>
          <a:noFill/>
          <a:ln/>
        </p:spPr>
        <p:txBody>
          <a:bodyPr wrap="square" lIns="0" tIns="0" rIns="0" bIns="0" rtlCol="0" anchor="ctr"/>
          <a:lstStyle/>
          <a:p>
            <a:pPr indent="0" marL="0">
              <a:buNone/>
            </a:pPr>
            <a:r>
              <a:rPr lang="en-US" sz="1200" dirty="0">
                <a:solidFill>
                  <a:srgbClr val="A7B0C0"/>
                </a:solidFill>
                <a:latin typeface="Calibri" pitchFamily="34" charset="0"/>
                <a:ea typeface="Calibri" pitchFamily="34" charset="-122"/>
                <a:cs typeface="Calibri" pitchFamily="34" charset="-120"/>
              </a:rPr>
              <a:t>coordenadas erróneas detectadas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71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Un adelanto: dónde se concentran los siniestros</a:t>
            </a:r>
            <a:endParaRPr lang="en-US" sz="32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600" dirty="0">
                <a:solidFill>
                  <a:srgbClr val="A7B0C0"/>
                </a:solidFill>
                <a:latin typeface="Calibri" pitchFamily="34" charset="0"/>
                <a:ea typeface="Calibri" pitchFamily="34" charset="-122"/>
                <a:cs typeface="Calibri" pitchFamily="34" charset="-120"/>
              </a:rPr>
              <a:t>Parroquias con más siniestros · 2024 – agosto 2026 (ubicados por coordenadas)</a:t>
            </a:r>
            <a:endParaRPr lang="en-US" sz="1600" dirty="0"/>
          </a:p>
        </p:txBody>
      </p:sp>
      <p:graphicFrame>
        <p:nvGraphicFramePr>
          <p:cNvPr id="4" name="Chart 0" descr=""/>
          <p:cNvGraphicFramePr/>
          <p:nvPr/>
        </p:nvGraphicFramePr>
        <p:xfrm>
          <a:off x="457200" y="164592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863840" y="1783080"/>
            <a:ext cx="393192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Gravedad de los 44.982 siniestros</a:t>
            </a:r>
            <a:endParaRPr lang="en-US" sz="1600" dirty="0"/>
          </a:p>
        </p:txBody>
      </p:sp>
      <p:sp>
        <p:nvSpPr>
          <p:cNvPr id="6" name="Shape 3"/>
          <p:cNvSpPr/>
          <p:nvPr/>
        </p:nvSpPr>
        <p:spPr>
          <a:xfrm>
            <a:off x="7863840" y="2286000"/>
            <a:ext cx="3931920" cy="1005840"/>
          </a:xfrm>
          <a:prstGeom prst="roundRect">
            <a:avLst>
              <a:gd name="adj" fmla="val 10909"/>
            </a:avLst>
          </a:prstGeom>
          <a:solidFill>
            <a:srgbClr val="1E2330"/>
          </a:solidFill>
          <a:ln w="12700">
            <a:solidFill>
              <a:srgbClr val="1E2330"/>
            </a:solidFill>
            <a:prstDash val="solid"/>
          </a:ln>
        </p:spPr>
      </p:sp>
      <p:sp>
        <p:nvSpPr>
          <p:cNvPr id="7" name="Text 4"/>
          <p:cNvSpPr txBox="1"/>
          <p:nvPr/>
        </p:nvSpPr>
        <p:spPr>
          <a:xfrm>
            <a:off x="8092440" y="2395728"/>
            <a:ext cx="1737360" cy="777240"/>
          </a:xfrm>
          <a:prstGeom prst="rect">
            <a:avLst/>
          </a:prstGeom>
          <a:noFill/>
          <a:ln/>
        </p:spPr>
        <p:txBody>
          <a:bodyPr wrap="square" lIns="0" tIns="0" rIns="0" bIns="0" rtlCol="0" anchor="ctr"/>
          <a:lstStyle/>
          <a:p>
            <a:pPr indent="0" marL="0">
              <a:buNone/>
            </a:pPr>
            <a:r>
              <a:rPr lang="en-US" sz="2800" b="1" dirty="0">
                <a:solidFill>
                  <a:srgbClr val="A7B0C0"/>
                </a:solidFill>
                <a:latin typeface="Arial" pitchFamily="34" charset="0"/>
                <a:ea typeface="Arial" pitchFamily="34" charset="-122"/>
                <a:cs typeface="Arial" pitchFamily="34" charset="-120"/>
              </a:rPr>
              <a:t>23.700</a:t>
            </a:r>
            <a:endParaRPr lang="en-US" sz="2800" dirty="0"/>
          </a:p>
        </p:txBody>
      </p:sp>
      <p:sp>
        <p:nvSpPr>
          <p:cNvPr id="8" name="Text 5"/>
          <p:cNvSpPr txBox="1"/>
          <p:nvPr/>
        </p:nvSpPr>
        <p:spPr>
          <a:xfrm>
            <a:off x="9875520" y="2395728"/>
            <a:ext cx="182880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solo daños materiales</a:t>
            </a:r>
            <a:endParaRPr lang="en-US" sz="1300" dirty="0"/>
          </a:p>
        </p:txBody>
      </p:sp>
      <p:sp>
        <p:nvSpPr>
          <p:cNvPr id="9" name="Shape 6"/>
          <p:cNvSpPr/>
          <p:nvPr/>
        </p:nvSpPr>
        <p:spPr>
          <a:xfrm>
            <a:off x="7863840" y="3474720"/>
            <a:ext cx="3931920" cy="1005840"/>
          </a:xfrm>
          <a:prstGeom prst="roundRect">
            <a:avLst>
              <a:gd name="adj" fmla="val 10909"/>
            </a:avLst>
          </a:prstGeom>
          <a:solidFill>
            <a:srgbClr val="1E2330"/>
          </a:solidFill>
          <a:ln w="12700">
            <a:solidFill>
              <a:srgbClr val="1E2330"/>
            </a:solidFill>
            <a:prstDash val="solid"/>
          </a:ln>
        </p:spPr>
      </p:sp>
      <p:sp>
        <p:nvSpPr>
          <p:cNvPr id="10" name="Text 7"/>
          <p:cNvSpPr txBox="1"/>
          <p:nvPr/>
        </p:nvSpPr>
        <p:spPr>
          <a:xfrm>
            <a:off x="8092440" y="3584448"/>
            <a:ext cx="1737360" cy="777240"/>
          </a:xfrm>
          <a:prstGeom prst="rect">
            <a:avLst/>
          </a:prstGeom>
          <a:noFill/>
          <a:ln/>
        </p:spPr>
        <p:txBody>
          <a:bodyPr wrap="square" lIns="0" tIns="0" rIns="0" bIns="0" rtlCol="0" anchor="ctr"/>
          <a:lstStyle/>
          <a:p>
            <a:pPr indent="0" marL="0">
              <a:buNone/>
            </a:pPr>
            <a:r>
              <a:rPr lang="en-US" sz="2800" b="1" dirty="0">
                <a:solidFill>
                  <a:srgbClr val="F5B700"/>
                </a:solidFill>
                <a:latin typeface="Arial" pitchFamily="34" charset="0"/>
                <a:ea typeface="Arial" pitchFamily="34" charset="-122"/>
                <a:cs typeface="Arial" pitchFamily="34" charset="-120"/>
              </a:rPr>
              <a:t>18.785</a:t>
            </a:r>
            <a:endParaRPr lang="en-US" sz="2800" dirty="0"/>
          </a:p>
        </p:txBody>
      </p:sp>
      <p:sp>
        <p:nvSpPr>
          <p:cNvPr id="11" name="Text 8"/>
          <p:cNvSpPr txBox="1"/>
          <p:nvPr/>
        </p:nvSpPr>
        <p:spPr>
          <a:xfrm>
            <a:off x="9875520" y="3584448"/>
            <a:ext cx="182880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con personas lesionadas</a:t>
            </a:r>
            <a:endParaRPr lang="en-US" sz="1300" dirty="0"/>
          </a:p>
        </p:txBody>
      </p:sp>
      <p:sp>
        <p:nvSpPr>
          <p:cNvPr id="12" name="Shape 9"/>
          <p:cNvSpPr/>
          <p:nvPr/>
        </p:nvSpPr>
        <p:spPr>
          <a:xfrm>
            <a:off x="7863840" y="4663440"/>
            <a:ext cx="3931920" cy="1005840"/>
          </a:xfrm>
          <a:prstGeom prst="roundRect">
            <a:avLst>
              <a:gd name="adj" fmla="val 10909"/>
            </a:avLst>
          </a:prstGeom>
          <a:solidFill>
            <a:srgbClr val="1E2330"/>
          </a:solidFill>
          <a:ln w="12700">
            <a:solidFill>
              <a:srgbClr val="1E2330"/>
            </a:solidFill>
            <a:prstDash val="solid"/>
          </a:ln>
        </p:spPr>
      </p:sp>
      <p:sp>
        <p:nvSpPr>
          <p:cNvPr id="13" name="Text 10"/>
          <p:cNvSpPr txBox="1"/>
          <p:nvPr/>
        </p:nvSpPr>
        <p:spPr>
          <a:xfrm>
            <a:off x="8092440" y="4773168"/>
            <a:ext cx="1737360" cy="777240"/>
          </a:xfrm>
          <a:prstGeom prst="rect">
            <a:avLst/>
          </a:prstGeom>
          <a:noFill/>
          <a:ln/>
        </p:spPr>
        <p:txBody>
          <a:bodyPr wrap="square" lIns="0" tIns="0" rIns="0" bIns="0" rtlCol="0" anchor="ctr"/>
          <a:lstStyle/>
          <a:p>
            <a:pPr indent="0" marL="0">
              <a:buNone/>
            </a:pPr>
            <a:r>
              <a:rPr lang="en-US" sz="2800" b="1" dirty="0">
                <a:solidFill>
                  <a:srgbClr val="FF4D4D"/>
                </a:solidFill>
                <a:latin typeface="Arial" pitchFamily="34" charset="0"/>
                <a:ea typeface="Arial" pitchFamily="34" charset="-122"/>
                <a:cs typeface="Arial" pitchFamily="34" charset="-120"/>
              </a:rPr>
              <a:t>2.497</a:t>
            </a:r>
            <a:endParaRPr lang="en-US" sz="2800" dirty="0"/>
          </a:p>
        </p:txBody>
      </p:sp>
      <p:sp>
        <p:nvSpPr>
          <p:cNvPr id="14" name="Text 11"/>
          <p:cNvSpPr txBox="1"/>
          <p:nvPr/>
        </p:nvSpPr>
        <p:spPr>
          <a:xfrm>
            <a:off x="9875520" y="4773168"/>
            <a:ext cx="182880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con al menos un fallecido</a:t>
            </a:r>
            <a:endParaRPr lang="en-US" sz="1300" dirty="0"/>
          </a:p>
        </p:txBody>
      </p:sp>
      <p:sp>
        <p:nvSpPr>
          <p:cNvPr id="15" name="Text 12"/>
          <p:cNvSpPr txBox="1"/>
          <p:nvPr/>
        </p:nvSpPr>
        <p:spPr>
          <a:xfrm>
            <a:off x="7863840" y="5897880"/>
            <a:ext cx="3931920" cy="457200"/>
          </a:xfrm>
          <a:prstGeom prst="rect">
            <a:avLst/>
          </a:prstGeom>
          <a:noFill/>
          <a:ln/>
        </p:spPr>
        <p:txBody>
          <a:bodyPr wrap="square" lIns="0" tIns="0" rIns="0" bIns="0" rtlCol="0" anchor="ctr"/>
          <a:lstStyle/>
          <a:p>
            <a:pPr indent="0" marL="0">
              <a:buNone/>
            </a:pPr>
            <a:r>
              <a:rPr lang="en-US" sz="1300" i="1" dirty="0">
                <a:solidFill>
                  <a:srgbClr val="A7B0C0"/>
                </a:solidFill>
                <a:latin typeface="Calibri" pitchFamily="34" charset="0"/>
                <a:ea typeface="Calibri" pitchFamily="34" charset="-122"/>
                <a:cs typeface="Calibri" pitchFamily="34" charset="-120"/>
              </a:rPr>
              <a:t>Casi la mitad de los siniestros deja al menos una víctima.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71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Objetivos</a:t>
            </a:r>
            <a:endParaRPr lang="en-US" sz="3200" dirty="0"/>
          </a:p>
        </p:txBody>
      </p:sp>
      <p:sp>
        <p:nvSpPr>
          <p:cNvPr id="3" name="Shape 1"/>
          <p:cNvSpPr/>
          <p:nvPr/>
        </p:nvSpPr>
        <p:spPr>
          <a:xfrm>
            <a:off x="548640" y="1280160"/>
            <a:ext cx="11064240" cy="1325880"/>
          </a:xfrm>
          <a:prstGeom prst="roundRect">
            <a:avLst>
              <a:gd name="adj" fmla="val 8276"/>
            </a:avLst>
          </a:prstGeom>
          <a:solidFill>
            <a:srgbClr val="262C3B"/>
          </a:solidFill>
          <a:ln w="12700">
            <a:solidFill>
              <a:srgbClr val="262C3B"/>
            </a:solidFill>
            <a:prstDash val="solid"/>
          </a:ln>
        </p:spPr>
      </p:sp>
      <p:sp>
        <p:nvSpPr>
          <p:cNvPr id="4" name="Shape 2"/>
          <p:cNvSpPr/>
          <p:nvPr/>
        </p:nvSpPr>
        <p:spPr>
          <a:xfrm>
            <a:off x="822960" y="1554480"/>
            <a:ext cx="777240" cy="777240"/>
          </a:xfrm>
          <a:prstGeom prst="ellipse">
            <a:avLst/>
          </a:prstGeom>
          <a:solidFill>
            <a:srgbClr val="FF4D4D"/>
          </a:solidFill>
          <a:ln w="12700">
            <a:solidFill>
              <a:srgbClr val="FF4D4D"/>
            </a:solidFill>
            <a:prstDash val="solid"/>
          </a:ln>
        </p:spPr>
      </p:sp>
      <p:pic>
        <p:nvPicPr>
          <p:cNvPr id="5" name="Image 0" descr="preencoded.png">    </p:cNvPr>
          <p:cNvPicPr>
            <a:picLocks noChangeAspect="1"/>
          </p:cNvPicPr>
          <p:nvPr/>
        </p:nvPicPr>
        <p:blipFill>
          <a:blip r:embed="rId1"/>
          <a:stretch>
            <a:fillRect/>
          </a:stretch>
        </p:blipFill>
        <p:spPr>
          <a:xfrm>
            <a:off x="1025042" y="1756562"/>
            <a:ext cx="373075" cy="373075"/>
          </a:xfrm>
          <a:prstGeom prst="rect">
            <a:avLst/>
          </a:prstGeom>
        </p:spPr>
      </p:pic>
      <p:sp>
        <p:nvSpPr>
          <p:cNvPr id="6" name="Text 3"/>
          <p:cNvSpPr txBox="1"/>
          <p:nvPr/>
        </p:nvSpPr>
        <p:spPr>
          <a:xfrm>
            <a:off x="1828800" y="1417320"/>
            <a:ext cx="9509760" cy="320040"/>
          </a:xfrm>
          <a:prstGeom prst="rect">
            <a:avLst/>
          </a:prstGeom>
          <a:noFill/>
          <a:ln/>
        </p:spPr>
        <p:txBody>
          <a:bodyPr wrap="square" lIns="0" tIns="0" rIns="0" bIns="0" rtlCol="0" anchor="ctr"/>
          <a:lstStyle/>
          <a:p>
            <a:pPr indent="0" marL="0">
              <a:buNone/>
            </a:pPr>
            <a:r>
              <a:rPr lang="en-US" sz="1200" b="1" spc="200" kern="0" dirty="0">
                <a:solidFill>
                  <a:srgbClr val="F5B700"/>
                </a:solidFill>
                <a:latin typeface="Calibri" pitchFamily="34" charset="0"/>
                <a:ea typeface="Calibri" pitchFamily="34" charset="-122"/>
                <a:cs typeface="Calibri" pitchFamily="34" charset="-120"/>
              </a:rPr>
              <a:t>OBJETIVO GENERAL</a:t>
            </a:r>
            <a:endParaRPr lang="en-US" sz="1200" dirty="0"/>
          </a:p>
        </p:txBody>
      </p:sp>
      <p:sp>
        <p:nvSpPr>
          <p:cNvPr id="7" name="Text 4"/>
          <p:cNvSpPr txBox="1"/>
          <p:nvPr/>
        </p:nvSpPr>
        <p:spPr>
          <a:xfrm>
            <a:off x="1828800" y="1737360"/>
            <a:ext cx="9601200" cy="77724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Desarrollar una solución de ciencia de datos que identifique las zonas de mayor riesgo de siniestros en Quito y prediga el nivel de riesgo por zona y franja horaria, para apoyar la planificación de acciones preventivas.</a:t>
            </a:r>
            <a:endParaRPr lang="en-US" sz="1600" dirty="0"/>
          </a:p>
        </p:txBody>
      </p:sp>
      <p:sp>
        <p:nvSpPr>
          <p:cNvPr id="8" name="Text 5"/>
          <p:cNvSpPr txBox="1"/>
          <p:nvPr/>
        </p:nvSpPr>
        <p:spPr>
          <a:xfrm>
            <a:off x="548640" y="2880360"/>
            <a:ext cx="5486400" cy="320040"/>
          </a:xfrm>
          <a:prstGeom prst="rect">
            <a:avLst/>
          </a:prstGeom>
          <a:noFill/>
          <a:ln/>
        </p:spPr>
        <p:txBody>
          <a:bodyPr wrap="square" lIns="0" tIns="0" rIns="0" bIns="0" rtlCol="0" anchor="ctr"/>
          <a:lstStyle/>
          <a:p>
            <a:pPr indent="0" marL="0">
              <a:buNone/>
            </a:pPr>
            <a:r>
              <a:rPr lang="en-US" sz="1200" b="1" spc="200" kern="0" dirty="0">
                <a:solidFill>
                  <a:srgbClr val="F5B700"/>
                </a:solidFill>
                <a:latin typeface="Calibri" pitchFamily="34" charset="0"/>
                <a:ea typeface="Calibri" pitchFamily="34" charset="-122"/>
                <a:cs typeface="Calibri" pitchFamily="34" charset="-120"/>
              </a:rPr>
              <a:t>OBJETIVOS ESPECÍFICOS</a:t>
            </a:r>
            <a:endParaRPr lang="en-US" sz="1200" dirty="0"/>
          </a:p>
        </p:txBody>
      </p:sp>
      <p:sp>
        <p:nvSpPr>
          <p:cNvPr id="9" name="Shape 6"/>
          <p:cNvSpPr/>
          <p:nvPr/>
        </p:nvSpPr>
        <p:spPr>
          <a:xfrm>
            <a:off x="548640" y="3291840"/>
            <a:ext cx="2103120" cy="2926080"/>
          </a:xfrm>
          <a:prstGeom prst="roundRect">
            <a:avLst>
              <a:gd name="adj" fmla="val 5217"/>
            </a:avLst>
          </a:prstGeom>
          <a:solidFill>
            <a:srgbClr val="1E2330"/>
          </a:solidFill>
          <a:ln w="12700">
            <a:solidFill>
              <a:srgbClr val="1E2330"/>
            </a:solidFill>
            <a:prstDash val="solid"/>
          </a:ln>
        </p:spPr>
      </p:sp>
      <p:sp>
        <p:nvSpPr>
          <p:cNvPr id="10" name="Shape 7"/>
          <p:cNvSpPr/>
          <p:nvPr/>
        </p:nvSpPr>
        <p:spPr>
          <a:xfrm>
            <a:off x="777240" y="3520440"/>
            <a:ext cx="640080" cy="640080"/>
          </a:xfrm>
          <a:prstGeom prst="ellipse">
            <a:avLst/>
          </a:prstGeom>
          <a:solidFill>
            <a:srgbClr val="F5B700"/>
          </a:solidFill>
          <a:ln w="12700">
            <a:solidFill>
              <a:srgbClr val="F5B700"/>
            </a:solidFill>
            <a:prstDash val="solid"/>
          </a:ln>
        </p:spPr>
      </p:sp>
      <p:pic>
        <p:nvPicPr>
          <p:cNvPr id="11" name="Image 1" descr="preencoded.png">    </p:cNvPr>
          <p:cNvPicPr>
            <a:picLocks noChangeAspect="1"/>
          </p:cNvPicPr>
          <p:nvPr/>
        </p:nvPicPr>
        <p:blipFill>
          <a:blip r:embed="rId2"/>
          <a:stretch>
            <a:fillRect/>
          </a:stretch>
        </p:blipFill>
        <p:spPr>
          <a:xfrm>
            <a:off x="943661" y="3686861"/>
            <a:ext cx="307238" cy="307238"/>
          </a:xfrm>
          <a:prstGeom prst="rect">
            <a:avLst/>
          </a:prstGeom>
        </p:spPr>
      </p:pic>
      <p:sp>
        <p:nvSpPr>
          <p:cNvPr id="12" name="Text 8"/>
          <p:cNvSpPr txBox="1"/>
          <p:nvPr/>
        </p:nvSpPr>
        <p:spPr>
          <a:xfrm>
            <a:off x="1965960" y="3520440"/>
            <a:ext cx="457200" cy="548640"/>
          </a:xfrm>
          <a:prstGeom prst="rect">
            <a:avLst/>
          </a:prstGeom>
          <a:noFill/>
          <a:ln/>
        </p:spPr>
        <p:txBody>
          <a:bodyPr wrap="square" lIns="0" tIns="0" rIns="0" bIns="0" rtlCol="0" anchor="ctr"/>
          <a:lstStyle/>
          <a:p>
            <a:pPr algn="r" indent="0" marL="0">
              <a:buNone/>
            </a:pPr>
            <a:r>
              <a:rPr lang="en-US" sz="2600" b="1" dirty="0">
                <a:solidFill>
                  <a:srgbClr val="6B7385"/>
                </a:solidFill>
                <a:latin typeface="Arial" pitchFamily="34" charset="0"/>
                <a:ea typeface="Arial" pitchFamily="34" charset="-122"/>
                <a:cs typeface="Arial" pitchFamily="34" charset="-120"/>
              </a:rPr>
              <a:t>1</a:t>
            </a:r>
            <a:endParaRPr lang="en-US" sz="2600" dirty="0"/>
          </a:p>
        </p:txBody>
      </p:sp>
      <p:sp>
        <p:nvSpPr>
          <p:cNvPr id="13" name="Text 9"/>
          <p:cNvSpPr txBox="1"/>
          <p:nvPr/>
        </p:nvSpPr>
        <p:spPr>
          <a:xfrm>
            <a:off x="777240" y="4343400"/>
            <a:ext cx="182880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Limpiar y validar</a:t>
            </a:r>
            <a:endParaRPr lang="en-US" sz="1500" dirty="0"/>
          </a:p>
        </p:txBody>
      </p:sp>
      <p:sp>
        <p:nvSpPr>
          <p:cNvPr id="14" name="Text 10"/>
          <p:cNvSpPr txBox="1"/>
          <p:nvPr/>
        </p:nvSpPr>
        <p:spPr>
          <a:xfrm>
            <a:off x="777240" y="4800600"/>
            <a:ext cx="1783080" cy="1188720"/>
          </a:xfrm>
          <a:prstGeom prst="rect">
            <a:avLst/>
          </a:prstGeom>
          <a:noFill/>
          <a:ln/>
        </p:spPr>
        <p:txBody>
          <a:bodyPr wrap="square" lIns="0" tIns="0" rIns="0" bIns="0" rtlCol="0" anchor="t"/>
          <a:lstStyle/>
          <a:p>
            <a:pPr indent="0" marL="0">
              <a:buNone/>
            </a:pPr>
            <a:r>
              <a:rPr lang="en-US" sz="1300" dirty="0">
                <a:solidFill>
                  <a:srgbClr val="A7B0C0"/>
                </a:solidFill>
                <a:latin typeface="Calibri" pitchFamily="34" charset="0"/>
                <a:ea typeface="Calibri" pitchFamily="34" charset="-122"/>
                <a:cs typeface="Calibri" pitchFamily="34" charset="-120"/>
              </a:rPr>
              <a:t>los registros oficiales de siniestros del DMQ 2017 – 2026</a:t>
            </a:r>
            <a:endParaRPr lang="en-US" sz="1300" dirty="0"/>
          </a:p>
        </p:txBody>
      </p:sp>
      <p:sp>
        <p:nvSpPr>
          <p:cNvPr id="15" name="Shape 11"/>
          <p:cNvSpPr/>
          <p:nvPr/>
        </p:nvSpPr>
        <p:spPr>
          <a:xfrm>
            <a:off x="2798064" y="3291840"/>
            <a:ext cx="2103120" cy="2926080"/>
          </a:xfrm>
          <a:prstGeom prst="roundRect">
            <a:avLst>
              <a:gd name="adj" fmla="val 5217"/>
            </a:avLst>
          </a:prstGeom>
          <a:solidFill>
            <a:srgbClr val="1E2330"/>
          </a:solidFill>
          <a:ln w="12700">
            <a:solidFill>
              <a:srgbClr val="1E2330"/>
            </a:solidFill>
            <a:prstDash val="solid"/>
          </a:ln>
        </p:spPr>
      </p:sp>
      <p:sp>
        <p:nvSpPr>
          <p:cNvPr id="16" name="Shape 12"/>
          <p:cNvSpPr/>
          <p:nvPr/>
        </p:nvSpPr>
        <p:spPr>
          <a:xfrm>
            <a:off x="3026664" y="3520440"/>
            <a:ext cx="640080" cy="640080"/>
          </a:xfrm>
          <a:prstGeom prst="ellipse">
            <a:avLst/>
          </a:prstGeom>
          <a:solidFill>
            <a:srgbClr val="F5B700"/>
          </a:solidFill>
          <a:ln w="12700">
            <a:solidFill>
              <a:srgbClr val="F5B700"/>
            </a:solidFill>
            <a:prstDash val="solid"/>
          </a:ln>
        </p:spPr>
      </p:sp>
      <p:pic>
        <p:nvPicPr>
          <p:cNvPr id="17" name="Image 2" descr="preencoded.png">    </p:cNvPr>
          <p:cNvPicPr>
            <a:picLocks noChangeAspect="1"/>
          </p:cNvPicPr>
          <p:nvPr/>
        </p:nvPicPr>
        <p:blipFill>
          <a:blip r:embed="rId3"/>
          <a:stretch>
            <a:fillRect/>
          </a:stretch>
        </p:blipFill>
        <p:spPr>
          <a:xfrm>
            <a:off x="3193085" y="3686861"/>
            <a:ext cx="307238" cy="307238"/>
          </a:xfrm>
          <a:prstGeom prst="rect">
            <a:avLst/>
          </a:prstGeom>
        </p:spPr>
      </p:pic>
      <p:sp>
        <p:nvSpPr>
          <p:cNvPr id="18" name="Text 13"/>
          <p:cNvSpPr txBox="1"/>
          <p:nvPr/>
        </p:nvSpPr>
        <p:spPr>
          <a:xfrm>
            <a:off x="4215384" y="3520440"/>
            <a:ext cx="457200" cy="548640"/>
          </a:xfrm>
          <a:prstGeom prst="rect">
            <a:avLst/>
          </a:prstGeom>
          <a:noFill/>
          <a:ln/>
        </p:spPr>
        <p:txBody>
          <a:bodyPr wrap="square" lIns="0" tIns="0" rIns="0" bIns="0" rtlCol="0" anchor="ctr"/>
          <a:lstStyle/>
          <a:p>
            <a:pPr algn="r" indent="0" marL="0">
              <a:buNone/>
            </a:pPr>
            <a:r>
              <a:rPr lang="en-US" sz="2600" b="1" dirty="0">
                <a:solidFill>
                  <a:srgbClr val="6B7385"/>
                </a:solidFill>
                <a:latin typeface="Arial" pitchFamily="34" charset="0"/>
                <a:ea typeface="Arial" pitchFamily="34" charset="-122"/>
                <a:cs typeface="Arial" pitchFamily="34" charset="-120"/>
              </a:rPr>
              <a:t>2</a:t>
            </a:r>
            <a:endParaRPr lang="en-US" sz="2600" dirty="0"/>
          </a:p>
        </p:txBody>
      </p:sp>
      <p:sp>
        <p:nvSpPr>
          <p:cNvPr id="19" name="Text 14"/>
          <p:cNvSpPr txBox="1"/>
          <p:nvPr/>
        </p:nvSpPr>
        <p:spPr>
          <a:xfrm>
            <a:off x="3026664" y="4343400"/>
            <a:ext cx="182880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Identificar patrones</a:t>
            </a:r>
            <a:endParaRPr lang="en-US" sz="1500" dirty="0"/>
          </a:p>
        </p:txBody>
      </p:sp>
      <p:sp>
        <p:nvSpPr>
          <p:cNvPr id="20" name="Text 15"/>
          <p:cNvSpPr txBox="1"/>
          <p:nvPr/>
        </p:nvSpPr>
        <p:spPr>
          <a:xfrm>
            <a:off x="3026664" y="4800600"/>
            <a:ext cx="1783080" cy="1188720"/>
          </a:xfrm>
          <a:prstGeom prst="rect">
            <a:avLst/>
          </a:prstGeom>
          <a:noFill/>
          <a:ln/>
        </p:spPr>
        <p:txBody>
          <a:bodyPr wrap="square" lIns="0" tIns="0" rIns="0" bIns="0" rtlCol="0" anchor="t"/>
          <a:lstStyle/>
          <a:p>
            <a:pPr indent="0" marL="0">
              <a:buNone/>
            </a:pPr>
            <a:r>
              <a:rPr lang="en-US" sz="1300" dirty="0">
                <a:solidFill>
                  <a:srgbClr val="A7B0C0"/>
                </a:solidFill>
                <a:latin typeface="Calibri" pitchFamily="34" charset="0"/>
                <a:ea typeface="Calibri" pitchFamily="34" charset="-122"/>
                <a:cs typeface="Calibri" pitchFamily="34" charset="-120"/>
              </a:rPr>
              <a:t>temporales y espaciales: horas, días, parroquias y causas</a:t>
            </a:r>
            <a:endParaRPr lang="en-US" sz="1300" dirty="0"/>
          </a:p>
        </p:txBody>
      </p:sp>
      <p:sp>
        <p:nvSpPr>
          <p:cNvPr id="21" name="Shape 16"/>
          <p:cNvSpPr/>
          <p:nvPr/>
        </p:nvSpPr>
        <p:spPr>
          <a:xfrm>
            <a:off x="5047488" y="3291840"/>
            <a:ext cx="2103120" cy="2926080"/>
          </a:xfrm>
          <a:prstGeom prst="roundRect">
            <a:avLst>
              <a:gd name="adj" fmla="val 5217"/>
            </a:avLst>
          </a:prstGeom>
          <a:solidFill>
            <a:srgbClr val="1E2330"/>
          </a:solidFill>
          <a:ln w="12700">
            <a:solidFill>
              <a:srgbClr val="1E2330"/>
            </a:solidFill>
            <a:prstDash val="solid"/>
          </a:ln>
        </p:spPr>
      </p:sp>
      <p:sp>
        <p:nvSpPr>
          <p:cNvPr id="22" name="Shape 17"/>
          <p:cNvSpPr/>
          <p:nvPr/>
        </p:nvSpPr>
        <p:spPr>
          <a:xfrm>
            <a:off x="5276088" y="3520440"/>
            <a:ext cx="640080" cy="640080"/>
          </a:xfrm>
          <a:prstGeom prst="ellipse">
            <a:avLst/>
          </a:prstGeom>
          <a:solidFill>
            <a:srgbClr val="F5B700"/>
          </a:solidFill>
          <a:ln w="12700">
            <a:solidFill>
              <a:srgbClr val="F5B700"/>
            </a:solidFill>
            <a:prstDash val="solid"/>
          </a:ln>
        </p:spPr>
      </p:sp>
      <p:pic>
        <p:nvPicPr>
          <p:cNvPr id="23" name="Image 3" descr="preencoded.png">    </p:cNvPr>
          <p:cNvPicPr>
            <a:picLocks noChangeAspect="1"/>
          </p:cNvPicPr>
          <p:nvPr/>
        </p:nvPicPr>
        <p:blipFill>
          <a:blip r:embed="rId4"/>
          <a:stretch>
            <a:fillRect/>
          </a:stretch>
        </p:blipFill>
        <p:spPr>
          <a:xfrm>
            <a:off x="5442509" y="3686861"/>
            <a:ext cx="307238" cy="307238"/>
          </a:xfrm>
          <a:prstGeom prst="rect">
            <a:avLst/>
          </a:prstGeom>
        </p:spPr>
      </p:pic>
      <p:sp>
        <p:nvSpPr>
          <p:cNvPr id="24" name="Text 18"/>
          <p:cNvSpPr txBox="1"/>
          <p:nvPr/>
        </p:nvSpPr>
        <p:spPr>
          <a:xfrm>
            <a:off x="6464808" y="3520440"/>
            <a:ext cx="457200" cy="548640"/>
          </a:xfrm>
          <a:prstGeom prst="rect">
            <a:avLst/>
          </a:prstGeom>
          <a:noFill/>
          <a:ln/>
        </p:spPr>
        <p:txBody>
          <a:bodyPr wrap="square" lIns="0" tIns="0" rIns="0" bIns="0" rtlCol="0" anchor="ctr"/>
          <a:lstStyle/>
          <a:p>
            <a:pPr algn="r" indent="0" marL="0">
              <a:buNone/>
            </a:pPr>
            <a:r>
              <a:rPr lang="en-US" sz="2600" b="1" dirty="0">
                <a:solidFill>
                  <a:srgbClr val="6B7385"/>
                </a:solidFill>
                <a:latin typeface="Arial" pitchFamily="34" charset="0"/>
                <a:ea typeface="Arial" pitchFamily="34" charset="-122"/>
                <a:cs typeface="Arial" pitchFamily="34" charset="-120"/>
              </a:rPr>
              <a:t>3</a:t>
            </a:r>
            <a:endParaRPr lang="en-US" sz="2600" dirty="0"/>
          </a:p>
        </p:txBody>
      </p:sp>
      <p:sp>
        <p:nvSpPr>
          <p:cNvPr id="25" name="Text 19"/>
          <p:cNvSpPr txBox="1"/>
          <p:nvPr/>
        </p:nvSpPr>
        <p:spPr>
          <a:xfrm>
            <a:off x="5276088" y="4343400"/>
            <a:ext cx="182880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Integrar el clima</a:t>
            </a:r>
            <a:endParaRPr lang="en-US" sz="1500" dirty="0"/>
          </a:p>
        </p:txBody>
      </p:sp>
      <p:sp>
        <p:nvSpPr>
          <p:cNvPr id="26" name="Text 20"/>
          <p:cNvSpPr txBox="1"/>
          <p:nvPr/>
        </p:nvSpPr>
        <p:spPr>
          <a:xfrm>
            <a:off x="5276088" y="4800600"/>
            <a:ext cx="1783080" cy="1188720"/>
          </a:xfrm>
          <a:prstGeom prst="rect">
            <a:avLst/>
          </a:prstGeom>
          <a:noFill/>
          <a:ln/>
        </p:spPr>
        <p:txBody>
          <a:bodyPr wrap="square" lIns="0" tIns="0" rIns="0" bIns="0" rtlCol="0" anchor="t"/>
          <a:lstStyle/>
          <a:p>
            <a:pPr indent="0" marL="0">
              <a:buNone/>
            </a:pPr>
            <a:r>
              <a:rPr lang="en-US" sz="1300" dirty="0">
                <a:solidFill>
                  <a:srgbClr val="A7B0C0"/>
                </a:solidFill>
                <a:latin typeface="Calibri" pitchFamily="34" charset="0"/>
                <a:ea typeface="Calibri" pitchFamily="34" charset="-122"/>
                <a:cs typeface="Calibri" pitchFamily="34" charset="-120"/>
              </a:rPr>
              <a:t>y medir su relación con los siniestros</a:t>
            </a:r>
            <a:endParaRPr lang="en-US" sz="1300" dirty="0"/>
          </a:p>
        </p:txBody>
      </p:sp>
      <p:sp>
        <p:nvSpPr>
          <p:cNvPr id="27" name="Shape 21"/>
          <p:cNvSpPr/>
          <p:nvPr/>
        </p:nvSpPr>
        <p:spPr>
          <a:xfrm>
            <a:off x="7296912" y="3291840"/>
            <a:ext cx="2103120" cy="2926080"/>
          </a:xfrm>
          <a:prstGeom prst="roundRect">
            <a:avLst>
              <a:gd name="adj" fmla="val 5217"/>
            </a:avLst>
          </a:prstGeom>
          <a:solidFill>
            <a:srgbClr val="1E2330"/>
          </a:solidFill>
          <a:ln w="12700">
            <a:solidFill>
              <a:srgbClr val="1E2330"/>
            </a:solidFill>
            <a:prstDash val="solid"/>
          </a:ln>
        </p:spPr>
      </p:sp>
      <p:sp>
        <p:nvSpPr>
          <p:cNvPr id="28" name="Shape 22"/>
          <p:cNvSpPr/>
          <p:nvPr/>
        </p:nvSpPr>
        <p:spPr>
          <a:xfrm>
            <a:off x="7525512" y="3520440"/>
            <a:ext cx="640080" cy="640080"/>
          </a:xfrm>
          <a:prstGeom prst="ellipse">
            <a:avLst/>
          </a:prstGeom>
          <a:solidFill>
            <a:srgbClr val="F5B700"/>
          </a:solidFill>
          <a:ln w="12700">
            <a:solidFill>
              <a:srgbClr val="F5B700"/>
            </a:solidFill>
            <a:prstDash val="solid"/>
          </a:ln>
        </p:spPr>
      </p:sp>
      <p:pic>
        <p:nvPicPr>
          <p:cNvPr id="29" name="Image 4" descr="preencoded.png">    </p:cNvPr>
          <p:cNvPicPr>
            <a:picLocks noChangeAspect="1"/>
          </p:cNvPicPr>
          <p:nvPr/>
        </p:nvPicPr>
        <p:blipFill>
          <a:blip r:embed="rId5"/>
          <a:stretch>
            <a:fillRect/>
          </a:stretch>
        </p:blipFill>
        <p:spPr>
          <a:xfrm>
            <a:off x="7691933" y="3686861"/>
            <a:ext cx="307238" cy="307238"/>
          </a:xfrm>
          <a:prstGeom prst="rect">
            <a:avLst/>
          </a:prstGeom>
        </p:spPr>
      </p:pic>
      <p:sp>
        <p:nvSpPr>
          <p:cNvPr id="30" name="Text 23"/>
          <p:cNvSpPr txBox="1"/>
          <p:nvPr/>
        </p:nvSpPr>
        <p:spPr>
          <a:xfrm>
            <a:off x="8714232" y="3520440"/>
            <a:ext cx="457200" cy="548640"/>
          </a:xfrm>
          <a:prstGeom prst="rect">
            <a:avLst/>
          </a:prstGeom>
          <a:noFill/>
          <a:ln/>
        </p:spPr>
        <p:txBody>
          <a:bodyPr wrap="square" lIns="0" tIns="0" rIns="0" bIns="0" rtlCol="0" anchor="ctr"/>
          <a:lstStyle/>
          <a:p>
            <a:pPr algn="r" indent="0" marL="0">
              <a:buNone/>
            </a:pPr>
            <a:r>
              <a:rPr lang="en-US" sz="2600" b="1" dirty="0">
                <a:solidFill>
                  <a:srgbClr val="6B7385"/>
                </a:solidFill>
                <a:latin typeface="Arial" pitchFamily="34" charset="0"/>
                <a:ea typeface="Arial" pitchFamily="34" charset="-122"/>
                <a:cs typeface="Arial" pitchFamily="34" charset="-120"/>
              </a:rPr>
              <a:t>4</a:t>
            </a:r>
            <a:endParaRPr lang="en-US" sz="2600" dirty="0"/>
          </a:p>
        </p:txBody>
      </p:sp>
      <p:sp>
        <p:nvSpPr>
          <p:cNvPr id="31" name="Text 24"/>
          <p:cNvSpPr txBox="1"/>
          <p:nvPr/>
        </p:nvSpPr>
        <p:spPr>
          <a:xfrm>
            <a:off x="7525512" y="4343400"/>
            <a:ext cx="182880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Construir un modelo</a:t>
            </a:r>
            <a:endParaRPr lang="en-US" sz="1500" dirty="0"/>
          </a:p>
        </p:txBody>
      </p:sp>
      <p:sp>
        <p:nvSpPr>
          <p:cNvPr id="32" name="Text 25"/>
          <p:cNvSpPr txBox="1"/>
          <p:nvPr/>
        </p:nvSpPr>
        <p:spPr>
          <a:xfrm>
            <a:off x="7525512" y="4800600"/>
            <a:ext cx="1783080" cy="1188720"/>
          </a:xfrm>
          <a:prstGeom prst="rect">
            <a:avLst/>
          </a:prstGeom>
          <a:noFill/>
          <a:ln/>
        </p:spPr>
        <p:txBody>
          <a:bodyPr wrap="square" lIns="0" tIns="0" rIns="0" bIns="0" rtlCol="0" anchor="t"/>
          <a:lstStyle/>
          <a:p>
            <a:pPr indent="0" marL="0">
              <a:buNone/>
            </a:pPr>
            <a:r>
              <a:rPr lang="en-US" sz="1300" dirty="0">
                <a:solidFill>
                  <a:srgbClr val="A7B0C0"/>
                </a:solidFill>
                <a:latin typeface="Calibri" pitchFamily="34" charset="0"/>
                <a:ea typeface="Calibri" pitchFamily="34" charset="-122"/>
                <a:cs typeface="Calibri" pitchFamily="34" charset="-120"/>
              </a:rPr>
              <a:t>que clasifique el riesgo por zona y franja horaria</a:t>
            </a:r>
            <a:endParaRPr lang="en-US" sz="1300" dirty="0"/>
          </a:p>
        </p:txBody>
      </p:sp>
      <p:sp>
        <p:nvSpPr>
          <p:cNvPr id="33" name="Shape 26"/>
          <p:cNvSpPr/>
          <p:nvPr/>
        </p:nvSpPr>
        <p:spPr>
          <a:xfrm>
            <a:off x="9546336" y="3291840"/>
            <a:ext cx="2103120" cy="2926080"/>
          </a:xfrm>
          <a:prstGeom prst="roundRect">
            <a:avLst>
              <a:gd name="adj" fmla="val 5217"/>
            </a:avLst>
          </a:prstGeom>
          <a:solidFill>
            <a:srgbClr val="1E2330"/>
          </a:solidFill>
          <a:ln w="12700">
            <a:solidFill>
              <a:srgbClr val="1E2330"/>
            </a:solidFill>
            <a:prstDash val="solid"/>
          </a:ln>
        </p:spPr>
      </p:sp>
      <p:sp>
        <p:nvSpPr>
          <p:cNvPr id="34" name="Shape 27"/>
          <p:cNvSpPr/>
          <p:nvPr/>
        </p:nvSpPr>
        <p:spPr>
          <a:xfrm>
            <a:off x="9774936" y="3520440"/>
            <a:ext cx="640080" cy="640080"/>
          </a:xfrm>
          <a:prstGeom prst="ellipse">
            <a:avLst/>
          </a:prstGeom>
          <a:solidFill>
            <a:srgbClr val="F5B700"/>
          </a:solidFill>
          <a:ln w="12700">
            <a:solidFill>
              <a:srgbClr val="F5B700"/>
            </a:solidFill>
            <a:prstDash val="solid"/>
          </a:ln>
        </p:spPr>
      </p:sp>
      <p:pic>
        <p:nvPicPr>
          <p:cNvPr id="35" name="Image 5" descr="preencoded.png">    </p:cNvPr>
          <p:cNvPicPr>
            <a:picLocks noChangeAspect="1"/>
          </p:cNvPicPr>
          <p:nvPr/>
        </p:nvPicPr>
        <p:blipFill>
          <a:blip r:embed="rId6"/>
          <a:stretch>
            <a:fillRect/>
          </a:stretch>
        </p:blipFill>
        <p:spPr>
          <a:xfrm>
            <a:off x="9941357" y="3686861"/>
            <a:ext cx="307238" cy="307238"/>
          </a:xfrm>
          <a:prstGeom prst="rect">
            <a:avLst/>
          </a:prstGeom>
        </p:spPr>
      </p:pic>
      <p:sp>
        <p:nvSpPr>
          <p:cNvPr id="36" name="Text 28"/>
          <p:cNvSpPr txBox="1"/>
          <p:nvPr/>
        </p:nvSpPr>
        <p:spPr>
          <a:xfrm>
            <a:off x="10963656" y="3520440"/>
            <a:ext cx="457200" cy="548640"/>
          </a:xfrm>
          <a:prstGeom prst="rect">
            <a:avLst/>
          </a:prstGeom>
          <a:noFill/>
          <a:ln/>
        </p:spPr>
        <p:txBody>
          <a:bodyPr wrap="square" lIns="0" tIns="0" rIns="0" bIns="0" rtlCol="0" anchor="ctr"/>
          <a:lstStyle/>
          <a:p>
            <a:pPr algn="r" indent="0" marL="0">
              <a:buNone/>
            </a:pPr>
            <a:r>
              <a:rPr lang="en-US" sz="2600" b="1" dirty="0">
                <a:solidFill>
                  <a:srgbClr val="6B7385"/>
                </a:solidFill>
                <a:latin typeface="Arial" pitchFamily="34" charset="0"/>
                <a:ea typeface="Arial" pitchFamily="34" charset="-122"/>
                <a:cs typeface="Arial" pitchFamily="34" charset="-120"/>
              </a:rPr>
              <a:t>5</a:t>
            </a:r>
            <a:endParaRPr lang="en-US" sz="2600" dirty="0"/>
          </a:p>
        </p:txBody>
      </p:sp>
      <p:sp>
        <p:nvSpPr>
          <p:cNvPr id="37" name="Text 29"/>
          <p:cNvSpPr txBox="1"/>
          <p:nvPr/>
        </p:nvSpPr>
        <p:spPr>
          <a:xfrm>
            <a:off x="9774936" y="4343400"/>
            <a:ext cx="182880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Diseñar un dashboard</a:t>
            </a:r>
            <a:endParaRPr lang="en-US" sz="1500" dirty="0"/>
          </a:p>
        </p:txBody>
      </p:sp>
      <p:sp>
        <p:nvSpPr>
          <p:cNvPr id="38" name="Text 30"/>
          <p:cNvSpPr txBox="1"/>
          <p:nvPr/>
        </p:nvSpPr>
        <p:spPr>
          <a:xfrm>
            <a:off x="9774936" y="4800600"/>
            <a:ext cx="1783080" cy="1188720"/>
          </a:xfrm>
          <a:prstGeom prst="rect">
            <a:avLst/>
          </a:prstGeom>
          <a:noFill/>
          <a:ln/>
        </p:spPr>
        <p:txBody>
          <a:bodyPr wrap="square" lIns="0" tIns="0" rIns="0" bIns="0" rtlCol="0" anchor="t"/>
          <a:lstStyle/>
          <a:p>
            <a:pPr indent="0" marL="0">
              <a:buNone/>
            </a:pPr>
            <a:r>
              <a:rPr lang="en-US" sz="1300" dirty="0">
                <a:solidFill>
                  <a:srgbClr val="A7B0C0"/>
                </a:solidFill>
                <a:latin typeface="Calibri" pitchFamily="34" charset="0"/>
                <a:ea typeface="Calibri" pitchFamily="34" charset="-122"/>
                <a:cs typeface="Calibri" pitchFamily="34" charset="-120"/>
              </a:rPr>
              <a:t>con mapa y escenarios, validado en la Av. Simón Bolívar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71F"/>
        </a:solidFill>
      </p:bgPr>
    </p:bg>
    <p:spTree>
      <p:nvGrpSpPr>
        <p:cNvPr id="1" name=""/>
        <p:cNvGrpSpPr/>
        <p:nvPr/>
      </p:nvGrpSpPr>
      <p:grpSpPr>
        <a:xfrm>
          <a:off x="0" y="0"/>
          <a:ext cx="0" cy="0"/>
          <a:chOff x="0" y="0"/>
          <a:chExt cx="0" cy="0"/>
        </a:xfrm>
      </p:grpSpPr>
      <p:pic>
        <p:nvPicPr>
          <p:cNvPr id="2" name="Image 0" descr="mapa_portada.png">    </p:cNvPr>
          <p:cNvPicPr>
            <a:picLocks noChangeAspect="1"/>
          </p:cNvPicPr>
          <p:nvPr/>
        </p:nvPicPr>
        <p:blipFill>
          <a:blip r:embed="rId1">
            <a:alphaModFix amt="65000"/>
          </a:blip>
          <a:srcRect l="0" r="0" t="0" b="0"/>
          <a:stretch/>
        </p:blipFill>
        <p:spPr>
          <a:xfrm>
            <a:off x="6400800" y="0"/>
            <a:ext cx="5788152" cy="6858000"/>
          </a:xfrm>
          <a:prstGeom prst="rect">
            <a:avLst/>
          </a:prstGeom>
        </p:spPr>
      </p:pic>
      <p:sp>
        <p:nvSpPr>
          <p:cNvPr id="3" name="Text 0"/>
          <p:cNvSpPr txBox="1"/>
          <p:nvPr/>
        </p:nvSpPr>
        <p:spPr>
          <a:xfrm>
            <a:off x="548640" y="1828800"/>
            <a:ext cx="5486400" cy="109728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Gracias</a:t>
            </a:r>
            <a:endParaRPr lang="en-US" sz="5400" dirty="0"/>
          </a:p>
        </p:txBody>
      </p:sp>
      <p:sp>
        <p:nvSpPr>
          <p:cNvPr id="4" name="Text 1"/>
          <p:cNvSpPr txBox="1"/>
          <p:nvPr/>
        </p:nvSpPr>
        <p:spPr>
          <a:xfrm>
            <a:off x="548640" y="2880360"/>
            <a:ext cx="5486400" cy="640080"/>
          </a:xfrm>
          <a:prstGeom prst="rect">
            <a:avLst/>
          </a:prstGeom>
          <a:noFill/>
          <a:ln/>
        </p:spPr>
        <p:txBody>
          <a:bodyPr wrap="square" lIns="0" tIns="0" rIns="0" bIns="0" rtlCol="0" anchor="ctr"/>
          <a:lstStyle/>
          <a:p>
            <a:pPr indent="0" marL="0">
              <a:buNone/>
            </a:pPr>
            <a:r>
              <a:rPr lang="en-US" sz="2800" b="1" dirty="0">
                <a:solidFill>
                  <a:srgbClr val="F5B700"/>
                </a:solidFill>
                <a:latin typeface="Calibri" pitchFamily="34" charset="0"/>
                <a:ea typeface="Calibri" pitchFamily="34" charset="-122"/>
                <a:cs typeface="Calibri" pitchFamily="34" charset="-120"/>
              </a:rPr>
              <a:t>¿Preguntas?</a:t>
            </a:r>
            <a:endParaRPr lang="en-US" sz="2800" dirty="0"/>
          </a:p>
        </p:txBody>
      </p:sp>
      <p:sp>
        <p:nvSpPr>
          <p:cNvPr id="5" name="Text 2"/>
          <p:cNvSpPr txBox="1"/>
          <p:nvPr/>
        </p:nvSpPr>
        <p:spPr>
          <a:xfrm>
            <a:off x="548640" y="3840480"/>
            <a:ext cx="5394960" cy="822960"/>
          </a:xfrm>
          <a:prstGeom prst="rect">
            <a:avLst/>
          </a:prstGeom>
          <a:noFill/>
          <a:ln/>
        </p:spPr>
        <p:txBody>
          <a:bodyPr wrap="square" lIns="0" tIns="0" rIns="0" bIns="0" rtlCol="0" anchor="t"/>
          <a:lstStyle/>
          <a:p>
            <a:pPr indent="0" marL="0">
              <a:buNone/>
            </a:pPr>
            <a:r>
              <a:rPr lang="en-US" sz="1600" i="1" dirty="0">
                <a:solidFill>
                  <a:srgbClr val="A7B0C0"/>
                </a:solidFill>
                <a:latin typeface="Calibri" pitchFamily="34" charset="0"/>
                <a:ea typeface="Calibri" pitchFamily="34" charset="-122"/>
                <a:cs typeface="Calibri" pitchFamily="34" charset="-120"/>
              </a:rPr>
              <a:t>Cada punto es una persona, una familia, un viaje que no terminó como debía.</a:t>
            </a:r>
            <a:endParaRPr lang="en-US" sz="1600" dirty="0"/>
          </a:p>
        </p:txBody>
      </p:sp>
      <p:sp>
        <p:nvSpPr>
          <p:cNvPr id="6" name="Text 3"/>
          <p:cNvSpPr txBox="1"/>
          <p:nvPr/>
        </p:nvSpPr>
        <p:spPr>
          <a:xfrm>
            <a:off x="548640" y="5760720"/>
            <a:ext cx="566928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Maximiliano Parra  ·  Jonathan Larraga  ·  Ariel Pilliza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Predictivo de Accidentes de Tránsito en Quito</dc:title>
  <dc:subject>PptxGenJS Presentation</dc:subject>
  <dc:creator>PptxGenJS</dc:creator>
  <cp:lastModifiedBy>PptxGenJS</cp:lastModifiedBy>
  <cp:revision>1</cp:revision>
  <dcterms:created xsi:type="dcterms:W3CDTF">2026-09-29T00:47:27Z</dcterms:created>
  <dcterms:modified xsi:type="dcterms:W3CDTF">2026-09-29T00:47:27Z</dcterms:modified>
</cp:coreProperties>
</file>