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6.xml" ContentType="application/vnd.openxmlformats-officedocument.drawingml.chart+xml"/>
  <Override PartName="/ppt/notesSlides/notesSlide15.xml" ContentType="application/vnd.openxmlformats-officedocument.presentationml.notesSlide+xml"/>
  <Override PartName="/ppt/charts/chart7.xml" ContentType="application/vnd.openxmlformats-officedocument.drawingml.chart+xml"/>
  <Override PartName="/ppt/notesSlides/notesSlide16.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17.xml" ContentType="application/vnd.openxmlformats-officedocument.presentationml.notesSlide+xml"/>
  <Override PartName="/ppt/charts/chart10.xml" ContentType="application/vnd.openxmlformats-officedocument.drawingml.chart+xml"/>
  <Override PartName="/ppt/notesSlides/notesSlide18.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77" r:id="rId21"/>
    <p:sldId id="278" r:id="rId22"/>
    <p:sldId id="279" r:id="rId23"/>
    <p:sldId id="280" r:id="rId24"/>
    <p:sldId id="281" r:id="rId25"/>
    <p:sldId id="282"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A95BE91B-6258-BE8A-982F-A10F4C02246B}">
          <p14:sldIdLst>
            <p14:sldId id="256"/>
          </p14:sldIdLst>
        </p14:section>
        <p14:section name="Introducción y contexto" id="{4E840557-6867-A3B1-8FE5-7E4F4C5665CA}">
          <p14:sldIdLst>
            <p14:sldId id="257"/>
            <p14:sldId id="258"/>
          </p14:sldIdLst>
        </p14:section>
        <p14:section name="Problema y objetivos" id="{E7191BEA-21D7-1359-F6D8-C7688E16DF7B}">
          <p14:sldIdLst>
            <p14:sldId id="259"/>
            <p14:sldId id="260"/>
          </p14:sldIdLst>
        </p14:section>
        <p14:section name="Datos utilizados" id="{A817CD17-8307-A542-D436-F12D77D3DC26}">
          <p14:sldIdLst>
            <p14:sldId id="261"/>
            <p14:sldId id="262"/>
          </p14:sldIdLst>
        </p14:section>
        <p14:section name="Metodología y herramientas" id="{796431E6-861A-D5B8-9823-0C44C9A0640A}">
          <p14:sldIdLst>
            <p14:sldId id="263"/>
            <p14:sldId id="264"/>
          </p14:sldIdLst>
        </p14:section>
        <p14:section name="Análisis y visualización" id="{74836BD0-7573-F645-6C4C-1FE24F3A30A2}">
          <p14:sldIdLst>
            <p14:sldId id="265"/>
            <p14:sldId id="266"/>
            <p14:sldId id="267"/>
            <p14:sldId id="268"/>
            <p14:sldId id="269"/>
            <p14:sldId id="270"/>
            <p14:sldId id="271"/>
            <p14:sldId id="272"/>
            <p14:sldId id="273"/>
            <p14:sldId id="276"/>
            <p14:sldId id="277"/>
            <p14:sldId id="278"/>
          </p14:sldIdLst>
        </p14:section>
        <p14:section name="Resultados y hallazgos" id="{2DB9A1EB-DAE5-EF9F-076B-6C51D356D8DA}">
          <p14:sldIdLst>
            <p14:sldId id="279"/>
            <p14:sldId id="280"/>
          </p14:sldIdLst>
        </p14:section>
        <p14:section name="Conclusiones y recomendaciones" id="{B4CE5045-599B-8F3E-A44A-8AA85276EEC2}">
          <p14:sldIdLst>
            <p14:sldId id="281"/>
          </p14:sldIdLst>
        </p14:section>
        <p14:section name="Cierre" id="{81E16D77-4F6C-C509-B40A-9BB3B18C1566}">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8131" autoAdjust="0"/>
  </p:normalViewPr>
  <p:slideViewPr>
    <p:cSldViewPr snapToGrid="0" snapToObjects="1">
      <p:cViewPr varScale="1">
        <p:scale>
          <a:sx n="56" d="100"/>
          <a:sy n="56" d="100"/>
        </p:scale>
        <p:origin x="12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Letalidad</c:v>
                </c:pt>
              </c:strCache>
            </c:strRef>
          </c:tx>
          <c:spPr>
            <a:ln w="31750" cap="flat">
              <a:solidFill>
                <a:srgbClr val="B8321F"/>
              </a:solidFill>
              <a:prstDash val="solid"/>
              <a:round/>
            </a:ln>
            <a:effectLst/>
          </c:spPr>
          <c:marker>
            <c:symbol val="circle"/>
            <c:size val="6"/>
            <c:spPr>
              <a:solidFill>
                <a:srgbClr val="B8321F"/>
              </a:solidFill>
              <a:ln w="9525" cap="flat">
                <a:solidFill>
                  <a:srgbClr val="B8321F"/>
                </a:solidFill>
                <a:prstDash val="solid"/>
                <a:round/>
              </a:ln>
              <a:effectLst/>
            </c:spPr>
          </c:marker>
          <c:dLbls>
            <c:numFmt formatCode="#,##0" sourceLinked="0"/>
            <c:spPr>
              <a:noFill/>
              <a:ln>
                <a:noFill/>
              </a:ln>
              <a:effectLst/>
            </c:spPr>
            <c:txPr>
              <a:bodyPr/>
              <a:lstStyle/>
              <a:p>
                <a:pPr>
                  <a:defRPr sz="900" b="0" i="0" u="none" strike="noStrike">
                    <a:solidFill>
                      <a:srgbClr val="3A372F"/>
                    </a:solidFill>
                    <a:latin typeface="Consola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2017</c:v>
                </c:pt>
                <c:pt idx="1">
                  <c:v>2018</c:v>
                </c:pt>
                <c:pt idx="2">
                  <c:v>2019</c:v>
                </c:pt>
                <c:pt idx="3">
                  <c:v>2020</c:v>
                </c:pt>
                <c:pt idx="4">
                  <c:v>2021</c:v>
                </c:pt>
                <c:pt idx="5">
                  <c:v>2022</c:v>
                </c:pt>
                <c:pt idx="6">
                  <c:v>2023</c:v>
                </c:pt>
                <c:pt idx="7">
                  <c:v>2024</c:v>
                </c:pt>
                <c:pt idx="8">
                  <c:v>2025</c:v>
                </c:pt>
              </c:strCache>
            </c:strRef>
          </c:cat>
          <c:val>
            <c:numRef>
              <c:f>Sheet1!$B$2:$B$10</c:f>
              <c:numCache>
                <c:formatCode>General</c:formatCode>
                <c:ptCount val="9"/>
                <c:pt idx="0">
                  <c:v>31</c:v>
                </c:pt>
                <c:pt idx="1">
                  <c:v>34.799999999999997</c:v>
                </c:pt>
                <c:pt idx="2">
                  <c:v>54.3</c:v>
                </c:pt>
                <c:pt idx="3">
                  <c:v>69.3</c:v>
                </c:pt>
                <c:pt idx="4">
                  <c:v>75.900000000000006</c:v>
                </c:pt>
                <c:pt idx="5">
                  <c:v>86</c:v>
                </c:pt>
                <c:pt idx="6">
                  <c:v>86.2</c:v>
                </c:pt>
                <c:pt idx="7">
                  <c:v>83.1</c:v>
                </c:pt>
                <c:pt idx="8">
                  <c:v>84.5</c:v>
                </c:pt>
              </c:numCache>
            </c:numRef>
          </c:val>
          <c:smooth val="0"/>
          <c:extLst>
            <c:ext xmlns:c16="http://schemas.microsoft.com/office/drawing/2014/chart" uri="{C3380CC4-5D6E-409C-BE32-E72D297353CC}">
              <c16:uniqueId val="{00000000-F4EB-4189-9592-C9EE3FDC5868}"/>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16150F"/>
            </a:solidFill>
            <a:prstDash val="solid"/>
            <a:round/>
          </a:ln>
        </c:spPr>
        <c:txPr>
          <a:bodyPr/>
          <a:lstStyle/>
          <a:p>
            <a:pPr>
              <a:defRPr sz="1000" b="0" i="0" u="none" strike="noStrike">
                <a:solidFill>
                  <a:srgbClr val="6B6657"/>
                </a:solidFill>
                <a:latin typeface="Consolas"/>
              </a:defRPr>
            </a:pPr>
            <a:endParaRPr lang="en-US"/>
          </a:p>
        </c:txPr>
        <c:crossAx val="2094734552"/>
        <c:crosses val="autoZero"/>
        <c:auto val="1"/>
        <c:lblAlgn val="ctr"/>
        <c:lblOffset val="100"/>
        <c:noMultiLvlLbl val="1"/>
      </c:catAx>
      <c:valAx>
        <c:axId val="2094734552"/>
        <c:scaling>
          <c:orientation val="minMax"/>
          <c:max val="110"/>
          <c:min val="0"/>
        </c:scaling>
        <c:delete val="1"/>
        <c:axPos val="l"/>
        <c:numFmt formatCode="#,##0"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stacked"/>
        <c:varyColors val="0"/>
        <c:ser>
          <c:idx val="0"/>
          <c:order val="0"/>
          <c:tx>
            <c:strRef>
              <c:f>Sheet1!$B$1</c:f>
              <c:strCache>
                <c:ptCount val="1"/>
                <c:pt idx="0">
                  <c:v>Normal</c:v>
                </c:pt>
              </c:strCache>
            </c:strRef>
          </c:tx>
          <c:spPr>
            <a:solidFill>
              <a:srgbClr val="16150F"/>
            </a:solidFill>
            <a:effectLst/>
          </c:spPr>
          <c:invertIfNegative val="0"/>
          <c:cat>
            <c:strRef>
              <c:f>Sheet1!$A$2:$A$11</c:f>
              <c:strCache>
                <c:ptCount val="10"/>
                <c:pt idx="0">
                  <c:v>2017</c:v>
                </c:pt>
                <c:pt idx="1">
                  <c:v>2018</c:v>
                </c:pt>
                <c:pt idx="2">
                  <c:v>2019</c:v>
                </c:pt>
                <c:pt idx="3">
                  <c:v>2020</c:v>
                </c:pt>
                <c:pt idx="4">
                  <c:v>2021</c:v>
                </c:pt>
                <c:pt idx="5">
                  <c:v>2022</c:v>
                </c:pt>
                <c:pt idx="6">
                  <c:v>2023</c:v>
                </c:pt>
                <c:pt idx="7">
                  <c:v>2024</c:v>
                </c:pt>
                <c:pt idx="8">
                  <c:v>2025</c:v>
                </c:pt>
                <c:pt idx="9">
                  <c:v>2026*</c:v>
                </c:pt>
              </c:strCache>
            </c:strRef>
          </c:cat>
          <c:val>
            <c:numRef>
              <c:f>Sheet1!$B$2:$B$11</c:f>
              <c:numCache>
                <c:formatCode>General</c:formatCode>
                <c:ptCount val="10"/>
                <c:pt idx="0">
                  <c:v>8810</c:v>
                </c:pt>
                <c:pt idx="1">
                  <c:v>7217</c:v>
                </c:pt>
                <c:pt idx="2">
                  <c:v>4729</c:v>
                </c:pt>
                <c:pt idx="3">
                  <c:v>3015</c:v>
                </c:pt>
                <c:pt idx="4">
                  <c:v>3411</c:v>
                </c:pt>
                <c:pt idx="5">
                  <c:v>3394</c:v>
                </c:pt>
                <c:pt idx="6">
                  <c:v>3816</c:v>
                </c:pt>
                <c:pt idx="7">
                  <c:v>3889</c:v>
                </c:pt>
                <c:pt idx="8">
                  <c:v>3987</c:v>
                </c:pt>
                <c:pt idx="9">
                  <c:v>2714</c:v>
                </c:pt>
              </c:numCache>
            </c:numRef>
          </c:val>
          <c:extLst>
            <c:ext xmlns:c16="http://schemas.microsoft.com/office/drawing/2014/chart" uri="{C3380CC4-5D6E-409C-BE32-E72D297353CC}">
              <c16:uniqueId val="{00000000-798F-4CBA-A84A-36036B1CED5C}"/>
            </c:ext>
          </c:extLst>
        </c:ser>
        <c:ser>
          <c:idx val="1"/>
          <c:order val="1"/>
          <c:tx>
            <c:strRef>
              <c:f>Sheet1!$C$1</c:f>
              <c:strCache>
                <c:ptCount val="1"/>
                <c:pt idx="0">
                  <c:v>Resaltado</c:v>
                </c:pt>
              </c:strCache>
            </c:strRef>
          </c:tx>
          <c:spPr>
            <a:solidFill>
              <a:srgbClr val="B8321F"/>
            </a:solidFill>
            <a:effectLst/>
          </c:spPr>
          <c:invertIfNegative val="0"/>
          <c:cat>
            <c:strRef>
              <c:f>Sheet1!$A$2:$A$11</c:f>
              <c:strCache>
                <c:ptCount val="10"/>
                <c:pt idx="0">
                  <c:v>2017</c:v>
                </c:pt>
                <c:pt idx="1">
                  <c:v>2018</c:v>
                </c:pt>
                <c:pt idx="2">
                  <c:v>2019</c:v>
                </c:pt>
                <c:pt idx="3">
                  <c:v>2020</c:v>
                </c:pt>
                <c:pt idx="4">
                  <c:v>2021</c:v>
                </c:pt>
                <c:pt idx="5">
                  <c:v>2022</c:v>
                </c:pt>
                <c:pt idx="6">
                  <c:v>2023</c:v>
                </c:pt>
                <c:pt idx="7">
                  <c:v>2024</c:v>
                </c:pt>
                <c:pt idx="8">
                  <c:v>2025</c:v>
                </c:pt>
                <c:pt idx="9">
                  <c:v>2026*</c:v>
                </c:pt>
              </c:strCache>
            </c:strRef>
          </c:cat>
          <c:val>
            <c:numRef>
              <c:f>Sheet1!$C$2:$C$11</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1-798F-4CBA-A84A-36036B1CED5C}"/>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16150F"/>
            </a:solidFill>
            <a:prstDash val="solid"/>
            <a:round/>
          </a:ln>
        </c:spPr>
        <c:txPr>
          <a:bodyPr/>
          <a:lstStyle/>
          <a:p>
            <a:pPr>
              <a:defRPr sz="1000" b="0" i="0" u="none" strike="noStrike">
                <a:solidFill>
                  <a:srgbClr val="6B6657"/>
                </a:solidFill>
                <a:latin typeface="Consola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DD7C8"/>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B6657"/>
                </a:solidFill>
                <a:latin typeface="Consola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Letalidad</c:v>
                </c:pt>
              </c:strCache>
            </c:strRef>
          </c:tx>
          <c:spPr>
            <a:ln w="31750" cap="flat">
              <a:solidFill>
                <a:srgbClr val="B8321F"/>
              </a:solidFill>
              <a:prstDash val="solid"/>
              <a:round/>
            </a:ln>
            <a:effectLst/>
          </c:spPr>
          <c:marker>
            <c:symbol val="circle"/>
            <c:size val="7"/>
            <c:spPr>
              <a:solidFill>
                <a:srgbClr val="B8321F"/>
              </a:solidFill>
              <a:ln w="9525" cap="flat">
                <a:solidFill>
                  <a:srgbClr val="B8321F"/>
                </a:solidFill>
                <a:prstDash val="solid"/>
                <a:round/>
              </a:ln>
              <a:effectLst/>
            </c:spPr>
          </c:marker>
          <c:dLbls>
            <c:numFmt formatCode="0" sourceLinked="0"/>
            <c:spPr>
              <a:noFill/>
              <a:ln>
                <a:noFill/>
              </a:ln>
              <a:effectLst/>
            </c:spPr>
            <c:txPr>
              <a:bodyPr/>
              <a:lstStyle/>
              <a:p>
                <a:pPr>
                  <a:defRPr sz="900" b="0" i="0" u="none" strike="noStrike">
                    <a:solidFill>
                      <a:srgbClr val="3A372F"/>
                    </a:solidFill>
                    <a:latin typeface="Consola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'17</c:v>
                </c:pt>
                <c:pt idx="1">
                  <c:v>'18</c:v>
                </c:pt>
                <c:pt idx="2">
                  <c:v>'19</c:v>
                </c:pt>
                <c:pt idx="3">
                  <c:v>'20</c:v>
                </c:pt>
                <c:pt idx="4">
                  <c:v>'21</c:v>
                </c:pt>
                <c:pt idx="5">
                  <c:v>'22</c:v>
                </c:pt>
                <c:pt idx="6">
                  <c:v>'23</c:v>
                </c:pt>
                <c:pt idx="7">
                  <c:v>'24</c:v>
                </c:pt>
                <c:pt idx="8">
                  <c:v>'25</c:v>
                </c:pt>
              </c:strCache>
            </c:strRef>
          </c:cat>
          <c:val>
            <c:numRef>
              <c:f>Sheet1!$B$2:$B$10</c:f>
              <c:numCache>
                <c:formatCode>General</c:formatCode>
                <c:ptCount val="9"/>
                <c:pt idx="0">
                  <c:v>31</c:v>
                </c:pt>
                <c:pt idx="1">
                  <c:v>34.799999999999997</c:v>
                </c:pt>
                <c:pt idx="2">
                  <c:v>54.3</c:v>
                </c:pt>
                <c:pt idx="3">
                  <c:v>69.3</c:v>
                </c:pt>
                <c:pt idx="4">
                  <c:v>75.900000000000006</c:v>
                </c:pt>
                <c:pt idx="5">
                  <c:v>86</c:v>
                </c:pt>
                <c:pt idx="6">
                  <c:v>86.2</c:v>
                </c:pt>
                <c:pt idx="7">
                  <c:v>83.1</c:v>
                </c:pt>
                <c:pt idx="8">
                  <c:v>84.5</c:v>
                </c:pt>
              </c:numCache>
            </c:numRef>
          </c:val>
          <c:smooth val="0"/>
          <c:extLst>
            <c:ext xmlns:c16="http://schemas.microsoft.com/office/drawing/2014/chart" uri="{C3380CC4-5D6E-409C-BE32-E72D297353CC}">
              <c16:uniqueId val="{00000000-D852-4987-B9C0-FAE7256437A4}"/>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16150F"/>
            </a:solidFill>
            <a:prstDash val="solid"/>
            <a:round/>
          </a:ln>
        </c:spPr>
        <c:txPr>
          <a:bodyPr/>
          <a:lstStyle/>
          <a:p>
            <a:pPr>
              <a:defRPr sz="1000" b="0" i="0" u="none" strike="noStrike">
                <a:solidFill>
                  <a:srgbClr val="6B6657"/>
                </a:solidFill>
                <a:latin typeface="Consolas"/>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DDD7C8"/>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B6657"/>
                </a:solidFill>
                <a:latin typeface="Consola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stacked"/>
        <c:varyColors val="0"/>
        <c:ser>
          <c:idx val="0"/>
          <c:order val="0"/>
          <c:tx>
            <c:strRef>
              <c:f>Sheet1!$B$1</c:f>
              <c:strCache>
                <c:ptCount val="1"/>
                <c:pt idx="0">
                  <c:v>Normal</c:v>
                </c:pt>
              </c:strCache>
            </c:strRef>
          </c:tx>
          <c:spPr>
            <a:solidFill>
              <a:srgbClr val="16150F"/>
            </a:solidFill>
            <a:effectLst/>
          </c:spPr>
          <c:invertIfNegative val="0"/>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1671</c:v>
                </c:pt>
                <c:pt idx="1">
                  <c:v>1510</c:v>
                </c:pt>
                <c:pt idx="2">
                  <c:v>1457</c:v>
                </c:pt>
                <c:pt idx="3">
                  <c:v>1318</c:v>
                </c:pt>
                <c:pt idx="4">
                  <c:v>1278</c:v>
                </c:pt>
                <c:pt idx="5">
                  <c:v>1440</c:v>
                </c:pt>
                <c:pt idx="6">
                  <c:v>2240</c:v>
                </c:pt>
                <c:pt idx="7">
                  <c:v>0</c:v>
                </c:pt>
                <c:pt idx="8">
                  <c:v>2217</c:v>
                </c:pt>
                <c:pt idx="9">
                  <c:v>1752</c:v>
                </c:pt>
                <c:pt idx="10">
                  <c:v>1740</c:v>
                </c:pt>
                <c:pt idx="11">
                  <c:v>1692</c:v>
                </c:pt>
                <c:pt idx="12">
                  <c:v>1946</c:v>
                </c:pt>
                <c:pt idx="13">
                  <c:v>2001</c:v>
                </c:pt>
                <c:pt idx="14">
                  <c:v>2015</c:v>
                </c:pt>
                <c:pt idx="15">
                  <c:v>2121</c:v>
                </c:pt>
                <c:pt idx="16">
                  <c:v>2034</c:v>
                </c:pt>
                <c:pt idx="17">
                  <c:v>2033</c:v>
                </c:pt>
                <c:pt idx="18">
                  <c:v>2180</c:v>
                </c:pt>
                <c:pt idx="19">
                  <c:v>0</c:v>
                </c:pt>
                <c:pt idx="20">
                  <c:v>2076</c:v>
                </c:pt>
                <c:pt idx="21">
                  <c:v>1906</c:v>
                </c:pt>
                <c:pt idx="22">
                  <c:v>1841</c:v>
                </c:pt>
                <c:pt idx="23">
                  <c:v>1660</c:v>
                </c:pt>
              </c:numCache>
            </c:numRef>
          </c:val>
          <c:extLst>
            <c:ext xmlns:c16="http://schemas.microsoft.com/office/drawing/2014/chart" uri="{C3380CC4-5D6E-409C-BE32-E72D297353CC}">
              <c16:uniqueId val="{00000000-720A-4582-8983-185A6D0B2FB1}"/>
            </c:ext>
          </c:extLst>
        </c:ser>
        <c:ser>
          <c:idx val="1"/>
          <c:order val="1"/>
          <c:tx>
            <c:strRef>
              <c:f>Sheet1!$C$1</c:f>
              <c:strCache>
                <c:ptCount val="1"/>
                <c:pt idx="0">
                  <c:v>Resaltado</c:v>
                </c:pt>
              </c:strCache>
            </c:strRef>
          </c:tx>
          <c:spPr>
            <a:solidFill>
              <a:srgbClr val="B8321F"/>
            </a:solidFill>
            <a:effectLst/>
          </c:spPr>
          <c:invertIfNegative val="0"/>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General</c:formatCode>
                <c:ptCount val="24"/>
                <c:pt idx="0">
                  <c:v>0</c:v>
                </c:pt>
                <c:pt idx="1">
                  <c:v>0</c:v>
                </c:pt>
                <c:pt idx="2">
                  <c:v>0</c:v>
                </c:pt>
                <c:pt idx="3">
                  <c:v>0</c:v>
                </c:pt>
                <c:pt idx="4">
                  <c:v>0</c:v>
                </c:pt>
                <c:pt idx="5">
                  <c:v>0</c:v>
                </c:pt>
                <c:pt idx="6">
                  <c:v>0</c:v>
                </c:pt>
                <c:pt idx="7">
                  <c:v>2535</c:v>
                </c:pt>
                <c:pt idx="8">
                  <c:v>0</c:v>
                </c:pt>
                <c:pt idx="9">
                  <c:v>0</c:v>
                </c:pt>
                <c:pt idx="10">
                  <c:v>0</c:v>
                </c:pt>
                <c:pt idx="11">
                  <c:v>0</c:v>
                </c:pt>
                <c:pt idx="12">
                  <c:v>0</c:v>
                </c:pt>
                <c:pt idx="13">
                  <c:v>0</c:v>
                </c:pt>
                <c:pt idx="14">
                  <c:v>0</c:v>
                </c:pt>
                <c:pt idx="15">
                  <c:v>0</c:v>
                </c:pt>
                <c:pt idx="16">
                  <c:v>0</c:v>
                </c:pt>
                <c:pt idx="17">
                  <c:v>0</c:v>
                </c:pt>
                <c:pt idx="18">
                  <c:v>0</c:v>
                </c:pt>
                <c:pt idx="19">
                  <c:v>2317</c:v>
                </c:pt>
                <c:pt idx="20">
                  <c:v>0</c:v>
                </c:pt>
                <c:pt idx="21">
                  <c:v>0</c:v>
                </c:pt>
                <c:pt idx="22">
                  <c:v>0</c:v>
                </c:pt>
                <c:pt idx="23">
                  <c:v>0</c:v>
                </c:pt>
              </c:numCache>
            </c:numRef>
          </c:val>
          <c:extLst>
            <c:ext xmlns:c16="http://schemas.microsoft.com/office/drawing/2014/chart" uri="{C3380CC4-5D6E-409C-BE32-E72D297353CC}">
              <c16:uniqueId val="{00000001-720A-4582-8983-185A6D0B2FB1}"/>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16150F"/>
            </a:solidFill>
            <a:prstDash val="solid"/>
            <a:round/>
          </a:ln>
        </c:spPr>
        <c:txPr>
          <a:bodyPr/>
          <a:lstStyle/>
          <a:p>
            <a:pPr>
              <a:defRPr sz="1000" b="0" i="0" u="none" strike="noStrike">
                <a:solidFill>
                  <a:srgbClr val="6B6657"/>
                </a:solidFill>
                <a:latin typeface="Consola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DD7C8"/>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B6657"/>
                </a:solidFill>
                <a:latin typeface="Consola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stacked"/>
        <c:varyColors val="0"/>
        <c:ser>
          <c:idx val="0"/>
          <c:order val="0"/>
          <c:tx>
            <c:strRef>
              <c:f>Sheet1!$B$1</c:f>
              <c:strCache>
                <c:ptCount val="1"/>
                <c:pt idx="0">
                  <c:v>Normal</c:v>
                </c:pt>
              </c:strCache>
            </c:strRef>
          </c:tx>
          <c:spPr>
            <a:solidFill>
              <a:srgbClr val="16150F"/>
            </a:solidFill>
            <a:effectLst/>
          </c:spPr>
          <c:invertIfNegative val="0"/>
          <c:dLbls>
            <c:numFmt formatCode="#,##0;;;" sourceLinked="0"/>
            <c:spPr>
              <a:noFill/>
              <a:ln>
                <a:noFill/>
              </a:ln>
              <a:effectLst/>
            </c:spPr>
            <c:txPr>
              <a:bodyPr/>
              <a:lstStyle/>
              <a:p>
                <a:pPr>
                  <a:defRPr sz="1000" b="0" i="0" u="none" strike="noStrike">
                    <a:solidFill>
                      <a:srgbClr val="FFFFFF"/>
                    </a:solidFill>
                    <a:latin typeface="Consolas"/>
                  </a:defRPr>
                </a:pPr>
                <a:endParaRPr lang="es-EC"/>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Lunes</c:v>
                </c:pt>
                <c:pt idx="1">
                  <c:v>Martes</c:v>
                </c:pt>
                <c:pt idx="2">
                  <c:v>Miércoles</c:v>
                </c:pt>
                <c:pt idx="3">
                  <c:v>Jueves</c:v>
                </c:pt>
                <c:pt idx="4">
                  <c:v>Viernes</c:v>
                </c:pt>
                <c:pt idx="5">
                  <c:v>Sábado</c:v>
                </c:pt>
                <c:pt idx="6">
                  <c:v>Domingo</c:v>
                </c:pt>
              </c:strCache>
            </c:strRef>
          </c:cat>
          <c:val>
            <c:numRef>
              <c:f>Sheet1!$B$2:$B$8</c:f>
              <c:numCache>
                <c:formatCode>General</c:formatCode>
                <c:ptCount val="7"/>
                <c:pt idx="0">
                  <c:v>5327</c:v>
                </c:pt>
                <c:pt idx="1">
                  <c:v>5500</c:v>
                </c:pt>
                <c:pt idx="2">
                  <c:v>5468</c:v>
                </c:pt>
                <c:pt idx="3">
                  <c:v>5929</c:v>
                </c:pt>
                <c:pt idx="4">
                  <c:v>7224</c:v>
                </c:pt>
                <c:pt idx="5">
                  <c:v>0</c:v>
                </c:pt>
                <c:pt idx="6">
                  <c:v>0</c:v>
                </c:pt>
              </c:numCache>
            </c:numRef>
          </c:val>
          <c:extLst>
            <c:ext xmlns:c16="http://schemas.microsoft.com/office/drawing/2014/chart" uri="{C3380CC4-5D6E-409C-BE32-E72D297353CC}">
              <c16:uniqueId val="{00000000-2371-49CD-8361-842594A5D834}"/>
            </c:ext>
          </c:extLst>
        </c:ser>
        <c:ser>
          <c:idx val="1"/>
          <c:order val="1"/>
          <c:tx>
            <c:strRef>
              <c:f>Sheet1!$C$1</c:f>
              <c:strCache>
                <c:ptCount val="1"/>
                <c:pt idx="0">
                  <c:v>Resaltado</c:v>
                </c:pt>
              </c:strCache>
            </c:strRef>
          </c:tx>
          <c:spPr>
            <a:solidFill>
              <a:srgbClr val="B8321F"/>
            </a:solidFill>
            <a:effectLst/>
          </c:spPr>
          <c:invertIfNegative val="0"/>
          <c:dLbls>
            <c:numFmt formatCode="#,##0;;;" sourceLinked="0"/>
            <c:spPr>
              <a:noFill/>
              <a:ln>
                <a:noFill/>
              </a:ln>
              <a:effectLst/>
            </c:spPr>
            <c:txPr>
              <a:bodyPr/>
              <a:lstStyle/>
              <a:p>
                <a:pPr>
                  <a:defRPr sz="1000" b="0" i="0" u="none" strike="noStrike">
                    <a:solidFill>
                      <a:srgbClr val="FFFFFF"/>
                    </a:solidFill>
                    <a:latin typeface="Consolas"/>
                  </a:defRPr>
                </a:pPr>
                <a:endParaRPr lang="es-EC"/>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Lunes</c:v>
                </c:pt>
                <c:pt idx="1">
                  <c:v>Martes</c:v>
                </c:pt>
                <c:pt idx="2">
                  <c:v>Miércoles</c:v>
                </c:pt>
                <c:pt idx="3">
                  <c:v>Jueves</c:v>
                </c:pt>
                <c:pt idx="4">
                  <c:v>Viernes</c:v>
                </c:pt>
                <c:pt idx="5">
                  <c:v>Sábado</c:v>
                </c:pt>
                <c:pt idx="6">
                  <c:v>Domingo</c:v>
                </c:pt>
              </c:strCache>
            </c:strRef>
          </c:cat>
          <c:val>
            <c:numRef>
              <c:f>Sheet1!$C$2:$C$8</c:f>
              <c:numCache>
                <c:formatCode>General</c:formatCode>
                <c:ptCount val="7"/>
                <c:pt idx="0">
                  <c:v>0</c:v>
                </c:pt>
                <c:pt idx="1">
                  <c:v>0</c:v>
                </c:pt>
                <c:pt idx="2">
                  <c:v>0</c:v>
                </c:pt>
                <c:pt idx="3">
                  <c:v>0</c:v>
                </c:pt>
                <c:pt idx="4">
                  <c:v>0</c:v>
                </c:pt>
                <c:pt idx="5">
                  <c:v>8380</c:v>
                </c:pt>
                <c:pt idx="6">
                  <c:v>7154</c:v>
                </c:pt>
              </c:numCache>
            </c:numRef>
          </c:val>
          <c:extLst>
            <c:ext xmlns:c16="http://schemas.microsoft.com/office/drawing/2014/chart" uri="{C3380CC4-5D6E-409C-BE32-E72D297353CC}">
              <c16:uniqueId val="{00000001-2371-49CD-8361-842594A5D834}"/>
            </c:ext>
          </c:extLst>
        </c:ser>
        <c:dLbls>
          <c:dLblPos val="inEnd"/>
          <c:showLegendKey val="0"/>
          <c:showVal val="1"/>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16150F"/>
            </a:solidFill>
            <a:prstDash val="solid"/>
            <a:round/>
          </a:ln>
        </c:spPr>
        <c:txPr>
          <a:bodyPr/>
          <a:lstStyle/>
          <a:p>
            <a:pPr>
              <a:defRPr sz="1000" b="0" i="0" u="none" strike="noStrike">
                <a:solidFill>
                  <a:srgbClr val="6B6657"/>
                </a:solidFill>
                <a:latin typeface="Consola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DD7C8"/>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B6657"/>
                </a:solidFill>
                <a:latin typeface="Consola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stacked"/>
        <c:varyColors val="0"/>
        <c:ser>
          <c:idx val="0"/>
          <c:order val="0"/>
          <c:tx>
            <c:strRef>
              <c:f>Sheet1!$B$1</c:f>
              <c:strCache>
                <c:ptCount val="1"/>
                <c:pt idx="0">
                  <c:v>Normal</c:v>
                </c:pt>
              </c:strCache>
            </c:strRef>
          </c:tx>
          <c:spPr>
            <a:solidFill>
              <a:srgbClr val="DDD7C8"/>
            </a:solidFill>
            <a:effectLst/>
          </c:spPr>
          <c:invertIfNegative val="0"/>
          <c:cat>
            <c:strRef>
              <c:f>Sheet1!$A$2:$A$13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Sheet1!$B$2:$B$13</c:f>
              <c:numCache>
                <c:formatCode>General</c:formatCode>
                <c:ptCount val="12"/>
                <c:pt idx="0">
                  <c:v>0</c:v>
                </c:pt>
                <c:pt idx="1">
                  <c:v>3475</c:v>
                </c:pt>
                <c:pt idx="2">
                  <c:v>0</c:v>
                </c:pt>
                <c:pt idx="3">
                  <c:v>3300</c:v>
                </c:pt>
                <c:pt idx="4">
                  <c:v>3427</c:v>
                </c:pt>
                <c:pt idx="5">
                  <c:v>0</c:v>
                </c:pt>
                <c:pt idx="6">
                  <c:v>3453</c:v>
                </c:pt>
                <c:pt idx="7">
                  <c:v>3372</c:v>
                </c:pt>
                <c:pt idx="8">
                  <c:v>0</c:v>
                </c:pt>
                <c:pt idx="9">
                  <c:v>0</c:v>
                </c:pt>
                <c:pt idx="10">
                  <c:v>3464</c:v>
                </c:pt>
                <c:pt idx="11">
                  <c:v>0</c:v>
                </c:pt>
              </c:numCache>
            </c:numRef>
          </c:val>
          <c:extLst>
            <c:ext xmlns:c16="http://schemas.microsoft.com/office/drawing/2014/chart" uri="{C3380CC4-5D6E-409C-BE32-E72D297353CC}">
              <c16:uniqueId val="{00000000-07D0-48DC-A73B-39F44BA84BD9}"/>
            </c:ext>
          </c:extLst>
        </c:ser>
        <c:ser>
          <c:idx val="1"/>
          <c:order val="1"/>
          <c:tx>
            <c:strRef>
              <c:f>Sheet1!$C$1</c:f>
              <c:strCache>
                <c:ptCount val="1"/>
                <c:pt idx="0">
                  <c:v>Resaltado</c:v>
                </c:pt>
              </c:strCache>
            </c:strRef>
          </c:tx>
          <c:spPr>
            <a:solidFill>
              <a:srgbClr val="B8321F"/>
            </a:solidFill>
            <a:effectLst/>
          </c:spPr>
          <c:invertIfNegative val="0"/>
          <c:cat>
            <c:strRef>
              <c:f>Sheet1!$A$2:$A$13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Sheet1!$C$2:$C$13</c:f>
              <c:numCache>
                <c:formatCode>General</c:formatCode>
                <c:ptCount val="12"/>
                <c:pt idx="0">
                  <c:v>3542</c:v>
                </c:pt>
                <c:pt idx="1">
                  <c:v>0</c:v>
                </c:pt>
                <c:pt idx="2">
                  <c:v>3535</c:v>
                </c:pt>
                <c:pt idx="3">
                  <c:v>0</c:v>
                </c:pt>
                <c:pt idx="4">
                  <c:v>0</c:v>
                </c:pt>
                <c:pt idx="5">
                  <c:v>3554</c:v>
                </c:pt>
                <c:pt idx="6">
                  <c:v>0</c:v>
                </c:pt>
                <c:pt idx="7">
                  <c:v>0</c:v>
                </c:pt>
                <c:pt idx="8">
                  <c:v>3530</c:v>
                </c:pt>
                <c:pt idx="9">
                  <c:v>3666</c:v>
                </c:pt>
                <c:pt idx="10">
                  <c:v>0</c:v>
                </c:pt>
                <c:pt idx="11">
                  <c:v>3950</c:v>
                </c:pt>
              </c:numCache>
            </c:numRef>
          </c:val>
          <c:extLst>
            <c:ext xmlns:c16="http://schemas.microsoft.com/office/drawing/2014/chart" uri="{C3380CC4-5D6E-409C-BE32-E72D297353CC}">
              <c16:uniqueId val="{00000001-07D0-48DC-A73B-39F44BA84BD9}"/>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16150F"/>
            </a:solidFill>
            <a:prstDash val="solid"/>
            <a:round/>
          </a:ln>
        </c:spPr>
        <c:txPr>
          <a:bodyPr/>
          <a:lstStyle/>
          <a:p>
            <a:pPr>
              <a:defRPr sz="1000" b="0" i="0" u="none" strike="noStrike">
                <a:solidFill>
                  <a:srgbClr val="6B6657"/>
                </a:solidFill>
                <a:latin typeface="Consolas"/>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DDD7C8"/>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B6657"/>
                </a:solidFill>
                <a:latin typeface="Consola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stacked"/>
        <c:varyColors val="0"/>
        <c:ser>
          <c:idx val="0"/>
          <c:order val="0"/>
          <c:tx>
            <c:strRef>
              <c:f>Sheet1!$B$1</c:f>
              <c:strCache>
                <c:ptCount val="1"/>
                <c:pt idx="0">
                  <c:v>Conductor</c:v>
                </c:pt>
              </c:strCache>
            </c:strRef>
          </c:tx>
          <c:spPr>
            <a:solidFill>
              <a:srgbClr val="B8321F"/>
            </a:solidFill>
            <a:effectLst/>
          </c:spPr>
          <c:invertIfNegative val="0"/>
          <c:dLbls>
            <c:numFmt formatCode="0.0;;;" sourceLinked="0"/>
            <c:spPr>
              <a:noFill/>
              <a:ln>
                <a:noFill/>
              </a:ln>
              <a:effectLst/>
            </c:spPr>
            <c:txPr>
              <a:bodyPr/>
              <a:lstStyle/>
              <a:p>
                <a:pPr>
                  <a:defRPr sz="1000" b="0" i="0" u="none" strike="noStrike">
                    <a:solidFill>
                      <a:srgbClr val="FFFFFF"/>
                    </a:solidFill>
                    <a:latin typeface="Consolas"/>
                  </a:defRPr>
                </a:pPr>
                <a:endParaRPr lang="es-EC"/>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Otras causas</c:v>
                </c:pt>
                <c:pt idx="1">
                  <c:v>Vehículo o vía</c:v>
                </c:pt>
                <c:pt idx="2">
                  <c:v>Clima</c:v>
                </c:pt>
                <c:pt idx="3">
                  <c:v>Imprudencia del peatón</c:v>
                </c:pt>
                <c:pt idx="4">
                  <c:v>Alcohol o drogas</c:v>
                </c:pt>
                <c:pt idx="5">
                  <c:v>Irrespeto a señales</c:v>
                </c:pt>
                <c:pt idx="6">
                  <c:v>Exceso de velocidad</c:v>
                </c:pt>
                <c:pt idx="7">
                  <c:v>Conducción imprudente</c:v>
                </c:pt>
              </c:strCache>
            </c:strRef>
          </c:cat>
          <c:val>
            <c:numRef>
              <c:f>Sheet1!$B$2:$B$9</c:f>
              <c:numCache>
                <c:formatCode>General</c:formatCode>
                <c:ptCount val="8"/>
                <c:pt idx="0">
                  <c:v>0</c:v>
                </c:pt>
                <c:pt idx="1">
                  <c:v>0</c:v>
                </c:pt>
                <c:pt idx="2">
                  <c:v>0</c:v>
                </c:pt>
                <c:pt idx="3">
                  <c:v>0</c:v>
                </c:pt>
                <c:pt idx="4">
                  <c:v>11.7</c:v>
                </c:pt>
                <c:pt idx="5">
                  <c:v>15</c:v>
                </c:pt>
                <c:pt idx="6">
                  <c:v>18.600000000000001</c:v>
                </c:pt>
                <c:pt idx="7">
                  <c:v>40.1</c:v>
                </c:pt>
              </c:numCache>
            </c:numRef>
          </c:val>
          <c:extLst>
            <c:ext xmlns:c16="http://schemas.microsoft.com/office/drawing/2014/chart" uri="{C3380CC4-5D6E-409C-BE32-E72D297353CC}">
              <c16:uniqueId val="{00000000-1D09-4237-B4FC-6CDCB02B698B}"/>
            </c:ext>
          </c:extLst>
        </c:ser>
        <c:ser>
          <c:idx val="1"/>
          <c:order val="1"/>
          <c:tx>
            <c:strRef>
              <c:f>Sheet1!$C$1</c:f>
              <c:strCache>
                <c:ptCount val="1"/>
                <c:pt idx="0">
                  <c:v>Otras</c:v>
                </c:pt>
              </c:strCache>
            </c:strRef>
          </c:tx>
          <c:spPr>
            <a:solidFill>
              <a:srgbClr val="A39D8C"/>
            </a:solidFill>
            <a:effectLst/>
          </c:spPr>
          <c:invertIfNegative val="0"/>
          <c:dLbls>
            <c:numFmt formatCode="0.0;;;" sourceLinked="0"/>
            <c:spPr>
              <a:noFill/>
              <a:ln>
                <a:noFill/>
              </a:ln>
              <a:effectLst/>
            </c:spPr>
            <c:txPr>
              <a:bodyPr/>
              <a:lstStyle/>
              <a:p>
                <a:pPr>
                  <a:defRPr sz="1000" b="0" i="0" u="none" strike="noStrike">
                    <a:solidFill>
                      <a:srgbClr val="FFFFFF"/>
                    </a:solidFill>
                    <a:latin typeface="Consolas"/>
                  </a:defRPr>
                </a:pPr>
                <a:endParaRPr lang="es-EC"/>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Otras causas</c:v>
                </c:pt>
                <c:pt idx="1">
                  <c:v>Vehículo o vía</c:v>
                </c:pt>
                <c:pt idx="2">
                  <c:v>Clima</c:v>
                </c:pt>
                <c:pt idx="3">
                  <c:v>Imprudencia del peatón</c:v>
                </c:pt>
                <c:pt idx="4">
                  <c:v>Alcohol o drogas</c:v>
                </c:pt>
                <c:pt idx="5">
                  <c:v>Irrespeto a señales</c:v>
                </c:pt>
                <c:pt idx="6">
                  <c:v>Exceso de velocidad</c:v>
                </c:pt>
                <c:pt idx="7">
                  <c:v>Conducción imprudente</c:v>
                </c:pt>
              </c:strCache>
            </c:strRef>
          </c:cat>
          <c:val>
            <c:numRef>
              <c:f>Sheet1!$C$2:$C$9</c:f>
              <c:numCache>
                <c:formatCode>General</c:formatCode>
                <c:ptCount val="8"/>
                <c:pt idx="0">
                  <c:v>0.8</c:v>
                </c:pt>
                <c:pt idx="1">
                  <c:v>2.8</c:v>
                </c:pt>
                <c:pt idx="2">
                  <c:v>3.8</c:v>
                </c:pt>
                <c:pt idx="3">
                  <c:v>7.2</c:v>
                </c:pt>
                <c:pt idx="4">
                  <c:v>0</c:v>
                </c:pt>
                <c:pt idx="5">
                  <c:v>0</c:v>
                </c:pt>
                <c:pt idx="6">
                  <c:v>0</c:v>
                </c:pt>
                <c:pt idx="7">
                  <c:v>0</c:v>
                </c:pt>
              </c:numCache>
            </c:numRef>
          </c:val>
          <c:extLst>
            <c:ext xmlns:c16="http://schemas.microsoft.com/office/drawing/2014/chart" uri="{C3380CC4-5D6E-409C-BE32-E72D297353CC}">
              <c16:uniqueId val="{00000001-1D09-4237-B4FC-6CDCB02B698B}"/>
            </c:ext>
          </c:extLst>
        </c:ser>
        <c:dLbls>
          <c:dLblPos val="inEnd"/>
          <c:showLegendKey val="0"/>
          <c:showVal val="1"/>
          <c:showCatName val="0"/>
          <c:showSerName val="0"/>
          <c:showPercent val="0"/>
          <c:showBubbleSize val="0"/>
        </c:dLbls>
        <c:gapWidth val="4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16150F"/>
            </a:solidFill>
            <a:prstDash val="solid"/>
            <a:round/>
          </a:ln>
        </c:spPr>
        <c:txPr>
          <a:bodyPr/>
          <a:lstStyle/>
          <a:p>
            <a:pPr>
              <a:defRPr sz="1100" b="0" i="0" u="none" strike="noStrike">
                <a:solidFill>
                  <a:srgbClr val="3A372F"/>
                </a:solidFill>
                <a:latin typeface="Consolas"/>
              </a:defRPr>
            </a:pPr>
            <a:endParaRPr lang="en-US"/>
          </a:p>
        </c:txPr>
        <c:crossAx val="2094734552"/>
        <c:crosses val="autoZero"/>
        <c:auto val="1"/>
        <c:lblAlgn val="ctr"/>
        <c:lblOffset val="100"/>
        <c:noMultiLvlLbl val="1"/>
      </c:catAx>
      <c:valAx>
        <c:axId val="2094734552"/>
        <c:scaling>
          <c:orientation val="minMax"/>
        </c:scaling>
        <c:delete val="1"/>
        <c:axPos val="b"/>
        <c:numFmt formatCode="#,##0"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Siniestros</c:v>
                </c:pt>
              </c:strCache>
            </c:strRef>
          </c:tx>
          <c:spPr>
            <a:solidFill>
              <a:srgbClr val="16150F"/>
            </a:solidFill>
            <a:effectLst/>
          </c:spPr>
          <c:invertIfNegative val="0"/>
          <c:dLbls>
            <c:numFmt formatCode="#,##0" sourceLinked="0"/>
            <c:spPr>
              <a:noFill/>
              <a:ln>
                <a:noFill/>
              </a:ln>
              <a:effectLst/>
            </c:spPr>
            <c:txPr>
              <a:bodyPr/>
              <a:lstStyle/>
              <a:p>
                <a:pPr>
                  <a:defRPr sz="1000" b="0" i="0" u="none" strike="noStrike">
                    <a:solidFill>
                      <a:srgbClr val="3A372F"/>
                    </a:solidFill>
                    <a:latin typeface="Consolas"/>
                  </a:defRPr>
                </a:pPr>
                <a:endParaRPr lang="es-EC"/>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B. Quevedo</c:v>
                </c:pt>
                <c:pt idx="1">
                  <c:v>Conocoto</c:v>
                </c:pt>
                <c:pt idx="2">
                  <c:v>Ponceano</c:v>
                </c:pt>
                <c:pt idx="3">
                  <c:v>Itchimbía</c:v>
                </c:pt>
                <c:pt idx="4">
                  <c:v>Puengasí</c:v>
                </c:pt>
                <c:pt idx="5">
                  <c:v>Calderón</c:v>
                </c:pt>
                <c:pt idx="6">
                  <c:v>Iñaquito</c:v>
                </c:pt>
                <c:pt idx="7">
                  <c:v>Quitumbe</c:v>
                </c:pt>
              </c:strCache>
            </c:strRef>
          </c:cat>
          <c:val>
            <c:numRef>
              <c:f>Sheet1!$B$2:$B$9</c:f>
              <c:numCache>
                <c:formatCode>General</c:formatCode>
                <c:ptCount val="8"/>
                <c:pt idx="0">
                  <c:v>332</c:v>
                </c:pt>
                <c:pt idx="1">
                  <c:v>355</c:v>
                </c:pt>
                <c:pt idx="2">
                  <c:v>358</c:v>
                </c:pt>
                <c:pt idx="3">
                  <c:v>369</c:v>
                </c:pt>
                <c:pt idx="4">
                  <c:v>407</c:v>
                </c:pt>
                <c:pt idx="5">
                  <c:v>534</c:v>
                </c:pt>
                <c:pt idx="6">
                  <c:v>602</c:v>
                </c:pt>
                <c:pt idx="7">
                  <c:v>680</c:v>
                </c:pt>
              </c:numCache>
            </c:numRef>
          </c:val>
          <c:extLst>
            <c:ext xmlns:c16="http://schemas.microsoft.com/office/drawing/2014/chart" uri="{C3380CC4-5D6E-409C-BE32-E72D297353CC}">
              <c16:uniqueId val="{00000000-321A-4CAC-B903-B030DDB6872B}"/>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16150F"/>
            </a:solidFill>
            <a:prstDash val="solid"/>
            <a:round/>
          </a:ln>
        </c:spPr>
        <c:txPr>
          <a:bodyPr/>
          <a:lstStyle/>
          <a:p>
            <a:pPr>
              <a:defRPr sz="1100" b="0" i="0" u="none" strike="noStrike">
                <a:solidFill>
                  <a:srgbClr val="3A372F"/>
                </a:solidFill>
                <a:latin typeface="Consolas"/>
              </a:defRPr>
            </a:pPr>
            <a:endParaRPr lang="en-US"/>
          </a:p>
        </c:txPr>
        <c:crossAx val="2094734552"/>
        <c:crosses val="autoZero"/>
        <c:auto val="1"/>
        <c:lblAlgn val="ctr"/>
        <c:lblOffset val="100"/>
        <c:noMultiLvlLbl val="1"/>
      </c:catAx>
      <c:valAx>
        <c:axId val="2094734552"/>
        <c:scaling>
          <c:orientation val="minMax"/>
        </c:scaling>
        <c:delete val="1"/>
        <c:axPos val="b"/>
        <c:numFmt formatCode="#,##0"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Letalidad</c:v>
                </c:pt>
              </c:strCache>
            </c:strRef>
          </c:tx>
          <c:spPr>
            <a:solidFill>
              <a:srgbClr val="B8321F"/>
            </a:solidFill>
            <a:effectLst/>
          </c:spPr>
          <c:invertIfNegative val="0"/>
          <c:dLbls>
            <c:numFmt formatCode="0.0" sourceLinked="0"/>
            <c:spPr>
              <a:noFill/>
              <a:ln>
                <a:noFill/>
              </a:ln>
              <a:effectLst/>
            </c:spPr>
            <c:txPr>
              <a:bodyPr/>
              <a:lstStyle/>
              <a:p>
                <a:pPr>
                  <a:defRPr sz="1000" b="0" i="0" u="none" strike="noStrike">
                    <a:solidFill>
                      <a:srgbClr val="3A372F"/>
                    </a:solidFill>
                    <a:latin typeface="Consolas"/>
                  </a:defRPr>
                </a:pPr>
                <a:endParaRPr lang="es-EC"/>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Carcelén</c:v>
                </c:pt>
                <c:pt idx="1">
                  <c:v>Amaguaña</c:v>
                </c:pt>
                <c:pt idx="2">
                  <c:v>Guayllabamba</c:v>
                </c:pt>
                <c:pt idx="3">
                  <c:v>Yaruquí</c:v>
                </c:pt>
                <c:pt idx="4">
                  <c:v>Llano Chico</c:v>
                </c:pt>
                <c:pt idx="5">
                  <c:v>Tababela</c:v>
                </c:pt>
                <c:pt idx="6">
                  <c:v>Píntag</c:v>
                </c:pt>
                <c:pt idx="7">
                  <c:v>Pifo</c:v>
                </c:pt>
              </c:strCache>
            </c:strRef>
          </c:cat>
          <c:val>
            <c:numRef>
              <c:f>Sheet1!$B$2:$B$9</c:f>
              <c:numCache>
                <c:formatCode>General</c:formatCode>
                <c:ptCount val="8"/>
                <c:pt idx="0">
                  <c:v>13.2</c:v>
                </c:pt>
                <c:pt idx="1">
                  <c:v>16.2</c:v>
                </c:pt>
                <c:pt idx="2">
                  <c:v>17.5</c:v>
                </c:pt>
                <c:pt idx="3">
                  <c:v>18</c:v>
                </c:pt>
                <c:pt idx="4">
                  <c:v>18</c:v>
                </c:pt>
                <c:pt idx="5">
                  <c:v>29.5</c:v>
                </c:pt>
                <c:pt idx="6">
                  <c:v>36.4</c:v>
                </c:pt>
                <c:pt idx="7">
                  <c:v>44.9</c:v>
                </c:pt>
              </c:numCache>
            </c:numRef>
          </c:val>
          <c:extLst>
            <c:ext xmlns:c16="http://schemas.microsoft.com/office/drawing/2014/chart" uri="{C3380CC4-5D6E-409C-BE32-E72D297353CC}">
              <c16:uniqueId val="{00000000-36F5-467F-BECD-0F4A6A7EA535}"/>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16150F"/>
            </a:solidFill>
            <a:prstDash val="solid"/>
            <a:round/>
          </a:ln>
        </c:spPr>
        <c:txPr>
          <a:bodyPr/>
          <a:lstStyle/>
          <a:p>
            <a:pPr>
              <a:defRPr sz="1100" b="0" i="0" u="none" strike="noStrike">
                <a:solidFill>
                  <a:srgbClr val="3A372F"/>
                </a:solidFill>
                <a:latin typeface="Consolas"/>
              </a:defRPr>
            </a:pPr>
            <a:endParaRPr lang="en-US"/>
          </a:p>
        </c:txPr>
        <c:crossAx val="2094734552"/>
        <c:crosses val="autoZero"/>
        <c:auto val="1"/>
        <c:lblAlgn val="ctr"/>
        <c:lblOffset val="100"/>
        <c:noMultiLvlLbl val="1"/>
      </c:catAx>
      <c:valAx>
        <c:axId val="2094734552"/>
        <c:scaling>
          <c:orientation val="minMax"/>
        </c:scaling>
        <c:delete val="1"/>
        <c:axPos val="b"/>
        <c:numFmt formatCode="#,##0"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 de siniestros</c:v>
                </c:pt>
              </c:strCache>
            </c:strRef>
          </c:tx>
          <c:spPr>
            <a:solidFill>
              <a:srgbClr val="A39D8C"/>
            </a:solidFill>
            <a:effectLst/>
          </c:spPr>
          <c:invertIfNegative val="0"/>
          <c:dLbls>
            <c:numFmt formatCode="0.0&quot;%&quot;" sourceLinked="0"/>
            <c:spPr>
              <a:noFill/>
              <a:ln>
                <a:noFill/>
              </a:ln>
              <a:effectLst/>
            </c:spPr>
            <c:txPr>
              <a:bodyPr/>
              <a:lstStyle/>
              <a:p>
                <a:pPr>
                  <a:defRPr sz="1100" b="0" i="0" u="none" strike="noStrike">
                    <a:solidFill>
                      <a:srgbClr val="3A372F"/>
                    </a:solidFill>
                    <a:latin typeface="Consolas"/>
                  </a:defRPr>
                </a:pPr>
                <a:endParaRPr lang="es-EC"/>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Urbana</c:v>
                </c:pt>
                <c:pt idx="1">
                  <c:v>Rural</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0-C469-4EB9-81DA-97F672F859D9}"/>
            </c:ext>
          </c:extLst>
        </c:ser>
        <c:ser>
          <c:idx val="1"/>
          <c:order val="1"/>
          <c:tx>
            <c:strRef>
              <c:f>Sheet1!$C$1</c:f>
              <c:strCache>
                <c:ptCount val="1"/>
                <c:pt idx="0">
                  <c:v>% de fallecidos</c:v>
                </c:pt>
              </c:strCache>
            </c:strRef>
          </c:tx>
          <c:spPr>
            <a:solidFill>
              <a:srgbClr val="B8321F"/>
            </a:solidFill>
            <a:effectLst/>
          </c:spPr>
          <c:invertIfNegative val="0"/>
          <c:dLbls>
            <c:numFmt formatCode="0.0&quot;%&quot;" sourceLinked="0"/>
            <c:spPr>
              <a:noFill/>
              <a:ln>
                <a:noFill/>
              </a:ln>
              <a:effectLst/>
            </c:spPr>
            <c:txPr>
              <a:bodyPr/>
              <a:lstStyle/>
              <a:p>
                <a:pPr>
                  <a:defRPr sz="1100" b="0" i="0" u="none" strike="noStrike">
                    <a:solidFill>
                      <a:srgbClr val="3A372F"/>
                    </a:solidFill>
                    <a:latin typeface="Consolas"/>
                  </a:defRPr>
                </a:pPr>
                <a:endParaRPr lang="es-EC"/>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Urbana</c:v>
                </c:pt>
                <c:pt idx="1">
                  <c:v>Rural</c:v>
                </c:pt>
              </c:strCache>
            </c:strRef>
          </c:cat>
          <c:val>
            <c:numRef>
              <c:f>Sheet1!$C$2:$C$3</c:f>
              <c:numCache>
                <c:formatCode>General</c:formatCode>
                <c:ptCount val="2"/>
                <c:pt idx="0">
                  <c:v>63.2</c:v>
                </c:pt>
                <c:pt idx="1">
                  <c:v>36.799999999999997</c:v>
                </c:pt>
              </c:numCache>
            </c:numRef>
          </c:val>
          <c:extLst>
            <c:ext xmlns:c16="http://schemas.microsoft.com/office/drawing/2014/chart" uri="{C3380CC4-5D6E-409C-BE32-E72D297353CC}">
              <c16:uniqueId val="{00000001-C469-4EB9-81DA-97F672F859D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16150F"/>
            </a:solidFill>
            <a:prstDash val="solid"/>
            <a:round/>
          </a:ln>
        </c:spPr>
        <c:txPr>
          <a:bodyPr/>
          <a:lstStyle/>
          <a:p>
            <a:pPr>
              <a:defRPr sz="1300" b="0" i="0" u="none" strike="noStrike">
                <a:solidFill>
                  <a:srgbClr val="16150F"/>
                </a:solidFill>
                <a:latin typeface="Consolas"/>
              </a:defRPr>
            </a:pPr>
            <a:endParaRPr lang="en-US"/>
          </a:p>
        </c:txPr>
        <c:crossAx val="2094734552"/>
        <c:crosses val="autoZero"/>
        <c:auto val="1"/>
        <c:lblAlgn val="ctr"/>
        <c:lblOffset val="100"/>
        <c:noMultiLvlLbl val="1"/>
      </c:catAx>
      <c:valAx>
        <c:axId val="2094734552"/>
        <c:scaling>
          <c:orientation val="minMax"/>
          <c:max val="100"/>
        </c:scaling>
        <c:delete val="1"/>
        <c:axPos val="l"/>
        <c:numFmt formatCode="#,##0"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000">
              <a:solidFill>
                <a:srgbClr val="3A372F"/>
              </a:solidFill>
              <a:latin typeface="Consolas"/>
              <a:cs typeface="Consolas"/>
            </a:defRPr>
          </a:pPr>
          <a:endParaRPr lang="en-US"/>
        </a:p>
      </c:txPr>
    </c:legend>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stacked"/>
        <c:varyColors val="0"/>
        <c:ser>
          <c:idx val="0"/>
          <c:order val="0"/>
          <c:tx>
            <c:strRef>
              <c:f>Sheet1!$B$1</c:f>
              <c:strCache>
                <c:ptCount val="1"/>
                <c:pt idx="0">
                  <c:v>Normal</c:v>
                </c:pt>
              </c:strCache>
            </c:strRef>
          </c:tx>
          <c:spPr>
            <a:solidFill>
              <a:srgbClr val="16150F"/>
            </a:solidFill>
            <a:effectLst/>
          </c:spPr>
          <c:invertIfNegative val="0"/>
          <c:cat>
            <c:strRef>
              <c:f>Sheet1!$A$2:$A$20</c:f>
              <c:strCache>
                <c:ptCount val="19"/>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strCache>
            </c:strRef>
          </c:cat>
          <c:val>
            <c:numRef>
              <c:f>Sheet1!$B$2:$B$20</c:f>
              <c:numCache>
                <c:formatCode>General</c:formatCode>
                <c:ptCount val="19"/>
                <c:pt idx="0">
                  <c:v>127</c:v>
                </c:pt>
                <c:pt idx="1">
                  <c:v>257</c:v>
                </c:pt>
                <c:pt idx="2">
                  <c:v>266</c:v>
                </c:pt>
                <c:pt idx="3">
                  <c:v>695</c:v>
                </c:pt>
                <c:pt idx="4">
                  <c:v>0</c:v>
                </c:pt>
                <c:pt idx="5">
                  <c:v>0</c:v>
                </c:pt>
                <c:pt idx="6">
                  <c:v>0</c:v>
                </c:pt>
                <c:pt idx="7">
                  <c:v>2284</c:v>
                </c:pt>
                <c:pt idx="8">
                  <c:v>1822</c:v>
                </c:pt>
                <c:pt idx="9">
                  <c:v>1475</c:v>
                </c:pt>
                <c:pt idx="10">
                  <c:v>1091</c:v>
                </c:pt>
                <c:pt idx="11">
                  <c:v>865</c:v>
                </c:pt>
                <c:pt idx="12">
                  <c:v>694</c:v>
                </c:pt>
                <c:pt idx="13">
                  <c:v>519</c:v>
                </c:pt>
                <c:pt idx="14">
                  <c:v>348</c:v>
                </c:pt>
                <c:pt idx="15">
                  <c:v>227</c:v>
                </c:pt>
                <c:pt idx="16">
                  <c:v>103</c:v>
                </c:pt>
                <c:pt idx="17">
                  <c:v>51</c:v>
                </c:pt>
                <c:pt idx="18">
                  <c:v>19</c:v>
                </c:pt>
              </c:numCache>
            </c:numRef>
          </c:val>
          <c:extLst>
            <c:ext xmlns:c16="http://schemas.microsoft.com/office/drawing/2014/chart" uri="{C3380CC4-5D6E-409C-BE32-E72D297353CC}">
              <c16:uniqueId val="{00000000-5A56-4C6B-8C44-4AA81C3B22A2}"/>
            </c:ext>
          </c:extLst>
        </c:ser>
        <c:ser>
          <c:idx val="1"/>
          <c:order val="1"/>
          <c:tx>
            <c:strRef>
              <c:f>Sheet1!$C$1</c:f>
              <c:strCache>
                <c:ptCount val="1"/>
                <c:pt idx="0">
                  <c:v>Resaltado</c:v>
                </c:pt>
              </c:strCache>
            </c:strRef>
          </c:tx>
          <c:spPr>
            <a:solidFill>
              <a:srgbClr val="B8321F"/>
            </a:solidFill>
            <a:effectLst/>
          </c:spPr>
          <c:invertIfNegative val="0"/>
          <c:cat>
            <c:strRef>
              <c:f>Sheet1!$A$2:$A$20</c:f>
              <c:strCache>
                <c:ptCount val="19"/>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strCache>
            </c:strRef>
          </c:cat>
          <c:val>
            <c:numRef>
              <c:f>Sheet1!$C$2:$C$20</c:f>
              <c:numCache>
                <c:formatCode>General</c:formatCode>
                <c:ptCount val="19"/>
                <c:pt idx="0">
                  <c:v>0</c:v>
                </c:pt>
                <c:pt idx="1">
                  <c:v>0</c:v>
                </c:pt>
                <c:pt idx="2">
                  <c:v>0</c:v>
                </c:pt>
                <c:pt idx="3">
                  <c:v>0</c:v>
                </c:pt>
                <c:pt idx="4">
                  <c:v>2498</c:v>
                </c:pt>
                <c:pt idx="5">
                  <c:v>2843</c:v>
                </c:pt>
                <c:pt idx="6">
                  <c:v>2670</c:v>
                </c:pt>
                <c:pt idx="7">
                  <c:v>0</c:v>
                </c:pt>
                <c:pt idx="8">
                  <c:v>0</c:v>
                </c:pt>
                <c:pt idx="9">
                  <c:v>0</c:v>
                </c:pt>
                <c:pt idx="10">
                  <c:v>0</c:v>
                </c:pt>
                <c:pt idx="11">
                  <c:v>0</c:v>
                </c:pt>
                <c:pt idx="12">
                  <c:v>0</c:v>
                </c:pt>
                <c:pt idx="13">
                  <c:v>0</c:v>
                </c:pt>
                <c:pt idx="14">
                  <c:v>0</c:v>
                </c:pt>
                <c:pt idx="15">
                  <c:v>0</c:v>
                </c:pt>
                <c:pt idx="16">
                  <c:v>0</c:v>
                </c:pt>
                <c:pt idx="17">
                  <c:v>0</c:v>
                </c:pt>
                <c:pt idx="18">
                  <c:v>0</c:v>
                </c:pt>
              </c:numCache>
            </c:numRef>
          </c:val>
          <c:extLst>
            <c:ext xmlns:c16="http://schemas.microsoft.com/office/drawing/2014/chart" uri="{C3380CC4-5D6E-409C-BE32-E72D297353CC}">
              <c16:uniqueId val="{00000001-5A56-4C6B-8C44-4AA81C3B22A2}"/>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16150F"/>
            </a:solidFill>
            <a:prstDash val="solid"/>
            <a:round/>
          </a:ln>
        </c:spPr>
        <c:txPr>
          <a:bodyPr/>
          <a:lstStyle/>
          <a:p>
            <a:pPr>
              <a:defRPr sz="900" b="0" i="0" u="none" strike="noStrike">
                <a:solidFill>
                  <a:srgbClr val="6B6657"/>
                </a:solidFill>
                <a:latin typeface="Consola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DD7C8"/>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B6657"/>
                </a:solidFill>
                <a:latin typeface="Consola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stacked"/>
        <c:varyColors val="0"/>
        <c:ser>
          <c:idx val="0"/>
          <c:order val="0"/>
          <c:tx>
            <c:strRef>
              <c:f>Sheet1!$B$1</c:f>
              <c:strCache>
                <c:ptCount val="1"/>
                <c:pt idx="0">
                  <c:v>Moto</c:v>
                </c:pt>
              </c:strCache>
            </c:strRef>
          </c:tx>
          <c:spPr>
            <a:solidFill>
              <a:srgbClr val="B8321F"/>
            </a:solidFill>
            <a:effectLst/>
          </c:spPr>
          <c:invertIfNegative val="0"/>
          <c:dLbls>
            <c:numFmt formatCode="#,##0;;;" sourceLinked="0"/>
            <c:spPr>
              <a:noFill/>
              <a:ln>
                <a:noFill/>
              </a:ln>
              <a:effectLst/>
            </c:spPr>
            <c:txPr>
              <a:bodyPr/>
              <a:lstStyle/>
              <a:p>
                <a:pPr>
                  <a:defRPr sz="950" b="0" i="0" u="none" strike="noStrike">
                    <a:solidFill>
                      <a:srgbClr val="FFFFFF"/>
                    </a:solidFill>
                    <a:latin typeface="Consolas"/>
                  </a:defRPr>
                </a:pPr>
                <a:endParaRPr lang="es-EC"/>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Camión</c:v>
                </c:pt>
                <c:pt idx="1">
                  <c:v>Bus</c:v>
                </c:pt>
                <c:pt idx="2">
                  <c:v>No identificado</c:v>
                </c:pt>
                <c:pt idx="3">
                  <c:v>Camioneta</c:v>
                </c:pt>
                <c:pt idx="4">
                  <c:v>Motocicleta</c:v>
                </c:pt>
                <c:pt idx="5">
                  <c:v>Automóvil</c:v>
                </c:pt>
              </c:strCache>
            </c:strRef>
          </c:cat>
          <c:val>
            <c:numRef>
              <c:f>Sheet1!$B$2:$B$7</c:f>
              <c:numCache>
                <c:formatCode>General</c:formatCode>
                <c:ptCount val="6"/>
                <c:pt idx="0">
                  <c:v>0</c:v>
                </c:pt>
                <c:pt idx="1">
                  <c:v>0</c:v>
                </c:pt>
                <c:pt idx="2">
                  <c:v>0</c:v>
                </c:pt>
                <c:pt idx="3">
                  <c:v>0</c:v>
                </c:pt>
                <c:pt idx="4">
                  <c:v>2995</c:v>
                </c:pt>
                <c:pt idx="5">
                  <c:v>0</c:v>
                </c:pt>
              </c:numCache>
            </c:numRef>
          </c:val>
          <c:extLst>
            <c:ext xmlns:c16="http://schemas.microsoft.com/office/drawing/2014/chart" uri="{C3380CC4-5D6E-409C-BE32-E72D297353CC}">
              <c16:uniqueId val="{00000000-C780-4740-97F1-10CFA8391A53}"/>
            </c:ext>
          </c:extLst>
        </c:ser>
        <c:ser>
          <c:idx val="1"/>
          <c:order val="1"/>
          <c:tx>
            <c:strRef>
              <c:f>Sheet1!$C$1</c:f>
              <c:strCache>
                <c:ptCount val="1"/>
                <c:pt idx="0">
                  <c:v>Otros</c:v>
                </c:pt>
              </c:strCache>
            </c:strRef>
          </c:tx>
          <c:spPr>
            <a:solidFill>
              <a:srgbClr val="16150F"/>
            </a:solidFill>
            <a:effectLst/>
          </c:spPr>
          <c:invertIfNegative val="0"/>
          <c:dLbls>
            <c:numFmt formatCode="#,##0;;;" sourceLinked="0"/>
            <c:spPr>
              <a:noFill/>
              <a:ln>
                <a:noFill/>
              </a:ln>
              <a:effectLst/>
            </c:spPr>
            <c:txPr>
              <a:bodyPr/>
              <a:lstStyle/>
              <a:p>
                <a:pPr>
                  <a:defRPr sz="950" b="0" i="0" u="none" strike="noStrike">
                    <a:solidFill>
                      <a:srgbClr val="FFFFFF"/>
                    </a:solidFill>
                    <a:latin typeface="Consolas"/>
                  </a:defRPr>
                </a:pPr>
                <a:endParaRPr lang="es-EC"/>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Camión</c:v>
                </c:pt>
                <c:pt idx="1">
                  <c:v>Bus</c:v>
                </c:pt>
                <c:pt idx="2">
                  <c:v>No identificado</c:v>
                </c:pt>
                <c:pt idx="3">
                  <c:v>Camioneta</c:v>
                </c:pt>
                <c:pt idx="4">
                  <c:v>Motocicleta</c:v>
                </c:pt>
                <c:pt idx="5">
                  <c:v>Automóvil</c:v>
                </c:pt>
              </c:strCache>
            </c:strRef>
          </c:cat>
          <c:val>
            <c:numRef>
              <c:f>Sheet1!$C$2:$C$7</c:f>
              <c:numCache>
                <c:formatCode>General</c:formatCode>
                <c:ptCount val="6"/>
                <c:pt idx="0">
                  <c:v>795</c:v>
                </c:pt>
                <c:pt idx="1">
                  <c:v>824</c:v>
                </c:pt>
                <c:pt idx="2">
                  <c:v>1314</c:v>
                </c:pt>
                <c:pt idx="3">
                  <c:v>1529</c:v>
                </c:pt>
                <c:pt idx="4">
                  <c:v>0</c:v>
                </c:pt>
                <c:pt idx="5">
                  <c:v>9367</c:v>
                </c:pt>
              </c:numCache>
            </c:numRef>
          </c:val>
          <c:extLst>
            <c:ext xmlns:c16="http://schemas.microsoft.com/office/drawing/2014/chart" uri="{C3380CC4-5D6E-409C-BE32-E72D297353CC}">
              <c16:uniqueId val="{00000001-C780-4740-97F1-10CFA8391A53}"/>
            </c:ext>
          </c:extLst>
        </c:ser>
        <c:dLbls>
          <c:dLblPos val="inEnd"/>
          <c:showLegendKey val="0"/>
          <c:showVal val="1"/>
          <c:showCatName val="0"/>
          <c:showSerName val="0"/>
          <c:showPercent val="0"/>
          <c:showBubbleSize val="0"/>
        </c:dLbls>
        <c:gapWidth val="4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16150F"/>
            </a:solidFill>
            <a:prstDash val="solid"/>
            <a:round/>
          </a:ln>
        </c:spPr>
        <c:txPr>
          <a:bodyPr/>
          <a:lstStyle/>
          <a:p>
            <a:pPr>
              <a:defRPr sz="1100" b="0" i="0" u="none" strike="noStrike">
                <a:solidFill>
                  <a:srgbClr val="3A372F"/>
                </a:solidFill>
                <a:latin typeface="Consolas"/>
              </a:defRPr>
            </a:pPr>
            <a:endParaRPr lang="en-US"/>
          </a:p>
        </c:txPr>
        <c:crossAx val="2094734552"/>
        <c:crosses val="autoZero"/>
        <c:auto val="1"/>
        <c:lblAlgn val="ctr"/>
        <c:lblOffset val="100"/>
        <c:noMultiLvlLbl val="1"/>
      </c:catAx>
      <c:valAx>
        <c:axId val="2094734552"/>
        <c:scaling>
          <c:orientation val="minMax"/>
        </c:scaling>
        <c:delete val="1"/>
        <c:axPos val="b"/>
        <c:numFmt formatCode="#,##0"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3673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proyecto y al equipo. Frase de apertura: analizamos casi 45 mil siniestros de tránsito ocurridos en Quito entre 2017 y 2026, en los que fallecieron 2.741 personas, para identificar las zonas y los horarios de mayor riesgo.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toma todos los siniestros oficiales de Quito de casi diez años y los analiza desde tres preguntas: dónde ocurren, cuándo ocurren y qué tan graves son. Con esas respuestas construimos un dashboard que muestra el riesgo por zona, día y hora.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números muestran la magnitud del problema. Desde 2017 fallecieron 2.741 personas, lo que equivale a una muerte cada 31 horas. Y lo más preocupante: aunque los siniestros bajaron, su letalidad casi se triplicó. La situación que queremos comprender es por qué y dónde los siniestros se volvieron más graves.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en Quito existen controles y campañas, pero los reportes solo describen lo que ya ocurrió. No hay una herramienta que diga en qué zonas y horarios es más probable que ocurra un siniestro. Por eso nuestro objetivo general es integrar los datos de siniestros con su ubicación, horario y clima para identificar las zonas de mayor riesgo y estimar el riesgo por zona y franja horaria.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cada objetivo con su pregunta. Uno: preparar los datos. Dos: encontrar patrones de tiempo y lugar, que responde qué zonas, horas y días tienen más riesgo. Tres: cruzar con el clima, que responde si la lluvia influye. Cuatro: el modelo predictivo. Cinco: el dashboard, validado con la Avenida Simón Bolívar.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fuentes principales son el INEC, que publica los siniestros de 2017 a 2023, y la Agencia Nacional de Tránsito, que publica los de 2024 a 2026 con hora exacta y coordenadas. Para ubicar cada siniestro usamos los límites oficiales de parroquias de GeoQuito, y para el clima, los registros por hora de la REMMAQ y de Open-Meteo.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final tiene 44.982 registros y 32 variables; después de transformarla quedaron 39. Abarca de enero de 2017 a agosto de 2026, por eso 2026 se trata como año parcial. Solo los siniestros de 2024 a 2026 tienen coordenadas: 10.272. Las variables se agrupan en tiempo, lugar, gravedad y causa, y personas y clima.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los pasos en orden. Primero descargamos las bases oficiales y las unimos en un solo archivo. Luego dejamos solo los siniestros del cantón Quito. En la limpieza revisamos duplicados, valores no disponibles, fechas y coordenadas mal registradas, como las de diciembre de 2024. En la transformación creamos variables nuevas como fin de semana o gravedad. Y con eso hicimos el análisis.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Herramientas: Python con pandas y NumPy para manejar los datos, Matplotlib para los gráficos, scikit-learn para el clustering, folium para los mapas y Streamlit con Plotly para el dashboard. Técnicas: la media dice que cada siniestro deja en promedio 0,66 víctimas; la moda, que el día y la hora que más se repiten son el sábado y las 07:00; la mediana de la hora es las 12:00; y la desviación estándar de 6,68 horas muestra que los siniestros se reparten durante todo el día. También usamos correlación de Pearson y K-Means.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los siniestros por año: bajan de 8.810 en 2017 a unos 4.000 desde 2021; la caída de 2020 es por la pandemia y 2026 solo llega hasta agosto. A la derecha, la letalidad: los fallecidos por cada mil siniestros suben de 31 a 85. Es decir, hay menos siniestros, pero cada uno es casi tres veces más mortal.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gráfico muestra cuántos siniestros ocurrieron en cada hora del día, sumando todos los años. Hay dos picos, en rojo: las 07:00, con 2.535 siniestros, y las 19:00, con 2.317. Coinciden con la entrada y la salida del trabajo. La hora más tranquila es las 04:00, con la mitad de siniestros que las 07:00.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siniestros se mantienen estables de lunes a miércoles, suben desde el jueves y llegan al máximo el sábado, con 8.380, un 57 % más que el lunes. Este patrón se repitió en los nueve años completos analizados: el sábado siempre fue el día con más siniestros.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mapa de calor cruza el día de la semana con la hora: mientras más oscuro el cuadro, más siniestros. Las ocho casillas más altas están en rojo. Siete de ellas son la madrugada del sábado y del domingo, es decir, la noche del viernes y del sábado. Además, la madrugada es la franja más mortal: 8,9 fallecidos por cada 100 siniestros.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sumamos los siniestros de cada mes de 2017 a 2025; no se incluye 2026 porque es un año incompleto. En rojo, los meses que superan el promedio de 3.522. Diciembre es el único que se aleja claramente, con 3.950. Por eso, para predecir el riesgo, el mes pesa mucho menos que la hora y el día.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Agrupamos las causas en familias, porque el INEC y la ANT las nombran distinto. Las cuatro primeras, en rojo, dependen directamente del conductor y suman el 85,5 %. El clima o el estado de la vía y del vehículo explican muy pocos casos. A la derecha, la gravedad: la mitad solo deja daños materiales, pero el 5,6 % tiene al menos un fallecido.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datos son de 2024 a 2026, porque solo esos años tienen ubicación. A la izquierda, las parroquias con más siniestros: Quitumbe, Iñaquito y Calderón, todas urbanas. A la derecha, las más mortales, contando solo parroquias con al menos 30 siniestros: Pifo encabeza con 44,9 fallecidos por cada 100 siniestros, casi la mitad. Las parroquias de las dos listas son distintas: cantidad y gravedad no van juntas.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Comparamos la zona urbana con la rural. La urbana tiene el 80 % de los siniestros, pero la rural, con solo el 20 %, tiene el 37 % de los fallecidos. Su letalidad es de 11,2 fallecidos por cada 100 siniestros, contra 4,8 en la ciudad: 2,3 veces más. Una explicación posible es que en la ciudad el tráfico es lento, y en la zona rural hay vías rápidas.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datos existen desde 2024. A la izquierda, la edad de las personas involucradas: el grupo de 20 a 34 años, en rojo, reúne el 42,5 %. Además, tres de cada cuatro personas identificadas son hombres. A la derecha, los vehículos: el automóvil es el más frecuente, pero la motocicleta es la más peligrosa: sus siniestros tienen 14,1 fallecidos por cada 100, frente a 6,0 cuando no hay moto.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mapas hechos con folium. A la izquierda, cada círculo es una parroquia: el tamaño indica cuántos siniestros tiene y el color, su grupo; las rojas, las más mortales, quedan fuera de la ciudad. A la derecha, cada punto es un siniestro mortal, 793 en total: fuera de la ciudad forman líneas que siguen las carreteras, como la Panamericana.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dashboard, hecho en Python con Streamlit y Plotly. Tiene siete secciones: resumen, mapa de riesgo, cuándo ocurren, causas y perfil, grupos de riesgo, simulador y datos. Todo se filtra por año y por zona. Si se tiene tiempo, se puede mostrar en vivo con el comando streamlit run 12_dashboard.py.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índice compara cuántos siniestros hubo históricamente en ese día y esa hora con una hora promedio de la misma zona: 5 es una hora normal y 10 es el doble o más. Ejemplo de la captura: un sábado a las 19:00 en zona urbana da 7,3, riesgo alto. El más crítico en la ciudad es el sábado a las 02:00, con 9,1. Aclarar que es un índice histórico; el modelo Random Forest queda para la siguiente fase.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Resumir los hallazgos en orden: los siniestros son 2,7 veces más mortales que en 2017; hay dos horas pico, 07:00 y 19:00; el fin de semana concentra el 34,5 %; la zona rural es 2,3 veces más mortal; el conductor explica el 85,5 %. Y lo que más nos sorprendió: en Pifo mueren casi 45 personas por cada 100 siniestros, casi uno de cada dos.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 honestos aquí. Los objetivos uno, dos, tres y cinco están cumplidos: la base está limpia, encontramos los patrones, cruzamos con el clima y vimos que la lluvia no aumenta la gravedad, y el dashboard funciona y se validó con la Avenida Simón Bolívar, donde la hora con más siniestros, las 07:00, coincide con riesgo alto en el simulador. El modelo Random Forest todavía no está entrenado: el simulador usa un índice histórico, y el modelo es el siguiente paso.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ideas para cerrar. Uno, la gravedad es el verdadero problema. Dos, el riesgo tiene horario: horas pico y madrugadas de fin de semana. Tres, el riesgo tiene lugar: la cantidad está en Quitumbe, Iñaquito y Calderón, y la gravedad en parroquias rurales como Pifo. Cuatro, la mayoría de siniestros depende del conductor, y la lluvia no aumenta su gravedad.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Recomendaciones concretas que salen de los datos: controlar la velocidad en los corredores rurales más mortales, hacer operativos de alcohol y velocidad en la madrugada del fin de semana, proteger a motociclistas y peatones, y completar el modelo predictivo para usar el dashboard como herramienta de seguimiento. Cerrar agradeciendo y abrir preguntas.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kern="0" spc="200" dirty="0">
                <a:solidFill>
                  <a:srgbClr val="6B6657"/>
                </a:solidFill>
                <a:latin typeface="Consolas" pitchFamily="34" charset="0"/>
                <a:ea typeface="Consolas" pitchFamily="34" charset="-122"/>
                <a:cs typeface="Consolas" pitchFamily="34" charset="-120"/>
              </a:rPr>
              <a:t>SINIESTROS DE TRÁNSITO EN QUITO · ITQ 2026</a:t>
            </a:r>
            <a:endParaRPr lang="en-US" sz="9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1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chart" Target="../charts/char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7315200" cy="274320"/>
          </a:xfrm>
          <a:prstGeom prst="rect">
            <a:avLst/>
          </a:prstGeom>
          <a:noFill/>
          <a:ln/>
        </p:spPr>
        <p:txBody>
          <a:bodyPr wrap="square" lIns="0" tIns="0" rIns="0" bIns="0" rtlCol="0" anchor="ctr"/>
          <a:lstStyle/>
          <a:p>
            <a:pPr marL="0" indent="0">
              <a:buNone/>
            </a:pPr>
            <a:r>
              <a:rPr lang="en-US" sz="1100" kern="0" spc="300" dirty="0">
                <a:solidFill>
                  <a:srgbClr val="9E978A"/>
                </a:solidFill>
                <a:latin typeface="Consolas" pitchFamily="34" charset="0"/>
                <a:ea typeface="Consolas" pitchFamily="34" charset="-122"/>
                <a:cs typeface="Consolas" pitchFamily="34" charset="-120"/>
              </a:rPr>
              <a:t>CIENCIA Y ANÁLISIS DE DATOS · 16 DE OCTUBRE DE 2026</a:t>
            </a:r>
            <a:endParaRPr lang="en-US" sz="1100" dirty="0"/>
          </a:p>
        </p:txBody>
      </p:sp>
      <p:sp>
        <p:nvSpPr>
          <p:cNvPr id="3" name="titulo"/>
          <p:cNvSpPr txBox="1"/>
          <p:nvPr/>
        </p:nvSpPr>
        <p:spPr>
          <a:xfrm>
            <a:off x="640080" y="1051560"/>
            <a:ext cx="7680960" cy="2103120"/>
          </a:xfrm>
          <a:prstGeom prst="rect">
            <a:avLst/>
          </a:prstGeom>
          <a:noFill/>
          <a:ln/>
        </p:spPr>
        <p:txBody>
          <a:bodyPr wrap="square" lIns="0" tIns="0" rIns="0" bIns="0" rtlCol="0" anchor="t"/>
          <a:lstStyle/>
          <a:p>
            <a:pPr marL="0" indent="0">
              <a:buNone/>
            </a:pPr>
            <a:r>
              <a:rPr lang="en-US" sz="5000" dirty="0">
                <a:solidFill>
                  <a:srgbClr val="F1EEE6"/>
                </a:solidFill>
                <a:latin typeface="Bahnschrift SemiBold Condensed" pitchFamily="34" charset="0"/>
                <a:ea typeface="Bahnschrift SemiBold Condensed" pitchFamily="34" charset="-122"/>
                <a:cs typeface="Bahnschrift SemiBold Condensed" pitchFamily="34" charset="-120"/>
              </a:rPr>
              <a:t>ANÁLISIS PREDICTIVO DE ACCIDENTES DE TRÁNSITO EN </a:t>
            </a:r>
            <a:r>
              <a:rPr lang="en-US" sz="5000" dirty="0">
                <a:solidFill>
                  <a:srgbClr val="E2563E"/>
                </a:solidFill>
                <a:latin typeface="Bahnschrift SemiBold Condensed" pitchFamily="34" charset="0"/>
                <a:ea typeface="Bahnschrift SemiBold Condensed" pitchFamily="34" charset="-122"/>
                <a:cs typeface="Bahnschrift SemiBold Condensed" pitchFamily="34" charset="-120"/>
              </a:rPr>
              <a:t>QUITO</a:t>
            </a:r>
            <a:endParaRPr lang="en-US" sz="5000" dirty="0"/>
          </a:p>
        </p:txBody>
      </p:sp>
      <p:sp>
        <p:nvSpPr>
          <p:cNvPr id="4" name="Text 2"/>
          <p:cNvSpPr txBox="1"/>
          <p:nvPr/>
        </p:nvSpPr>
        <p:spPr>
          <a:xfrm>
            <a:off x="640080" y="2697480"/>
            <a:ext cx="7315200" cy="457200"/>
          </a:xfrm>
          <a:prstGeom prst="rect">
            <a:avLst/>
          </a:prstGeom>
          <a:noFill/>
          <a:ln/>
        </p:spPr>
        <p:txBody>
          <a:bodyPr wrap="square" lIns="0" tIns="0" rIns="0" bIns="0" rtlCol="0" anchor="ctr"/>
          <a:lstStyle/>
          <a:p>
            <a:pPr marL="0" indent="0">
              <a:buNone/>
            </a:pPr>
            <a:r>
              <a:rPr lang="en-US" sz="2100" i="1" dirty="0">
                <a:solidFill>
                  <a:srgbClr val="C9C2B0"/>
                </a:solidFill>
                <a:latin typeface="Georgia" pitchFamily="34" charset="0"/>
                <a:ea typeface="Georgia" pitchFamily="34" charset="-122"/>
                <a:cs typeface="Georgia" pitchFamily="34" charset="-120"/>
              </a:rPr>
              <a:t>para la identificación de zonas de mayor riesgo</a:t>
            </a:r>
            <a:endParaRPr lang="en-US" sz="2100" dirty="0"/>
          </a:p>
        </p:txBody>
      </p:sp>
      <p:sp>
        <p:nvSpPr>
          <p:cNvPr id="5" name="Text 3"/>
          <p:cNvSpPr txBox="1"/>
          <p:nvPr/>
        </p:nvSpPr>
        <p:spPr>
          <a:xfrm>
            <a:off x="640080" y="4206240"/>
            <a:ext cx="3657600" cy="274320"/>
          </a:xfrm>
          <a:prstGeom prst="rect">
            <a:avLst/>
          </a:prstGeom>
          <a:noFill/>
          <a:ln/>
        </p:spPr>
        <p:txBody>
          <a:bodyPr wrap="square" lIns="0" tIns="0" rIns="0" bIns="0" rtlCol="0" anchor="ctr"/>
          <a:lstStyle/>
          <a:p>
            <a:pPr marL="0" indent="0">
              <a:buNone/>
            </a:pPr>
            <a:r>
              <a:rPr lang="en-US" sz="1000" kern="0" spc="300" dirty="0">
                <a:solidFill>
                  <a:srgbClr val="9E978A"/>
                </a:solidFill>
                <a:latin typeface="Consolas" pitchFamily="34" charset="0"/>
                <a:ea typeface="Consolas" pitchFamily="34" charset="-122"/>
                <a:cs typeface="Consolas" pitchFamily="34" charset="-120"/>
              </a:rPr>
              <a:t>INTEGRANTES</a:t>
            </a:r>
            <a:endParaRPr lang="en-US" sz="1000" dirty="0"/>
          </a:p>
        </p:txBody>
      </p:sp>
      <p:sp>
        <p:nvSpPr>
          <p:cNvPr id="6" name="Text 4"/>
          <p:cNvSpPr txBox="1"/>
          <p:nvPr/>
        </p:nvSpPr>
        <p:spPr>
          <a:xfrm>
            <a:off x="640080" y="4526280"/>
            <a:ext cx="3840480" cy="1188720"/>
          </a:xfrm>
          <a:prstGeom prst="rect">
            <a:avLst/>
          </a:prstGeom>
          <a:noFill/>
          <a:ln/>
        </p:spPr>
        <p:txBody>
          <a:bodyPr wrap="square" lIns="0" tIns="0" rIns="0" bIns="0" rtlCol="0" anchor="t"/>
          <a:lstStyle/>
          <a:p>
            <a:pPr marL="0" indent="0">
              <a:spcAft>
                <a:spcPts val="200"/>
              </a:spcAft>
              <a:buNone/>
            </a:pPr>
            <a:r>
              <a:rPr lang="en-US" sz="2400" dirty="0">
                <a:solidFill>
                  <a:srgbClr val="F1EEE6"/>
                </a:solidFill>
                <a:latin typeface="Bahnschrift SemiBold Condensed" pitchFamily="34" charset="0"/>
                <a:ea typeface="Bahnschrift SemiBold Condensed" pitchFamily="34" charset="-122"/>
                <a:cs typeface="Bahnschrift SemiBold Condensed" pitchFamily="34" charset="-120"/>
              </a:rPr>
              <a:t>Maximiliano Parra</a:t>
            </a:r>
            <a:endParaRPr lang="en-US" sz="2400" dirty="0"/>
          </a:p>
          <a:p>
            <a:pPr marL="0" indent="0">
              <a:spcAft>
                <a:spcPts val="200"/>
              </a:spcAft>
              <a:buNone/>
            </a:pPr>
            <a:r>
              <a:rPr lang="en-US" sz="2400" dirty="0">
                <a:solidFill>
                  <a:srgbClr val="F1EEE6"/>
                </a:solidFill>
                <a:latin typeface="Bahnschrift SemiBold Condensed" pitchFamily="34" charset="0"/>
                <a:ea typeface="Bahnschrift SemiBold Condensed" pitchFamily="34" charset="-122"/>
                <a:cs typeface="Bahnschrift SemiBold Condensed" pitchFamily="34" charset="-120"/>
              </a:rPr>
              <a:t>Jonathan Larraga</a:t>
            </a:r>
            <a:endParaRPr lang="en-US" sz="2400" dirty="0"/>
          </a:p>
          <a:p>
            <a:pPr marL="0" indent="0">
              <a:spcAft>
                <a:spcPts val="200"/>
              </a:spcAft>
              <a:buNone/>
            </a:pPr>
            <a:r>
              <a:rPr lang="en-US" sz="2400" dirty="0">
                <a:solidFill>
                  <a:srgbClr val="F1EEE6"/>
                </a:solidFill>
                <a:latin typeface="Bahnschrift SemiBold Condensed" pitchFamily="34" charset="0"/>
                <a:ea typeface="Bahnschrift SemiBold Condensed" pitchFamily="34" charset="-122"/>
                <a:cs typeface="Bahnschrift SemiBold Condensed" pitchFamily="34" charset="-120"/>
              </a:rPr>
              <a:t>Ariel Pilliza</a:t>
            </a:r>
            <a:endParaRPr lang="en-US" sz="2400" dirty="0"/>
          </a:p>
        </p:txBody>
      </p:sp>
      <p:sp>
        <p:nvSpPr>
          <p:cNvPr id="7" name="Text 5"/>
          <p:cNvSpPr txBox="1"/>
          <p:nvPr/>
        </p:nvSpPr>
        <p:spPr>
          <a:xfrm>
            <a:off x="4754880" y="4206240"/>
            <a:ext cx="3657600" cy="274320"/>
          </a:xfrm>
          <a:prstGeom prst="rect">
            <a:avLst/>
          </a:prstGeom>
          <a:noFill/>
          <a:ln/>
        </p:spPr>
        <p:txBody>
          <a:bodyPr wrap="square" lIns="0" tIns="0" rIns="0" bIns="0" rtlCol="0" anchor="ctr"/>
          <a:lstStyle/>
          <a:p>
            <a:pPr marL="0" indent="0">
              <a:buNone/>
            </a:pPr>
            <a:r>
              <a:rPr lang="en-US" sz="1000" kern="0" spc="300" dirty="0">
                <a:solidFill>
                  <a:srgbClr val="9E978A"/>
                </a:solidFill>
                <a:latin typeface="Consolas" pitchFamily="34" charset="0"/>
                <a:ea typeface="Consolas" pitchFamily="34" charset="-122"/>
                <a:cs typeface="Consolas" pitchFamily="34" charset="-120"/>
              </a:rPr>
              <a:t>DOCENTE</a:t>
            </a:r>
            <a:endParaRPr lang="en-US" sz="1000" dirty="0"/>
          </a:p>
        </p:txBody>
      </p:sp>
      <p:sp>
        <p:nvSpPr>
          <p:cNvPr id="8" name="Text 6"/>
          <p:cNvSpPr txBox="1"/>
          <p:nvPr/>
        </p:nvSpPr>
        <p:spPr>
          <a:xfrm>
            <a:off x="4754880" y="4526280"/>
            <a:ext cx="3566160" cy="731520"/>
          </a:xfrm>
          <a:prstGeom prst="rect">
            <a:avLst/>
          </a:prstGeom>
          <a:noFill/>
          <a:ln/>
        </p:spPr>
        <p:txBody>
          <a:bodyPr wrap="square" lIns="0" tIns="0" rIns="0" bIns="0" rtlCol="0" anchor="t"/>
          <a:lstStyle/>
          <a:p>
            <a:pPr marL="0" indent="0">
              <a:buNone/>
            </a:pPr>
            <a:r>
              <a:rPr lang="en-US" sz="2400" dirty="0">
                <a:solidFill>
                  <a:srgbClr val="F1EEE6"/>
                </a:solidFill>
                <a:latin typeface="Bahnschrift SemiBold Condensed" pitchFamily="34" charset="0"/>
                <a:ea typeface="Bahnschrift SemiBold Condensed" pitchFamily="34" charset="-122"/>
                <a:cs typeface="Bahnschrift SemiBold Condensed" pitchFamily="34" charset="-120"/>
              </a:rPr>
              <a:t>Eldis Gabriel Nicolalde Navarrete</a:t>
            </a:r>
            <a:endParaRPr lang="en-US" sz="2400" dirty="0"/>
          </a:p>
        </p:txBody>
      </p:sp>
      <p:sp>
        <p:nvSpPr>
          <p:cNvPr id="9" name="Shape 7"/>
          <p:cNvSpPr/>
          <p:nvPr/>
        </p:nvSpPr>
        <p:spPr>
          <a:xfrm>
            <a:off x="640080" y="5806440"/>
            <a:ext cx="3017520" cy="658368"/>
          </a:xfrm>
          <a:prstGeom prst="rect">
            <a:avLst/>
          </a:prstGeom>
          <a:solidFill>
            <a:srgbClr val="FBFAF6"/>
          </a:solidFill>
          <a:ln w="12700">
            <a:solidFill>
              <a:srgbClr val="FBFAF6"/>
            </a:solidFill>
            <a:prstDash val="solid"/>
          </a:ln>
        </p:spPr>
      </p:sp>
      <p:pic>
        <p:nvPicPr>
          <p:cNvPr id="10" name="Image 0" descr="Logo del Instituto Superior Tecnológico Quito"/>
          <p:cNvPicPr>
            <a:picLocks noChangeAspect="1"/>
          </p:cNvPicPr>
          <p:nvPr/>
        </p:nvPicPr>
        <p:blipFill>
          <a:blip r:embed="rId3"/>
          <a:stretch>
            <a:fillRect/>
          </a:stretch>
        </p:blipFill>
        <p:spPr>
          <a:xfrm>
            <a:off x="749808" y="5879592"/>
            <a:ext cx="2157984" cy="512064"/>
          </a:xfrm>
          <a:prstGeom prst="rect">
            <a:avLst/>
          </a:prstGeom>
        </p:spPr>
      </p:pic>
      <p:sp>
        <p:nvSpPr>
          <p:cNvPr id="11" name="Text 8"/>
          <p:cNvSpPr txBox="1"/>
          <p:nvPr/>
        </p:nvSpPr>
        <p:spPr>
          <a:xfrm>
            <a:off x="3840480" y="5897880"/>
            <a:ext cx="4572000" cy="457200"/>
          </a:xfrm>
          <a:prstGeom prst="rect">
            <a:avLst/>
          </a:prstGeom>
          <a:noFill/>
          <a:ln/>
        </p:spPr>
        <p:txBody>
          <a:bodyPr wrap="square" lIns="0" tIns="0" rIns="0" bIns="0" rtlCol="0" anchor="ctr"/>
          <a:lstStyle/>
          <a:p>
            <a:pPr marL="0" indent="0">
              <a:buNone/>
            </a:pPr>
            <a:r>
              <a:rPr lang="en-US" sz="1400" i="1" dirty="0">
                <a:solidFill>
                  <a:srgbClr val="C9C2B0"/>
                </a:solidFill>
                <a:latin typeface="Georgia" pitchFamily="34" charset="0"/>
                <a:ea typeface="Georgia" pitchFamily="34" charset="-122"/>
                <a:cs typeface="Georgia" pitchFamily="34" charset="-120"/>
              </a:rPr>
              <a:t>Instituto Superior Tecnológico Quito</a:t>
            </a:r>
            <a:endParaRPr lang="en-US" sz="1400" dirty="0"/>
          </a:p>
        </p:txBody>
      </p:sp>
      <p:sp>
        <p:nvSpPr>
          <p:cNvPr id="12" name="Shape 9"/>
          <p:cNvSpPr/>
          <p:nvPr/>
        </p:nvSpPr>
        <p:spPr>
          <a:xfrm>
            <a:off x="8732520" y="1051560"/>
            <a:ext cx="2834640" cy="5413248"/>
          </a:xfrm>
          <a:prstGeom prst="rect">
            <a:avLst/>
          </a:prstGeom>
          <a:solidFill>
            <a:srgbClr val="24221B"/>
          </a:solidFill>
          <a:ln w="12700">
            <a:solidFill>
              <a:srgbClr val="4A473D"/>
            </a:solidFill>
            <a:prstDash val="solid"/>
          </a:ln>
        </p:spPr>
      </p:sp>
      <p:sp>
        <p:nvSpPr>
          <p:cNvPr id="13" name="Text 10"/>
          <p:cNvSpPr txBox="1"/>
          <p:nvPr/>
        </p:nvSpPr>
        <p:spPr>
          <a:xfrm>
            <a:off x="8961120" y="1280160"/>
            <a:ext cx="2468880" cy="274320"/>
          </a:xfrm>
          <a:prstGeom prst="rect">
            <a:avLst/>
          </a:prstGeom>
          <a:noFill/>
          <a:ln/>
        </p:spPr>
        <p:txBody>
          <a:bodyPr wrap="square" lIns="0" tIns="0" rIns="0" bIns="0" rtlCol="0" anchor="ctr"/>
          <a:lstStyle/>
          <a:p>
            <a:pPr marL="0" indent="0">
              <a:buNone/>
            </a:pPr>
            <a:r>
              <a:rPr lang="en-US" sz="950" kern="0" spc="200" dirty="0">
                <a:solidFill>
                  <a:srgbClr val="9E978A"/>
                </a:solidFill>
                <a:latin typeface="Consolas" pitchFamily="34" charset="0"/>
                <a:ea typeface="Consolas" pitchFamily="34" charset="-122"/>
                <a:cs typeface="Consolas" pitchFamily="34" charset="-120"/>
              </a:rPr>
              <a:t>SINIESTROS ANALIZADOS</a:t>
            </a:r>
            <a:endParaRPr lang="en-US" sz="950" dirty="0"/>
          </a:p>
        </p:txBody>
      </p:sp>
      <p:sp>
        <p:nvSpPr>
          <p:cNvPr id="14" name="Text 11"/>
          <p:cNvSpPr txBox="1"/>
          <p:nvPr/>
        </p:nvSpPr>
        <p:spPr>
          <a:xfrm>
            <a:off x="8961120" y="1645920"/>
            <a:ext cx="2468880" cy="883920"/>
          </a:xfrm>
          <a:prstGeom prst="rect">
            <a:avLst/>
          </a:prstGeom>
          <a:noFill/>
          <a:ln/>
        </p:spPr>
        <p:txBody>
          <a:bodyPr wrap="square" lIns="0" tIns="0" rIns="0" bIns="0" rtlCol="0" anchor="ctr"/>
          <a:lstStyle/>
          <a:p>
            <a:pPr marL="0" indent="0">
              <a:buNone/>
            </a:pPr>
            <a:r>
              <a:rPr lang="en-US" sz="5800" dirty="0">
                <a:solidFill>
                  <a:srgbClr val="F1EEE6"/>
                </a:solidFill>
                <a:latin typeface="Bahnschrift SemiBold Condensed" pitchFamily="34" charset="0"/>
                <a:ea typeface="Bahnschrift SemiBold Condensed" pitchFamily="34" charset="-122"/>
                <a:cs typeface="Bahnschrift SemiBold Condensed" pitchFamily="34" charset="-120"/>
              </a:rPr>
              <a:t>44.982</a:t>
            </a:r>
            <a:endParaRPr lang="en-US" sz="5800" dirty="0"/>
          </a:p>
        </p:txBody>
      </p:sp>
      <p:sp>
        <p:nvSpPr>
          <p:cNvPr id="15" name="Text 12"/>
          <p:cNvSpPr txBox="1"/>
          <p:nvPr/>
        </p:nvSpPr>
        <p:spPr>
          <a:xfrm>
            <a:off x="8961120" y="2880360"/>
            <a:ext cx="2468880" cy="274320"/>
          </a:xfrm>
          <a:prstGeom prst="rect">
            <a:avLst/>
          </a:prstGeom>
          <a:noFill/>
          <a:ln/>
        </p:spPr>
        <p:txBody>
          <a:bodyPr wrap="square" lIns="0" tIns="0" rIns="0" bIns="0" rtlCol="0" anchor="ctr"/>
          <a:lstStyle/>
          <a:p>
            <a:pPr marL="0" indent="0">
              <a:buNone/>
            </a:pPr>
            <a:r>
              <a:rPr lang="en-US" sz="950" kern="0" spc="200" dirty="0">
                <a:solidFill>
                  <a:srgbClr val="9E978A"/>
                </a:solidFill>
                <a:latin typeface="Consolas" pitchFamily="34" charset="0"/>
                <a:ea typeface="Consolas" pitchFamily="34" charset="-122"/>
                <a:cs typeface="Consolas" pitchFamily="34" charset="-120"/>
              </a:rPr>
              <a:t>FALLECIDOS</a:t>
            </a:r>
            <a:endParaRPr lang="en-US" sz="950" dirty="0"/>
          </a:p>
        </p:txBody>
      </p:sp>
      <p:sp>
        <p:nvSpPr>
          <p:cNvPr id="16" name="Text 13"/>
          <p:cNvSpPr txBox="1"/>
          <p:nvPr/>
        </p:nvSpPr>
        <p:spPr>
          <a:xfrm>
            <a:off x="8961120" y="3246120"/>
            <a:ext cx="2468880" cy="883920"/>
          </a:xfrm>
          <a:prstGeom prst="rect">
            <a:avLst/>
          </a:prstGeom>
          <a:noFill/>
          <a:ln/>
        </p:spPr>
        <p:txBody>
          <a:bodyPr wrap="square" lIns="0" tIns="0" rIns="0" bIns="0" rtlCol="0" anchor="ctr"/>
          <a:lstStyle/>
          <a:p>
            <a:pPr marL="0" indent="0">
              <a:buNone/>
            </a:pPr>
            <a:r>
              <a:rPr lang="en-US" sz="5800" dirty="0">
                <a:solidFill>
                  <a:srgbClr val="E2563E"/>
                </a:solidFill>
                <a:latin typeface="Bahnschrift SemiBold Condensed" pitchFamily="34" charset="0"/>
                <a:ea typeface="Bahnschrift SemiBold Condensed" pitchFamily="34" charset="-122"/>
                <a:cs typeface="Bahnschrift SemiBold Condensed" pitchFamily="34" charset="-120"/>
              </a:rPr>
              <a:t>2.741</a:t>
            </a:r>
            <a:endParaRPr lang="en-US" sz="5800" dirty="0"/>
          </a:p>
        </p:txBody>
      </p:sp>
      <p:sp>
        <p:nvSpPr>
          <p:cNvPr id="17" name="Text 14"/>
          <p:cNvSpPr txBox="1"/>
          <p:nvPr/>
        </p:nvSpPr>
        <p:spPr>
          <a:xfrm>
            <a:off x="8961120" y="4480560"/>
            <a:ext cx="2468880" cy="274320"/>
          </a:xfrm>
          <a:prstGeom prst="rect">
            <a:avLst/>
          </a:prstGeom>
          <a:noFill/>
          <a:ln/>
        </p:spPr>
        <p:txBody>
          <a:bodyPr wrap="square" lIns="0" tIns="0" rIns="0" bIns="0" rtlCol="0" anchor="ctr"/>
          <a:lstStyle/>
          <a:p>
            <a:pPr marL="0" indent="0">
              <a:buNone/>
            </a:pPr>
            <a:r>
              <a:rPr lang="en-US" sz="950" kern="0" spc="200" dirty="0">
                <a:solidFill>
                  <a:srgbClr val="9E978A"/>
                </a:solidFill>
                <a:latin typeface="Consolas" pitchFamily="34" charset="0"/>
                <a:ea typeface="Consolas" pitchFamily="34" charset="-122"/>
                <a:cs typeface="Consolas" pitchFamily="34" charset="-120"/>
              </a:rPr>
              <a:t>PERIODO</a:t>
            </a:r>
            <a:endParaRPr lang="en-US" sz="950" dirty="0"/>
          </a:p>
        </p:txBody>
      </p:sp>
      <p:sp>
        <p:nvSpPr>
          <p:cNvPr id="18" name="Text 15"/>
          <p:cNvSpPr txBox="1"/>
          <p:nvPr/>
        </p:nvSpPr>
        <p:spPr>
          <a:xfrm>
            <a:off x="8961120" y="4846320"/>
            <a:ext cx="2468880" cy="548640"/>
          </a:xfrm>
          <a:prstGeom prst="rect">
            <a:avLst/>
          </a:prstGeom>
          <a:noFill/>
          <a:ln/>
        </p:spPr>
        <p:txBody>
          <a:bodyPr wrap="square" lIns="0" tIns="0" rIns="0" bIns="0" rtlCol="0" anchor="ctr"/>
          <a:lstStyle/>
          <a:p>
            <a:pPr marL="0" indent="0">
              <a:buNone/>
            </a:pPr>
            <a:r>
              <a:rPr lang="en-US" sz="3400" dirty="0">
                <a:solidFill>
                  <a:srgbClr val="F1EEE6"/>
                </a:solidFill>
                <a:latin typeface="Bahnschrift SemiBold Condensed" pitchFamily="34" charset="0"/>
                <a:ea typeface="Bahnschrift SemiBold Condensed" pitchFamily="34" charset="-122"/>
                <a:cs typeface="Bahnschrift SemiBold Condensed" pitchFamily="34" charset="-120"/>
              </a:rPr>
              <a:t>2017 – 2026</a:t>
            </a:r>
            <a:endParaRPr lang="en-US" sz="3400" dirty="0"/>
          </a:p>
        </p:txBody>
      </p:sp>
      <p:sp>
        <p:nvSpPr>
          <p:cNvPr id="19" name="Text 16"/>
          <p:cNvSpPr txBox="1"/>
          <p:nvPr/>
        </p:nvSpPr>
        <p:spPr>
          <a:xfrm>
            <a:off x="8961120" y="5532120"/>
            <a:ext cx="2377440" cy="640080"/>
          </a:xfrm>
          <a:prstGeom prst="rect">
            <a:avLst/>
          </a:prstGeom>
          <a:noFill/>
          <a:ln/>
        </p:spPr>
        <p:txBody>
          <a:bodyPr wrap="square" lIns="0" tIns="0" rIns="0" bIns="0" rtlCol="0" anchor="ctr"/>
          <a:lstStyle/>
          <a:p>
            <a:pPr marL="0" indent="0">
              <a:buNone/>
            </a:pPr>
            <a:r>
              <a:rPr lang="en-US" sz="1250" i="1" dirty="0">
                <a:solidFill>
                  <a:srgbClr val="C9C2B0"/>
                </a:solidFill>
                <a:latin typeface="Georgia" pitchFamily="34" charset="0"/>
                <a:ea typeface="Georgia" pitchFamily="34" charset="-122"/>
                <a:cs typeface="Georgia" pitchFamily="34" charset="-120"/>
              </a:rPr>
              <a:t>Datos oficiales de la ANT y el INEC</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02 · INTRODUCCIÓN Y CONTEXTO</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DE QUÉ SE TRATA EL PROYECTO</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Analizamos 44.982 siniestros de tránsito ocurridos en Quito entre 2017 y 2026 para descubrir dónde y cuándo es más peligroso circular.</a:t>
            </a:r>
            <a:endParaRPr lang="en-US" sz="1700" dirty="0"/>
          </a:p>
        </p:txBody>
      </p:sp>
      <p:sp>
        <p:nvSpPr>
          <p:cNvPr id="6" name="tarjeta"/>
          <p:cNvSpPr/>
          <p:nvPr/>
        </p:nvSpPr>
        <p:spPr>
          <a:xfrm>
            <a:off x="548640" y="2240280"/>
            <a:ext cx="3520440" cy="2651760"/>
          </a:xfrm>
          <a:prstGeom prst="rect">
            <a:avLst/>
          </a:prstGeom>
          <a:solidFill>
            <a:srgbClr val="FBFAF6"/>
          </a:solidFill>
          <a:ln w="15875">
            <a:solidFill>
              <a:srgbClr val="16150F"/>
            </a:solidFill>
            <a:prstDash val="solid"/>
          </a:ln>
        </p:spPr>
      </p:sp>
      <p:sp>
        <p:nvSpPr>
          <p:cNvPr id="7" name="Text 4"/>
          <p:cNvSpPr txBox="1"/>
          <p:nvPr/>
        </p:nvSpPr>
        <p:spPr>
          <a:xfrm>
            <a:off x="749808" y="2386584"/>
            <a:ext cx="31181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01 · DÓNDE</a:t>
            </a:r>
            <a:endParaRPr lang="en-US" sz="1000" dirty="0"/>
          </a:p>
        </p:txBody>
      </p:sp>
      <p:sp>
        <p:nvSpPr>
          <p:cNvPr id="8" name="Text 5"/>
          <p:cNvSpPr txBox="1"/>
          <p:nvPr/>
        </p:nvSpPr>
        <p:spPr>
          <a:xfrm>
            <a:off x="749808" y="2697480"/>
            <a:ext cx="3108960" cy="548640"/>
          </a:xfrm>
          <a:prstGeom prst="rect">
            <a:avLst/>
          </a:prstGeom>
          <a:noFill/>
          <a:ln/>
        </p:spPr>
        <p:txBody>
          <a:bodyPr wrap="square" lIns="0" tIns="0" rIns="0" bIns="0" rtlCol="0" anchor="ctr"/>
          <a:lstStyle/>
          <a:p>
            <a:pPr marL="0" indent="0">
              <a:buNone/>
            </a:pPr>
            <a:r>
              <a:rPr lang="en-US" sz="3000" dirty="0">
                <a:solidFill>
                  <a:srgbClr val="16150F"/>
                </a:solidFill>
                <a:latin typeface="Bahnschrift SemiBold Condensed" pitchFamily="34" charset="0"/>
                <a:ea typeface="Bahnschrift SemiBold Condensed" pitchFamily="34" charset="-122"/>
                <a:cs typeface="Bahnschrift SemiBold Condensed" pitchFamily="34" charset="-120"/>
              </a:rPr>
              <a:t>DÓNDE OCURREN</a:t>
            </a:r>
            <a:endParaRPr lang="en-US" sz="3000" dirty="0"/>
          </a:p>
        </p:txBody>
      </p:sp>
      <p:sp>
        <p:nvSpPr>
          <p:cNvPr id="9" name="Text 6"/>
          <p:cNvSpPr txBox="1"/>
          <p:nvPr/>
        </p:nvSpPr>
        <p:spPr>
          <a:xfrm>
            <a:off x="749808" y="3383280"/>
            <a:ext cx="3108960" cy="1280160"/>
          </a:xfrm>
          <a:prstGeom prst="rect">
            <a:avLst/>
          </a:prstGeom>
          <a:noFill/>
          <a:ln/>
        </p:spPr>
        <p:txBody>
          <a:bodyPr wrap="square" lIns="0" tIns="0" rIns="0" bIns="0" rtlCol="0" anchor="t"/>
          <a:lstStyle/>
          <a:p>
            <a:pPr marL="0" indent="0">
              <a:buNone/>
            </a:pPr>
            <a:r>
              <a:rPr lang="en-US" sz="1600" dirty="0">
                <a:solidFill>
                  <a:srgbClr val="3A372F"/>
                </a:solidFill>
                <a:latin typeface="Georgia" pitchFamily="34" charset="0"/>
                <a:ea typeface="Georgia" pitchFamily="34" charset="-122"/>
                <a:cs typeface="Georgia" pitchFamily="34" charset="-120"/>
              </a:rPr>
              <a:t>Ubicamos cada siniestro en su parroquia y en el mapa del Distrito.</a:t>
            </a:r>
            <a:endParaRPr lang="en-US" sz="1600" dirty="0"/>
          </a:p>
        </p:txBody>
      </p:sp>
      <p:sp>
        <p:nvSpPr>
          <p:cNvPr id="10" name="tarjeta"/>
          <p:cNvSpPr/>
          <p:nvPr/>
        </p:nvSpPr>
        <p:spPr>
          <a:xfrm>
            <a:off x="4297680" y="2240280"/>
            <a:ext cx="3520440" cy="2651760"/>
          </a:xfrm>
          <a:prstGeom prst="rect">
            <a:avLst/>
          </a:prstGeom>
          <a:solidFill>
            <a:srgbClr val="FBFAF6"/>
          </a:solidFill>
          <a:ln w="15875">
            <a:solidFill>
              <a:srgbClr val="16150F"/>
            </a:solidFill>
            <a:prstDash val="solid"/>
          </a:ln>
        </p:spPr>
      </p:sp>
      <p:sp>
        <p:nvSpPr>
          <p:cNvPr id="11" name="Text 8"/>
          <p:cNvSpPr txBox="1"/>
          <p:nvPr/>
        </p:nvSpPr>
        <p:spPr>
          <a:xfrm>
            <a:off x="4498848" y="2386584"/>
            <a:ext cx="31181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02 · CUÁNDO</a:t>
            </a:r>
            <a:endParaRPr lang="en-US" sz="1000" dirty="0"/>
          </a:p>
        </p:txBody>
      </p:sp>
      <p:sp>
        <p:nvSpPr>
          <p:cNvPr id="12" name="Text 9"/>
          <p:cNvSpPr txBox="1"/>
          <p:nvPr/>
        </p:nvSpPr>
        <p:spPr>
          <a:xfrm>
            <a:off x="4498848" y="2697480"/>
            <a:ext cx="3108960" cy="548640"/>
          </a:xfrm>
          <a:prstGeom prst="rect">
            <a:avLst/>
          </a:prstGeom>
          <a:noFill/>
          <a:ln/>
        </p:spPr>
        <p:txBody>
          <a:bodyPr wrap="square" lIns="0" tIns="0" rIns="0" bIns="0" rtlCol="0" anchor="ctr"/>
          <a:lstStyle/>
          <a:p>
            <a:pPr marL="0" indent="0">
              <a:buNone/>
            </a:pPr>
            <a:r>
              <a:rPr lang="en-US" sz="3000" dirty="0">
                <a:solidFill>
                  <a:srgbClr val="16150F"/>
                </a:solidFill>
                <a:latin typeface="Bahnschrift SemiBold Condensed" pitchFamily="34" charset="0"/>
                <a:ea typeface="Bahnschrift SemiBold Condensed" pitchFamily="34" charset="-122"/>
                <a:cs typeface="Bahnschrift SemiBold Condensed" pitchFamily="34" charset="-120"/>
              </a:rPr>
              <a:t>CUÁNDO OCURREN</a:t>
            </a:r>
            <a:endParaRPr lang="en-US" sz="3000" dirty="0"/>
          </a:p>
        </p:txBody>
      </p:sp>
      <p:sp>
        <p:nvSpPr>
          <p:cNvPr id="13" name="Text 10"/>
          <p:cNvSpPr txBox="1"/>
          <p:nvPr/>
        </p:nvSpPr>
        <p:spPr>
          <a:xfrm>
            <a:off x="4498848" y="3383280"/>
            <a:ext cx="3108960" cy="1280160"/>
          </a:xfrm>
          <a:prstGeom prst="rect">
            <a:avLst/>
          </a:prstGeom>
          <a:noFill/>
          <a:ln/>
        </p:spPr>
        <p:txBody>
          <a:bodyPr wrap="square" lIns="0" tIns="0" rIns="0" bIns="0" rtlCol="0" anchor="t"/>
          <a:lstStyle/>
          <a:p>
            <a:pPr marL="0" indent="0">
              <a:buNone/>
            </a:pPr>
            <a:r>
              <a:rPr lang="en-US" sz="1600" dirty="0">
                <a:solidFill>
                  <a:srgbClr val="3A372F"/>
                </a:solidFill>
                <a:latin typeface="Georgia" pitchFamily="34" charset="0"/>
                <a:ea typeface="Georgia" pitchFamily="34" charset="-122"/>
                <a:cs typeface="Georgia" pitchFamily="34" charset="-120"/>
              </a:rPr>
              <a:t>Buscamos las horas, los días y los meses en los que más se repiten.</a:t>
            </a:r>
            <a:endParaRPr lang="en-US" sz="1600" dirty="0"/>
          </a:p>
        </p:txBody>
      </p:sp>
      <p:sp>
        <p:nvSpPr>
          <p:cNvPr id="14" name="tarjeta"/>
          <p:cNvSpPr/>
          <p:nvPr/>
        </p:nvSpPr>
        <p:spPr>
          <a:xfrm>
            <a:off x="8046720" y="2240280"/>
            <a:ext cx="3520440" cy="2651760"/>
          </a:xfrm>
          <a:prstGeom prst="rect">
            <a:avLst/>
          </a:prstGeom>
          <a:solidFill>
            <a:srgbClr val="FBFAF6"/>
          </a:solidFill>
          <a:ln w="15875">
            <a:solidFill>
              <a:srgbClr val="16150F"/>
            </a:solidFill>
            <a:prstDash val="solid"/>
          </a:ln>
        </p:spPr>
      </p:sp>
      <p:sp>
        <p:nvSpPr>
          <p:cNvPr id="15" name="Text 12"/>
          <p:cNvSpPr txBox="1"/>
          <p:nvPr/>
        </p:nvSpPr>
        <p:spPr>
          <a:xfrm>
            <a:off x="8247888" y="2386584"/>
            <a:ext cx="31181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03 · GRAVEDAD</a:t>
            </a:r>
            <a:endParaRPr lang="en-US" sz="1000" dirty="0"/>
          </a:p>
        </p:txBody>
      </p:sp>
      <p:sp>
        <p:nvSpPr>
          <p:cNvPr id="16" name="Text 13"/>
          <p:cNvSpPr txBox="1"/>
          <p:nvPr/>
        </p:nvSpPr>
        <p:spPr>
          <a:xfrm>
            <a:off x="8247888" y="2697480"/>
            <a:ext cx="3108960" cy="548640"/>
          </a:xfrm>
          <a:prstGeom prst="rect">
            <a:avLst/>
          </a:prstGeom>
          <a:noFill/>
          <a:ln/>
        </p:spPr>
        <p:txBody>
          <a:bodyPr wrap="square" lIns="0" tIns="0" rIns="0" bIns="0" rtlCol="0" anchor="ctr"/>
          <a:lstStyle/>
          <a:p>
            <a:pPr marL="0" indent="0">
              <a:buNone/>
            </a:pPr>
            <a:r>
              <a:rPr lang="en-US" sz="3000" dirty="0">
                <a:solidFill>
                  <a:srgbClr val="B8321F"/>
                </a:solidFill>
                <a:latin typeface="Bahnschrift SemiBold Condensed" pitchFamily="34" charset="0"/>
                <a:ea typeface="Bahnschrift SemiBold Condensed" pitchFamily="34" charset="-122"/>
                <a:cs typeface="Bahnschrift SemiBold Condensed" pitchFamily="34" charset="-120"/>
              </a:rPr>
              <a:t>QUÉ TAN GRAVES SON</a:t>
            </a:r>
            <a:endParaRPr lang="en-US" sz="3000" dirty="0"/>
          </a:p>
        </p:txBody>
      </p:sp>
      <p:sp>
        <p:nvSpPr>
          <p:cNvPr id="17" name="Text 14"/>
          <p:cNvSpPr txBox="1"/>
          <p:nvPr/>
        </p:nvSpPr>
        <p:spPr>
          <a:xfrm>
            <a:off x="8247888" y="3383280"/>
            <a:ext cx="3108960" cy="1280160"/>
          </a:xfrm>
          <a:prstGeom prst="rect">
            <a:avLst/>
          </a:prstGeom>
          <a:noFill/>
          <a:ln/>
        </p:spPr>
        <p:txBody>
          <a:bodyPr wrap="square" lIns="0" tIns="0" rIns="0" bIns="0" rtlCol="0" anchor="t"/>
          <a:lstStyle/>
          <a:p>
            <a:pPr marL="0" indent="0">
              <a:buNone/>
            </a:pPr>
            <a:r>
              <a:rPr lang="en-US" sz="1600" dirty="0">
                <a:solidFill>
                  <a:srgbClr val="3A372F"/>
                </a:solidFill>
                <a:latin typeface="Georgia" pitchFamily="34" charset="0"/>
                <a:ea typeface="Georgia" pitchFamily="34" charset="-122"/>
                <a:cs typeface="Georgia" pitchFamily="34" charset="-120"/>
              </a:rPr>
              <a:t>Medimos cuántas personas fallecen o resultan heridas en cada siniestro.</a:t>
            </a:r>
            <a:endParaRPr lang="en-US" sz="1600" dirty="0"/>
          </a:p>
        </p:txBody>
      </p:sp>
      <p:sp>
        <p:nvSpPr>
          <p:cNvPr id="18" name="Shape 15"/>
          <p:cNvSpPr/>
          <p:nvPr/>
        </p:nvSpPr>
        <p:spPr>
          <a:xfrm>
            <a:off x="548640" y="5166360"/>
            <a:ext cx="11018520" cy="868680"/>
          </a:xfrm>
          <a:prstGeom prst="rect">
            <a:avLst/>
          </a:prstGeom>
          <a:solidFill>
            <a:srgbClr val="16150F"/>
          </a:solidFill>
          <a:ln w="12700">
            <a:solidFill>
              <a:srgbClr val="16150F"/>
            </a:solidFill>
            <a:prstDash val="solid"/>
          </a:ln>
        </p:spPr>
      </p:sp>
      <p:sp>
        <p:nvSpPr>
          <p:cNvPr id="19" name="Text 16"/>
          <p:cNvSpPr txBox="1"/>
          <p:nvPr/>
        </p:nvSpPr>
        <p:spPr>
          <a:xfrm>
            <a:off x="777240" y="5166360"/>
            <a:ext cx="10607040" cy="868680"/>
          </a:xfrm>
          <a:prstGeom prst="rect">
            <a:avLst/>
          </a:prstGeom>
          <a:noFill/>
          <a:ln/>
        </p:spPr>
        <p:txBody>
          <a:bodyPr wrap="square" lIns="0" tIns="0" rIns="0" bIns="0" rtlCol="0" anchor="ctr"/>
          <a:lstStyle/>
          <a:p>
            <a:pPr marL="0" indent="0">
              <a:buNone/>
            </a:pPr>
            <a:r>
              <a:rPr lang="en-US" sz="1100" kern="0" spc="200" dirty="0">
                <a:solidFill>
                  <a:srgbClr val="E2563E"/>
                </a:solidFill>
                <a:latin typeface="Consolas" pitchFamily="34" charset="0"/>
                <a:ea typeface="Consolas" pitchFamily="34" charset="-122"/>
                <a:cs typeface="Consolas" pitchFamily="34" charset="-120"/>
              </a:rPr>
              <a:t>RESULTADO  </a:t>
            </a:r>
            <a:r>
              <a:rPr lang="en-US" sz="1700" dirty="0">
                <a:solidFill>
                  <a:srgbClr val="F1EEE6"/>
                </a:solidFill>
                <a:latin typeface="Georgia" pitchFamily="34" charset="0"/>
                <a:ea typeface="Georgia" pitchFamily="34" charset="-122"/>
                <a:cs typeface="Georgia" pitchFamily="34" charset="-120"/>
              </a:rPr>
              <a:t>Un dashboard interactivo que muestra el nivel de riesgo por zona, día y hora.</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02 · INTRODUCCIÓN Y CONTEXTO</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POR QUÉ ES IMPORTANTE</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En Quito hoy ocurren menos siniestros que en 2017, pero cada uno es mucho más mortal: eso es lo que queremos comprender y ayudar a mejorar.</a:t>
            </a:r>
            <a:endParaRPr lang="en-US" sz="1700" dirty="0"/>
          </a:p>
        </p:txBody>
      </p:sp>
      <p:sp>
        <p:nvSpPr>
          <p:cNvPr id="6" name="tarjeta"/>
          <p:cNvSpPr/>
          <p:nvPr/>
        </p:nvSpPr>
        <p:spPr>
          <a:xfrm>
            <a:off x="548640" y="2240280"/>
            <a:ext cx="3520440" cy="2331720"/>
          </a:xfrm>
          <a:prstGeom prst="rect">
            <a:avLst/>
          </a:prstGeom>
          <a:solidFill>
            <a:srgbClr val="FBFAF6"/>
          </a:solidFill>
          <a:ln w="15875">
            <a:solidFill>
              <a:srgbClr val="16150F"/>
            </a:solidFill>
            <a:prstDash val="solid"/>
          </a:ln>
        </p:spPr>
      </p:sp>
      <p:sp>
        <p:nvSpPr>
          <p:cNvPr id="7" name="Text 4"/>
          <p:cNvSpPr txBox="1"/>
          <p:nvPr/>
        </p:nvSpPr>
        <p:spPr>
          <a:xfrm>
            <a:off x="749808" y="2386584"/>
            <a:ext cx="31181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FALLECIDOS</a:t>
            </a:r>
            <a:endParaRPr lang="en-US" sz="1000" dirty="0"/>
          </a:p>
        </p:txBody>
      </p:sp>
      <p:sp>
        <p:nvSpPr>
          <p:cNvPr id="8" name="Text 5"/>
          <p:cNvSpPr txBox="1"/>
          <p:nvPr/>
        </p:nvSpPr>
        <p:spPr>
          <a:xfrm>
            <a:off x="749808" y="2606040"/>
            <a:ext cx="3108960" cy="1005840"/>
          </a:xfrm>
          <a:prstGeom prst="rect">
            <a:avLst/>
          </a:prstGeom>
          <a:noFill/>
          <a:ln/>
        </p:spPr>
        <p:txBody>
          <a:bodyPr wrap="square" lIns="0" tIns="0" rIns="0" bIns="0" rtlCol="0" anchor="ctr"/>
          <a:lstStyle/>
          <a:p>
            <a:pPr marL="0" indent="0">
              <a:buNone/>
            </a:pPr>
            <a:r>
              <a:rPr lang="en-US" sz="6600" dirty="0">
                <a:solidFill>
                  <a:srgbClr val="B8321F"/>
                </a:solidFill>
                <a:latin typeface="Bahnschrift SemiBold Condensed" pitchFamily="34" charset="0"/>
                <a:ea typeface="Bahnschrift SemiBold Condensed" pitchFamily="34" charset="-122"/>
                <a:cs typeface="Bahnschrift SemiBold Condensed" pitchFamily="34" charset="-120"/>
              </a:rPr>
              <a:t>2.741</a:t>
            </a:r>
            <a:endParaRPr lang="en-US" sz="6600" dirty="0"/>
          </a:p>
        </p:txBody>
      </p:sp>
      <p:sp>
        <p:nvSpPr>
          <p:cNvPr id="9" name="Text 6"/>
          <p:cNvSpPr txBox="1"/>
          <p:nvPr/>
        </p:nvSpPr>
        <p:spPr>
          <a:xfrm>
            <a:off x="749808" y="3657600"/>
            <a:ext cx="3108960" cy="822960"/>
          </a:xfrm>
          <a:prstGeom prst="rect">
            <a:avLst/>
          </a:prstGeom>
          <a:noFill/>
          <a:ln/>
        </p:spPr>
        <p:txBody>
          <a:bodyPr wrap="square" lIns="0" tIns="0" rIns="0" bIns="0" rtlCol="0" anchor="t"/>
          <a:lstStyle/>
          <a:p>
            <a:pPr marL="0" indent="0">
              <a:buNone/>
            </a:pPr>
            <a:r>
              <a:rPr lang="en-US" sz="1500" dirty="0">
                <a:solidFill>
                  <a:srgbClr val="3A372F"/>
                </a:solidFill>
                <a:latin typeface="Georgia" pitchFamily="34" charset="0"/>
                <a:ea typeface="Georgia" pitchFamily="34" charset="-122"/>
                <a:cs typeface="Georgia" pitchFamily="34" charset="-120"/>
              </a:rPr>
              <a:t>personas fallecieron en siniestros de tránsito en Quito entre 2017 y 2026.</a:t>
            </a:r>
            <a:endParaRPr lang="en-US" sz="1500" dirty="0"/>
          </a:p>
        </p:txBody>
      </p:sp>
      <p:sp>
        <p:nvSpPr>
          <p:cNvPr id="10" name="tarjeta"/>
          <p:cNvSpPr/>
          <p:nvPr/>
        </p:nvSpPr>
        <p:spPr>
          <a:xfrm>
            <a:off x="4297680" y="2240280"/>
            <a:ext cx="3520440" cy="2331720"/>
          </a:xfrm>
          <a:prstGeom prst="rect">
            <a:avLst/>
          </a:prstGeom>
          <a:solidFill>
            <a:srgbClr val="FBFAF6"/>
          </a:solidFill>
          <a:ln w="15875">
            <a:solidFill>
              <a:srgbClr val="16150F"/>
            </a:solidFill>
            <a:prstDash val="solid"/>
          </a:ln>
        </p:spPr>
      </p:sp>
      <p:sp>
        <p:nvSpPr>
          <p:cNvPr id="11" name="Text 8"/>
          <p:cNvSpPr txBox="1"/>
          <p:nvPr/>
        </p:nvSpPr>
        <p:spPr>
          <a:xfrm>
            <a:off x="4498848" y="2386584"/>
            <a:ext cx="31181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FRECUENCIA</a:t>
            </a:r>
            <a:endParaRPr lang="en-US" sz="1000" dirty="0"/>
          </a:p>
        </p:txBody>
      </p:sp>
      <p:sp>
        <p:nvSpPr>
          <p:cNvPr id="12" name="Text 9"/>
          <p:cNvSpPr txBox="1"/>
          <p:nvPr/>
        </p:nvSpPr>
        <p:spPr>
          <a:xfrm>
            <a:off x="4498848" y="2606040"/>
            <a:ext cx="3108960" cy="1005840"/>
          </a:xfrm>
          <a:prstGeom prst="rect">
            <a:avLst/>
          </a:prstGeom>
          <a:noFill/>
          <a:ln/>
        </p:spPr>
        <p:txBody>
          <a:bodyPr wrap="square" lIns="0" tIns="0" rIns="0" bIns="0" rtlCol="0" anchor="ctr"/>
          <a:lstStyle/>
          <a:p>
            <a:pPr marL="0" indent="0">
              <a:buNone/>
            </a:pPr>
            <a:r>
              <a:rPr lang="en-US" sz="6600" dirty="0">
                <a:solidFill>
                  <a:srgbClr val="16150F"/>
                </a:solidFill>
                <a:latin typeface="Bahnschrift SemiBold Condensed" pitchFamily="34" charset="0"/>
                <a:ea typeface="Bahnschrift SemiBold Condensed" pitchFamily="34" charset="-122"/>
                <a:cs typeface="Bahnschrift SemiBold Condensed" pitchFamily="34" charset="-120"/>
              </a:rPr>
              <a:t>31 h</a:t>
            </a:r>
            <a:endParaRPr lang="en-US" sz="6600" dirty="0"/>
          </a:p>
        </p:txBody>
      </p:sp>
      <p:sp>
        <p:nvSpPr>
          <p:cNvPr id="13" name="Text 10"/>
          <p:cNvSpPr txBox="1"/>
          <p:nvPr/>
        </p:nvSpPr>
        <p:spPr>
          <a:xfrm>
            <a:off x="4498848" y="3657600"/>
            <a:ext cx="3108960" cy="822960"/>
          </a:xfrm>
          <a:prstGeom prst="rect">
            <a:avLst/>
          </a:prstGeom>
          <a:noFill/>
          <a:ln/>
        </p:spPr>
        <p:txBody>
          <a:bodyPr wrap="square" lIns="0" tIns="0" rIns="0" bIns="0" rtlCol="0" anchor="t"/>
          <a:lstStyle/>
          <a:p>
            <a:pPr marL="0" indent="0">
              <a:buNone/>
            </a:pPr>
            <a:r>
              <a:rPr lang="en-US" sz="1500" dirty="0">
                <a:solidFill>
                  <a:srgbClr val="3A372F"/>
                </a:solidFill>
                <a:latin typeface="Georgia" pitchFamily="34" charset="0"/>
                <a:ea typeface="Georgia" pitchFamily="34" charset="-122"/>
                <a:cs typeface="Georgia" pitchFamily="34" charset="-120"/>
              </a:rPr>
              <a:t>cada 31 horas, en promedio, muere una persona en un siniestro en Quito.</a:t>
            </a:r>
            <a:endParaRPr lang="en-US" sz="1500" dirty="0"/>
          </a:p>
        </p:txBody>
      </p:sp>
      <p:sp>
        <p:nvSpPr>
          <p:cNvPr id="14" name="tarjeta"/>
          <p:cNvSpPr/>
          <p:nvPr/>
        </p:nvSpPr>
        <p:spPr>
          <a:xfrm>
            <a:off x="8046720" y="2240280"/>
            <a:ext cx="3520440" cy="2331720"/>
          </a:xfrm>
          <a:prstGeom prst="rect">
            <a:avLst/>
          </a:prstGeom>
          <a:solidFill>
            <a:srgbClr val="FBFAF6"/>
          </a:solidFill>
          <a:ln w="15875">
            <a:solidFill>
              <a:srgbClr val="16150F"/>
            </a:solidFill>
            <a:prstDash val="solid"/>
          </a:ln>
        </p:spPr>
      </p:sp>
      <p:sp>
        <p:nvSpPr>
          <p:cNvPr id="15" name="Text 12"/>
          <p:cNvSpPr txBox="1"/>
          <p:nvPr/>
        </p:nvSpPr>
        <p:spPr>
          <a:xfrm>
            <a:off x="8247888" y="2386584"/>
            <a:ext cx="31181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GRAVEDAD</a:t>
            </a:r>
            <a:endParaRPr lang="en-US" sz="1000" dirty="0"/>
          </a:p>
        </p:txBody>
      </p:sp>
      <p:sp>
        <p:nvSpPr>
          <p:cNvPr id="16" name="Text 13"/>
          <p:cNvSpPr txBox="1"/>
          <p:nvPr/>
        </p:nvSpPr>
        <p:spPr>
          <a:xfrm>
            <a:off x="8247888" y="2606040"/>
            <a:ext cx="3108960" cy="1005840"/>
          </a:xfrm>
          <a:prstGeom prst="rect">
            <a:avLst/>
          </a:prstGeom>
          <a:noFill/>
          <a:ln/>
        </p:spPr>
        <p:txBody>
          <a:bodyPr wrap="square" lIns="0" tIns="0" rIns="0" bIns="0" rtlCol="0" anchor="ctr"/>
          <a:lstStyle/>
          <a:p>
            <a:pPr marL="0" indent="0">
              <a:buNone/>
            </a:pPr>
            <a:r>
              <a:rPr lang="en-US" sz="6600" dirty="0">
                <a:solidFill>
                  <a:srgbClr val="B8321F"/>
                </a:solidFill>
                <a:latin typeface="Bahnschrift SemiBold Condensed" pitchFamily="34" charset="0"/>
                <a:ea typeface="Bahnschrift SemiBold Condensed" pitchFamily="34" charset="-122"/>
                <a:cs typeface="Bahnschrift SemiBold Condensed" pitchFamily="34" charset="-120"/>
              </a:rPr>
              <a:t>×2,7</a:t>
            </a:r>
            <a:endParaRPr lang="en-US" sz="6600" dirty="0"/>
          </a:p>
        </p:txBody>
      </p:sp>
      <p:sp>
        <p:nvSpPr>
          <p:cNvPr id="17" name="Text 14"/>
          <p:cNvSpPr txBox="1"/>
          <p:nvPr/>
        </p:nvSpPr>
        <p:spPr>
          <a:xfrm>
            <a:off x="8247888" y="3657600"/>
            <a:ext cx="3108960" cy="822960"/>
          </a:xfrm>
          <a:prstGeom prst="rect">
            <a:avLst/>
          </a:prstGeom>
          <a:noFill/>
          <a:ln/>
        </p:spPr>
        <p:txBody>
          <a:bodyPr wrap="square" lIns="0" tIns="0" rIns="0" bIns="0" rtlCol="0" anchor="t"/>
          <a:lstStyle/>
          <a:p>
            <a:pPr marL="0" indent="0">
              <a:buNone/>
            </a:pPr>
            <a:r>
              <a:rPr lang="en-US" sz="1500" dirty="0">
                <a:solidFill>
                  <a:srgbClr val="3A372F"/>
                </a:solidFill>
                <a:latin typeface="Georgia" pitchFamily="34" charset="0"/>
                <a:ea typeface="Georgia" pitchFamily="34" charset="-122"/>
                <a:cs typeface="Georgia" pitchFamily="34" charset="-120"/>
              </a:rPr>
              <a:t>los siniestros de 2025 son 2,7 veces más mortales que los de 2017.</a:t>
            </a:r>
            <a:endParaRPr lang="en-US" sz="1500" dirty="0"/>
          </a:p>
        </p:txBody>
      </p:sp>
      <p:sp>
        <p:nvSpPr>
          <p:cNvPr id="18" name="tarjeta"/>
          <p:cNvSpPr/>
          <p:nvPr/>
        </p:nvSpPr>
        <p:spPr>
          <a:xfrm>
            <a:off x="548640" y="4800600"/>
            <a:ext cx="11018520" cy="1325880"/>
          </a:xfrm>
          <a:prstGeom prst="rect">
            <a:avLst/>
          </a:prstGeom>
          <a:solidFill>
            <a:srgbClr val="FBFAF6"/>
          </a:solidFill>
          <a:ln w="15875">
            <a:solidFill>
              <a:srgbClr val="16150F"/>
            </a:solidFill>
            <a:prstDash val="solid"/>
          </a:ln>
        </p:spPr>
      </p:sp>
      <p:sp>
        <p:nvSpPr>
          <p:cNvPr id="19" name="Text 16"/>
          <p:cNvSpPr txBox="1"/>
          <p:nvPr/>
        </p:nvSpPr>
        <p:spPr>
          <a:xfrm>
            <a:off x="749808" y="4946904"/>
            <a:ext cx="1061618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FALLECIDOS POR CADA 1.000 SINIESTROS</a:t>
            </a:r>
            <a:endParaRPr lang="en-US" sz="1000" dirty="0"/>
          </a:p>
        </p:txBody>
      </p:sp>
      <p:graphicFrame>
        <p:nvGraphicFramePr>
          <p:cNvPr id="20" name="Chart 0"/>
          <p:cNvGraphicFramePr/>
          <p:nvPr/>
        </p:nvGraphicFramePr>
        <p:xfrm>
          <a:off x="685800" y="5029200"/>
          <a:ext cx="7863840" cy="105156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 17"/>
          <p:cNvSpPr txBox="1"/>
          <p:nvPr/>
        </p:nvSpPr>
        <p:spPr>
          <a:xfrm>
            <a:off x="8778240" y="5166360"/>
            <a:ext cx="2651760" cy="868680"/>
          </a:xfrm>
          <a:prstGeom prst="rect">
            <a:avLst/>
          </a:prstGeom>
          <a:noFill/>
          <a:ln/>
        </p:spPr>
        <p:txBody>
          <a:bodyPr wrap="square" lIns="0" tIns="0" rIns="0" bIns="0" rtlCol="0" anchor="t"/>
          <a:lstStyle/>
          <a:p>
            <a:pPr marL="0" indent="0">
              <a:buNone/>
            </a:pPr>
            <a:r>
              <a:rPr lang="en-US" sz="1400" i="1" dirty="0">
                <a:solidFill>
                  <a:srgbClr val="3A372F"/>
                </a:solidFill>
                <a:latin typeface="Georgia" pitchFamily="34" charset="0"/>
                <a:ea typeface="Georgia" pitchFamily="34" charset="-122"/>
                <a:cs typeface="Georgia" pitchFamily="34" charset="-120"/>
              </a:rPr>
              <a:t>De 31 en 2017 a 85 en 2025: menos siniestros, más mortales.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03 · PROBLEMA Y OBJETIVOS</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PROBLEMA Y OBJETIVO GENERAL</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Las autoridades saben lo que ya pasó, pero no tienen una herramienta que anticipe dónde y cuándo habrá más riesgo.</a:t>
            </a:r>
            <a:endParaRPr lang="en-US" sz="1700" dirty="0"/>
          </a:p>
        </p:txBody>
      </p:sp>
      <p:sp>
        <p:nvSpPr>
          <p:cNvPr id="6" name="tarjeta"/>
          <p:cNvSpPr/>
          <p:nvPr/>
        </p:nvSpPr>
        <p:spPr>
          <a:xfrm>
            <a:off x="548640" y="2240280"/>
            <a:ext cx="5349240" cy="3840480"/>
          </a:xfrm>
          <a:prstGeom prst="rect">
            <a:avLst/>
          </a:prstGeom>
          <a:solidFill>
            <a:srgbClr val="FBFAF6"/>
          </a:solidFill>
          <a:ln w="15875">
            <a:solidFill>
              <a:srgbClr val="16150F"/>
            </a:solidFill>
            <a:prstDash val="solid"/>
          </a:ln>
        </p:spPr>
      </p:sp>
      <p:sp>
        <p:nvSpPr>
          <p:cNvPr id="7" name="Text 4"/>
          <p:cNvSpPr txBox="1"/>
          <p:nvPr/>
        </p:nvSpPr>
        <p:spPr>
          <a:xfrm>
            <a:off x="749808" y="2386584"/>
            <a:ext cx="49469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PROBLEMA PRINCIPAL</a:t>
            </a:r>
            <a:endParaRPr lang="en-US" sz="1000" dirty="0"/>
          </a:p>
        </p:txBody>
      </p:sp>
      <p:sp>
        <p:nvSpPr>
          <p:cNvPr id="8" name="Text 5"/>
          <p:cNvSpPr txBox="1"/>
          <p:nvPr/>
        </p:nvSpPr>
        <p:spPr>
          <a:xfrm>
            <a:off x="777240" y="2651760"/>
            <a:ext cx="4937760" cy="640080"/>
          </a:xfrm>
          <a:prstGeom prst="rect">
            <a:avLst/>
          </a:prstGeom>
          <a:noFill/>
          <a:ln/>
        </p:spPr>
        <p:txBody>
          <a:bodyPr wrap="square" lIns="0" tIns="0" rIns="0" bIns="0" rtlCol="0" anchor="ctr"/>
          <a:lstStyle/>
          <a:p>
            <a:pPr marL="0" indent="0">
              <a:buNone/>
            </a:pPr>
            <a:r>
              <a:rPr lang="en-US" sz="4000" dirty="0">
                <a:solidFill>
                  <a:srgbClr val="B8321F"/>
                </a:solidFill>
                <a:latin typeface="Bahnschrift SemiBold Condensed" pitchFamily="34" charset="0"/>
                <a:ea typeface="Bahnschrift SemiBold Condensed" pitchFamily="34" charset="-122"/>
                <a:cs typeface="Bahnschrift SemiBold Condensed" pitchFamily="34" charset="-120"/>
              </a:rPr>
              <a:t>¿DÓNDE Y CUÁNDO?</a:t>
            </a:r>
            <a:endParaRPr lang="en-US" sz="4000" dirty="0"/>
          </a:p>
        </p:txBody>
      </p:sp>
      <p:sp>
        <p:nvSpPr>
          <p:cNvPr id="9" name="Text 6"/>
          <p:cNvSpPr txBox="1"/>
          <p:nvPr/>
        </p:nvSpPr>
        <p:spPr>
          <a:xfrm>
            <a:off x="777240" y="3429000"/>
            <a:ext cx="4892040" cy="2468880"/>
          </a:xfrm>
          <a:prstGeom prst="rect">
            <a:avLst/>
          </a:prstGeom>
          <a:noFill/>
          <a:ln/>
        </p:spPr>
        <p:txBody>
          <a:bodyPr wrap="square" lIns="0" tIns="0" rIns="0" bIns="0" rtlCol="0" anchor="t"/>
          <a:lstStyle/>
          <a:p>
            <a:pPr marL="0" indent="0">
              <a:buNone/>
            </a:pPr>
            <a:r>
              <a:rPr lang="en-US" sz="1900" dirty="0">
                <a:solidFill>
                  <a:srgbClr val="3A372F"/>
                </a:solidFill>
                <a:latin typeface="Georgia" pitchFamily="34" charset="0"/>
                <a:ea typeface="Georgia" pitchFamily="34" charset="-122"/>
                <a:cs typeface="Georgia" pitchFamily="34" charset="-120"/>
              </a:rPr>
              <a:t>Los reportes actuales solo describen los siniestros que ya ocurrieron. No permiten anticipar en qué zonas y en qué horarios existe mayor riesgo, considerando la ubicación, la hora, el día y el clima.</a:t>
            </a:r>
            <a:endParaRPr lang="en-US" sz="1900" dirty="0"/>
          </a:p>
        </p:txBody>
      </p:sp>
      <p:sp>
        <p:nvSpPr>
          <p:cNvPr id="10" name="tarjeta"/>
          <p:cNvSpPr/>
          <p:nvPr/>
        </p:nvSpPr>
        <p:spPr>
          <a:xfrm>
            <a:off x="6217920" y="2240280"/>
            <a:ext cx="5349240" cy="3840480"/>
          </a:xfrm>
          <a:prstGeom prst="rect">
            <a:avLst/>
          </a:prstGeom>
          <a:solidFill>
            <a:srgbClr val="16150F"/>
          </a:solidFill>
          <a:ln w="15875">
            <a:solidFill>
              <a:srgbClr val="16150F"/>
            </a:solidFill>
            <a:prstDash val="solid"/>
          </a:ln>
        </p:spPr>
      </p:sp>
      <p:sp>
        <p:nvSpPr>
          <p:cNvPr id="11" name="Text 8"/>
          <p:cNvSpPr txBox="1"/>
          <p:nvPr/>
        </p:nvSpPr>
        <p:spPr>
          <a:xfrm>
            <a:off x="6419088" y="2386584"/>
            <a:ext cx="4946904" cy="256032"/>
          </a:xfrm>
          <a:prstGeom prst="rect">
            <a:avLst/>
          </a:prstGeom>
          <a:noFill/>
          <a:ln/>
        </p:spPr>
        <p:txBody>
          <a:bodyPr wrap="square" lIns="0" tIns="0" rIns="0" bIns="0" rtlCol="0" anchor="ctr"/>
          <a:lstStyle/>
          <a:p>
            <a:pPr marL="0" indent="0">
              <a:buNone/>
            </a:pPr>
            <a:r>
              <a:rPr lang="en-US" sz="1000" kern="0" spc="200" dirty="0">
                <a:solidFill>
                  <a:srgbClr val="C9C2B0"/>
                </a:solidFill>
                <a:latin typeface="Consolas" pitchFamily="34" charset="0"/>
                <a:ea typeface="Consolas" pitchFamily="34" charset="-122"/>
                <a:cs typeface="Consolas" pitchFamily="34" charset="-120"/>
              </a:rPr>
              <a:t>OBJETIVO GENERAL</a:t>
            </a:r>
            <a:endParaRPr lang="en-US" sz="1000" dirty="0"/>
          </a:p>
        </p:txBody>
      </p:sp>
      <p:sp>
        <p:nvSpPr>
          <p:cNvPr id="12" name="Text 9"/>
          <p:cNvSpPr txBox="1"/>
          <p:nvPr/>
        </p:nvSpPr>
        <p:spPr>
          <a:xfrm>
            <a:off x="6446520" y="2651760"/>
            <a:ext cx="4937760" cy="640080"/>
          </a:xfrm>
          <a:prstGeom prst="rect">
            <a:avLst/>
          </a:prstGeom>
          <a:noFill/>
          <a:ln/>
        </p:spPr>
        <p:txBody>
          <a:bodyPr wrap="square" lIns="0" tIns="0" rIns="0" bIns="0" rtlCol="0" anchor="ctr"/>
          <a:lstStyle/>
          <a:p>
            <a:pPr marL="0" indent="0">
              <a:buNone/>
            </a:pPr>
            <a:r>
              <a:rPr lang="en-US" sz="4000" dirty="0">
                <a:solidFill>
                  <a:srgbClr val="F1EEE6"/>
                </a:solidFill>
                <a:latin typeface="Bahnschrift SemiBold Condensed" pitchFamily="34" charset="0"/>
                <a:ea typeface="Bahnschrift SemiBold Condensed" pitchFamily="34" charset="-122"/>
                <a:cs typeface="Bahnschrift SemiBold Condensed" pitchFamily="34" charset="-120"/>
              </a:rPr>
              <a:t>NUESTRA RESPUESTA</a:t>
            </a:r>
            <a:endParaRPr lang="en-US" sz="4000" dirty="0"/>
          </a:p>
        </p:txBody>
      </p:sp>
      <p:sp>
        <p:nvSpPr>
          <p:cNvPr id="13" name="Text 10"/>
          <p:cNvSpPr txBox="1"/>
          <p:nvPr/>
        </p:nvSpPr>
        <p:spPr>
          <a:xfrm>
            <a:off x="6446520" y="3429000"/>
            <a:ext cx="4892040" cy="2468880"/>
          </a:xfrm>
          <a:prstGeom prst="rect">
            <a:avLst/>
          </a:prstGeom>
          <a:noFill/>
          <a:ln/>
        </p:spPr>
        <p:txBody>
          <a:bodyPr wrap="square" lIns="0" tIns="0" rIns="0" bIns="0" rtlCol="0" anchor="t"/>
          <a:lstStyle/>
          <a:p>
            <a:pPr marL="0" indent="0">
              <a:buNone/>
            </a:pPr>
            <a:r>
              <a:rPr lang="en-US" sz="1900" dirty="0">
                <a:solidFill>
                  <a:srgbClr val="E6E1D5"/>
                </a:solidFill>
                <a:latin typeface="Georgia" pitchFamily="34" charset="0"/>
                <a:ea typeface="Georgia" pitchFamily="34" charset="-122"/>
                <a:cs typeface="Georgia" pitchFamily="34" charset="-120"/>
              </a:rPr>
              <a:t>Desarrollar una solución de ciencia de datos que integre los siniestros de Quito con su ubicación, horario y clima, para identificar las zonas de mayor riesgo y estimar el nivel de riesgo por zona y franja horaria.</a:t>
            </a:r>
            <a:endParaRPr lang="en-US" sz="19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03 · PROBLEMA Y OBJETIVOS</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OBJETIVOS ESPECÍFICOS Y PREGUNTAS</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Cada objetivo responde a una pregunta que buscamos contestar con los datos.</a:t>
            </a:r>
            <a:endParaRPr lang="en-US" sz="1700" dirty="0"/>
          </a:p>
        </p:txBody>
      </p:sp>
      <p:sp>
        <p:nvSpPr>
          <p:cNvPr id="6" name="tarjeta"/>
          <p:cNvSpPr/>
          <p:nvPr/>
        </p:nvSpPr>
        <p:spPr>
          <a:xfrm>
            <a:off x="548640" y="2057400"/>
            <a:ext cx="6537960" cy="4069080"/>
          </a:xfrm>
          <a:prstGeom prst="rect">
            <a:avLst/>
          </a:prstGeom>
          <a:solidFill>
            <a:srgbClr val="FBFAF6"/>
          </a:solidFill>
          <a:ln w="15875">
            <a:solidFill>
              <a:srgbClr val="16150F"/>
            </a:solidFill>
            <a:prstDash val="solid"/>
          </a:ln>
        </p:spPr>
      </p:sp>
      <p:sp>
        <p:nvSpPr>
          <p:cNvPr id="7" name="Text 4"/>
          <p:cNvSpPr txBox="1"/>
          <p:nvPr/>
        </p:nvSpPr>
        <p:spPr>
          <a:xfrm>
            <a:off x="749808" y="2203704"/>
            <a:ext cx="613562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OBJETIVOS ESPECÍFICOS</a:t>
            </a:r>
            <a:endParaRPr lang="en-US" sz="1000" dirty="0"/>
          </a:p>
        </p:txBody>
      </p:sp>
      <p:sp>
        <p:nvSpPr>
          <p:cNvPr id="8" name="Text 5"/>
          <p:cNvSpPr txBox="1"/>
          <p:nvPr/>
        </p:nvSpPr>
        <p:spPr>
          <a:xfrm>
            <a:off x="777240" y="2450592"/>
            <a:ext cx="457200" cy="548640"/>
          </a:xfrm>
          <a:prstGeom prst="rect">
            <a:avLst/>
          </a:prstGeom>
          <a:noFill/>
          <a:ln/>
        </p:spPr>
        <p:txBody>
          <a:bodyPr wrap="square" lIns="0" tIns="0" rIns="0" bIns="0" rtlCol="0" anchor="ctr"/>
          <a:lstStyle/>
          <a:p>
            <a:pPr marL="0" indent="0">
              <a:buNone/>
            </a:pPr>
            <a:r>
              <a:rPr lang="en-US" sz="3000" dirty="0">
                <a:solidFill>
                  <a:srgbClr val="B8321F"/>
                </a:solidFill>
                <a:latin typeface="Bahnschrift SemiBold Condensed" pitchFamily="34" charset="0"/>
                <a:ea typeface="Bahnschrift SemiBold Condensed" pitchFamily="34" charset="-122"/>
                <a:cs typeface="Bahnschrift SemiBold Condensed" pitchFamily="34" charset="-120"/>
              </a:rPr>
              <a:t>1</a:t>
            </a:r>
            <a:endParaRPr lang="en-US" sz="3000" dirty="0"/>
          </a:p>
        </p:txBody>
      </p:sp>
      <p:sp>
        <p:nvSpPr>
          <p:cNvPr id="9" name="Text 6"/>
          <p:cNvSpPr txBox="1"/>
          <p:nvPr/>
        </p:nvSpPr>
        <p:spPr>
          <a:xfrm>
            <a:off x="1280160" y="2450592"/>
            <a:ext cx="5623560" cy="548640"/>
          </a:xfrm>
          <a:prstGeom prst="rect">
            <a:avLst/>
          </a:prstGeom>
          <a:noFill/>
          <a:ln/>
        </p:spPr>
        <p:txBody>
          <a:bodyPr wrap="square" lIns="0" tIns="0" rIns="0" bIns="0" rtlCol="0" anchor="ctr"/>
          <a:lstStyle/>
          <a:p>
            <a:pPr marL="0" indent="0">
              <a:buNone/>
            </a:pPr>
            <a:r>
              <a:rPr lang="en-US" sz="1550" dirty="0">
                <a:solidFill>
                  <a:srgbClr val="3A372F"/>
                </a:solidFill>
                <a:latin typeface="Georgia" pitchFamily="34" charset="0"/>
                <a:ea typeface="Georgia" pitchFamily="34" charset="-122"/>
                <a:cs typeface="Georgia" pitchFamily="34" charset="-120"/>
              </a:rPr>
              <a:t>Recopilar, limpiar y transformar los registros oficiales de 2017 a 2026.</a:t>
            </a:r>
            <a:endParaRPr lang="en-US" sz="1550" dirty="0"/>
          </a:p>
        </p:txBody>
      </p:sp>
      <p:sp>
        <p:nvSpPr>
          <p:cNvPr id="10" name="Text 7"/>
          <p:cNvSpPr txBox="1"/>
          <p:nvPr/>
        </p:nvSpPr>
        <p:spPr>
          <a:xfrm>
            <a:off x="777240" y="3163824"/>
            <a:ext cx="457200" cy="548640"/>
          </a:xfrm>
          <a:prstGeom prst="rect">
            <a:avLst/>
          </a:prstGeom>
          <a:noFill/>
          <a:ln/>
        </p:spPr>
        <p:txBody>
          <a:bodyPr wrap="square" lIns="0" tIns="0" rIns="0" bIns="0" rtlCol="0" anchor="ctr"/>
          <a:lstStyle/>
          <a:p>
            <a:pPr marL="0" indent="0">
              <a:buNone/>
            </a:pPr>
            <a:r>
              <a:rPr lang="en-US" sz="3000" dirty="0">
                <a:solidFill>
                  <a:srgbClr val="B8321F"/>
                </a:solidFill>
                <a:latin typeface="Bahnschrift SemiBold Condensed" pitchFamily="34" charset="0"/>
                <a:ea typeface="Bahnschrift SemiBold Condensed" pitchFamily="34" charset="-122"/>
                <a:cs typeface="Bahnschrift SemiBold Condensed" pitchFamily="34" charset="-120"/>
              </a:rPr>
              <a:t>2</a:t>
            </a:r>
            <a:endParaRPr lang="en-US" sz="3000" dirty="0"/>
          </a:p>
        </p:txBody>
      </p:sp>
      <p:sp>
        <p:nvSpPr>
          <p:cNvPr id="11" name="Text 8"/>
          <p:cNvSpPr txBox="1"/>
          <p:nvPr/>
        </p:nvSpPr>
        <p:spPr>
          <a:xfrm>
            <a:off x="1280160" y="3163824"/>
            <a:ext cx="5623560" cy="548640"/>
          </a:xfrm>
          <a:prstGeom prst="rect">
            <a:avLst/>
          </a:prstGeom>
          <a:noFill/>
          <a:ln/>
        </p:spPr>
        <p:txBody>
          <a:bodyPr wrap="square" lIns="0" tIns="0" rIns="0" bIns="0" rtlCol="0" anchor="ctr"/>
          <a:lstStyle/>
          <a:p>
            <a:pPr marL="0" indent="0">
              <a:buNone/>
            </a:pPr>
            <a:r>
              <a:rPr lang="en-US" sz="1550" dirty="0">
                <a:solidFill>
                  <a:srgbClr val="3A372F"/>
                </a:solidFill>
                <a:latin typeface="Georgia" pitchFamily="34" charset="0"/>
                <a:ea typeface="Georgia" pitchFamily="34" charset="-122"/>
                <a:cs typeface="Georgia" pitchFamily="34" charset="-120"/>
              </a:rPr>
              <a:t>Encontrar los patrones de tiempo y de lugar de los siniestros.</a:t>
            </a:r>
            <a:endParaRPr lang="en-US" sz="1550" dirty="0"/>
          </a:p>
        </p:txBody>
      </p:sp>
      <p:sp>
        <p:nvSpPr>
          <p:cNvPr id="12" name="Text 9"/>
          <p:cNvSpPr txBox="1"/>
          <p:nvPr/>
        </p:nvSpPr>
        <p:spPr>
          <a:xfrm>
            <a:off x="777240" y="3877056"/>
            <a:ext cx="457200" cy="548640"/>
          </a:xfrm>
          <a:prstGeom prst="rect">
            <a:avLst/>
          </a:prstGeom>
          <a:noFill/>
          <a:ln/>
        </p:spPr>
        <p:txBody>
          <a:bodyPr wrap="square" lIns="0" tIns="0" rIns="0" bIns="0" rtlCol="0" anchor="ctr"/>
          <a:lstStyle/>
          <a:p>
            <a:pPr marL="0" indent="0">
              <a:buNone/>
            </a:pPr>
            <a:r>
              <a:rPr lang="en-US" sz="3000" dirty="0">
                <a:solidFill>
                  <a:srgbClr val="B8321F"/>
                </a:solidFill>
                <a:latin typeface="Bahnschrift SemiBold Condensed" pitchFamily="34" charset="0"/>
                <a:ea typeface="Bahnschrift SemiBold Condensed" pitchFamily="34" charset="-122"/>
                <a:cs typeface="Bahnschrift SemiBold Condensed" pitchFamily="34" charset="-120"/>
              </a:rPr>
              <a:t>3</a:t>
            </a:r>
            <a:endParaRPr lang="en-US" sz="3000" dirty="0"/>
          </a:p>
        </p:txBody>
      </p:sp>
      <p:sp>
        <p:nvSpPr>
          <p:cNvPr id="13" name="Text 10"/>
          <p:cNvSpPr txBox="1"/>
          <p:nvPr/>
        </p:nvSpPr>
        <p:spPr>
          <a:xfrm>
            <a:off x="1280160" y="3877056"/>
            <a:ext cx="5623560" cy="548640"/>
          </a:xfrm>
          <a:prstGeom prst="rect">
            <a:avLst/>
          </a:prstGeom>
          <a:noFill/>
          <a:ln/>
        </p:spPr>
        <p:txBody>
          <a:bodyPr wrap="square" lIns="0" tIns="0" rIns="0" bIns="0" rtlCol="0" anchor="ctr"/>
          <a:lstStyle/>
          <a:p>
            <a:pPr marL="0" indent="0">
              <a:buNone/>
            </a:pPr>
            <a:r>
              <a:rPr lang="en-US" sz="1550" dirty="0">
                <a:solidFill>
                  <a:srgbClr val="3A372F"/>
                </a:solidFill>
                <a:latin typeface="Georgia" pitchFamily="34" charset="0"/>
                <a:ea typeface="Georgia" pitchFamily="34" charset="-122"/>
                <a:cs typeface="Georgia" pitchFamily="34" charset="-120"/>
              </a:rPr>
              <a:t>Cruzar cada siniestro con el clima que había en ese momento.</a:t>
            </a:r>
            <a:endParaRPr lang="en-US" sz="1550" dirty="0"/>
          </a:p>
        </p:txBody>
      </p:sp>
      <p:sp>
        <p:nvSpPr>
          <p:cNvPr id="14" name="Text 11"/>
          <p:cNvSpPr txBox="1"/>
          <p:nvPr/>
        </p:nvSpPr>
        <p:spPr>
          <a:xfrm>
            <a:off x="777240" y="4590288"/>
            <a:ext cx="457200" cy="548640"/>
          </a:xfrm>
          <a:prstGeom prst="rect">
            <a:avLst/>
          </a:prstGeom>
          <a:noFill/>
          <a:ln/>
        </p:spPr>
        <p:txBody>
          <a:bodyPr wrap="square" lIns="0" tIns="0" rIns="0" bIns="0" rtlCol="0" anchor="ctr"/>
          <a:lstStyle/>
          <a:p>
            <a:pPr marL="0" indent="0">
              <a:buNone/>
            </a:pPr>
            <a:r>
              <a:rPr lang="en-US" sz="3000" dirty="0">
                <a:solidFill>
                  <a:srgbClr val="B8321F"/>
                </a:solidFill>
                <a:latin typeface="Bahnschrift SemiBold Condensed" pitchFamily="34" charset="0"/>
                <a:ea typeface="Bahnschrift SemiBold Condensed" pitchFamily="34" charset="-122"/>
                <a:cs typeface="Bahnschrift SemiBold Condensed" pitchFamily="34" charset="-120"/>
              </a:rPr>
              <a:t>4</a:t>
            </a:r>
            <a:endParaRPr lang="en-US" sz="3000" dirty="0"/>
          </a:p>
        </p:txBody>
      </p:sp>
      <p:sp>
        <p:nvSpPr>
          <p:cNvPr id="15" name="Text 12"/>
          <p:cNvSpPr txBox="1"/>
          <p:nvPr/>
        </p:nvSpPr>
        <p:spPr>
          <a:xfrm>
            <a:off x="1280160" y="4590288"/>
            <a:ext cx="5623560" cy="548640"/>
          </a:xfrm>
          <a:prstGeom prst="rect">
            <a:avLst/>
          </a:prstGeom>
          <a:noFill/>
          <a:ln/>
        </p:spPr>
        <p:txBody>
          <a:bodyPr wrap="square" lIns="0" tIns="0" rIns="0" bIns="0" rtlCol="0" anchor="ctr"/>
          <a:lstStyle/>
          <a:p>
            <a:pPr marL="0" indent="0">
              <a:buNone/>
            </a:pPr>
            <a:r>
              <a:rPr lang="en-US" sz="1550" dirty="0">
                <a:solidFill>
                  <a:srgbClr val="3A372F"/>
                </a:solidFill>
                <a:latin typeface="Georgia" pitchFamily="34" charset="0"/>
                <a:ea typeface="Georgia" pitchFamily="34" charset="-122"/>
                <a:cs typeface="Georgia" pitchFamily="34" charset="-120"/>
              </a:rPr>
              <a:t>Construir un modelo que estime el nivel de riesgo por zona y hora.</a:t>
            </a:r>
            <a:endParaRPr lang="en-US" sz="1550" dirty="0"/>
          </a:p>
        </p:txBody>
      </p:sp>
      <p:sp>
        <p:nvSpPr>
          <p:cNvPr id="16" name="Text 13"/>
          <p:cNvSpPr txBox="1"/>
          <p:nvPr/>
        </p:nvSpPr>
        <p:spPr>
          <a:xfrm>
            <a:off x="777240" y="5303520"/>
            <a:ext cx="457200" cy="548640"/>
          </a:xfrm>
          <a:prstGeom prst="rect">
            <a:avLst/>
          </a:prstGeom>
          <a:noFill/>
          <a:ln/>
        </p:spPr>
        <p:txBody>
          <a:bodyPr wrap="square" lIns="0" tIns="0" rIns="0" bIns="0" rtlCol="0" anchor="ctr"/>
          <a:lstStyle/>
          <a:p>
            <a:pPr marL="0" indent="0">
              <a:buNone/>
            </a:pPr>
            <a:r>
              <a:rPr lang="en-US" sz="3000" dirty="0">
                <a:solidFill>
                  <a:srgbClr val="B8321F"/>
                </a:solidFill>
                <a:latin typeface="Bahnschrift SemiBold Condensed" pitchFamily="34" charset="0"/>
                <a:ea typeface="Bahnschrift SemiBold Condensed" pitchFamily="34" charset="-122"/>
                <a:cs typeface="Bahnschrift SemiBold Condensed" pitchFamily="34" charset="-120"/>
              </a:rPr>
              <a:t>5</a:t>
            </a:r>
            <a:endParaRPr lang="en-US" sz="3000" dirty="0"/>
          </a:p>
        </p:txBody>
      </p:sp>
      <p:sp>
        <p:nvSpPr>
          <p:cNvPr id="17" name="Text 14"/>
          <p:cNvSpPr txBox="1"/>
          <p:nvPr/>
        </p:nvSpPr>
        <p:spPr>
          <a:xfrm>
            <a:off x="1280160" y="5303520"/>
            <a:ext cx="5623560" cy="548640"/>
          </a:xfrm>
          <a:prstGeom prst="rect">
            <a:avLst/>
          </a:prstGeom>
          <a:noFill/>
          <a:ln/>
        </p:spPr>
        <p:txBody>
          <a:bodyPr wrap="square" lIns="0" tIns="0" rIns="0" bIns="0" rtlCol="0" anchor="ctr"/>
          <a:lstStyle/>
          <a:p>
            <a:pPr marL="0" indent="0">
              <a:buNone/>
            </a:pPr>
            <a:r>
              <a:rPr lang="en-US" sz="1550" dirty="0">
                <a:solidFill>
                  <a:srgbClr val="3A372F"/>
                </a:solidFill>
                <a:latin typeface="Georgia" pitchFamily="34" charset="0"/>
                <a:ea typeface="Georgia" pitchFamily="34" charset="-122"/>
                <a:cs typeface="Georgia" pitchFamily="34" charset="-120"/>
              </a:rPr>
              <a:t>Diseñar un dashboard con mapa y simulador de escenarios.</a:t>
            </a:r>
            <a:endParaRPr lang="en-US" sz="1550" dirty="0"/>
          </a:p>
        </p:txBody>
      </p:sp>
      <p:sp>
        <p:nvSpPr>
          <p:cNvPr id="18" name="tarjeta"/>
          <p:cNvSpPr/>
          <p:nvPr/>
        </p:nvSpPr>
        <p:spPr>
          <a:xfrm>
            <a:off x="7360920" y="2057400"/>
            <a:ext cx="4206240" cy="4069080"/>
          </a:xfrm>
          <a:prstGeom prst="rect">
            <a:avLst/>
          </a:prstGeom>
          <a:solidFill>
            <a:srgbClr val="16150F"/>
          </a:solidFill>
          <a:ln w="15875">
            <a:solidFill>
              <a:srgbClr val="16150F"/>
            </a:solidFill>
            <a:prstDash val="solid"/>
          </a:ln>
        </p:spPr>
      </p:sp>
      <p:sp>
        <p:nvSpPr>
          <p:cNvPr id="19" name="Text 16"/>
          <p:cNvSpPr txBox="1"/>
          <p:nvPr/>
        </p:nvSpPr>
        <p:spPr>
          <a:xfrm>
            <a:off x="7562088" y="2203704"/>
            <a:ext cx="3803904" cy="256032"/>
          </a:xfrm>
          <a:prstGeom prst="rect">
            <a:avLst/>
          </a:prstGeom>
          <a:noFill/>
          <a:ln/>
        </p:spPr>
        <p:txBody>
          <a:bodyPr wrap="square" lIns="0" tIns="0" rIns="0" bIns="0" rtlCol="0" anchor="ctr"/>
          <a:lstStyle/>
          <a:p>
            <a:pPr marL="0" indent="0">
              <a:buNone/>
            </a:pPr>
            <a:r>
              <a:rPr lang="en-US" sz="1000" kern="0" spc="200" dirty="0">
                <a:solidFill>
                  <a:srgbClr val="C9C2B0"/>
                </a:solidFill>
                <a:latin typeface="Consolas" pitchFamily="34" charset="0"/>
                <a:ea typeface="Consolas" pitchFamily="34" charset="-122"/>
                <a:cs typeface="Consolas" pitchFamily="34" charset="-120"/>
              </a:rPr>
              <a:t>PREGUNTAS QUE RESPONDEMOS</a:t>
            </a:r>
            <a:endParaRPr lang="en-US" sz="1000" dirty="0"/>
          </a:p>
        </p:txBody>
      </p:sp>
      <p:sp>
        <p:nvSpPr>
          <p:cNvPr id="20" name="Text 17"/>
          <p:cNvSpPr txBox="1"/>
          <p:nvPr/>
        </p:nvSpPr>
        <p:spPr>
          <a:xfrm>
            <a:off x="7589520" y="2487168"/>
            <a:ext cx="3794760" cy="777240"/>
          </a:xfrm>
          <a:prstGeom prst="rect">
            <a:avLst/>
          </a:prstGeom>
          <a:noFill/>
          <a:ln/>
        </p:spPr>
        <p:txBody>
          <a:bodyPr wrap="square" lIns="0" tIns="0" rIns="0" bIns="0" rtlCol="0" anchor="t"/>
          <a:lstStyle/>
          <a:p>
            <a:pPr marL="0" indent="0">
              <a:buNone/>
            </a:pPr>
            <a:r>
              <a:rPr lang="en-US" sz="1600" dirty="0">
                <a:solidFill>
                  <a:srgbClr val="F1EEE6"/>
                </a:solidFill>
                <a:latin typeface="Bahnschrift SemiBold Condensed" pitchFamily="34" charset="0"/>
                <a:ea typeface="Bahnschrift SemiBold Condensed" pitchFamily="34" charset="-122"/>
                <a:cs typeface="Bahnschrift SemiBold Condensed" pitchFamily="34" charset="-120"/>
              </a:rPr>
              <a:t>¿Qué zonas, horas y días tienen más riesgo?</a:t>
            </a:r>
            <a:endParaRPr lang="en-US" sz="1600" dirty="0"/>
          </a:p>
        </p:txBody>
      </p:sp>
      <p:sp>
        <p:nvSpPr>
          <p:cNvPr id="21" name="Text 18"/>
          <p:cNvSpPr txBox="1"/>
          <p:nvPr/>
        </p:nvSpPr>
        <p:spPr>
          <a:xfrm>
            <a:off x="7589520" y="3383280"/>
            <a:ext cx="3794760" cy="777240"/>
          </a:xfrm>
          <a:prstGeom prst="rect">
            <a:avLst/>
          </a:prstGeom>
          <a:noFill/>
          <a:ln/>
        </p:spPr>
        <p:txBody>
          <a:bodyPr wrap="square" lIns="0" tIns="0" rIns="0" bIns="0" rtlCol="0" anchor="t"/>
          <a:lstStyle/>
          <a:p>
            <a:pPr marL="0" indent="0">
              <a:buNone/>
            </a:pPr>
            <a:r>
              <a:rPr lang="en-US" sz="1600" dirty="0">
                <a:solidFill>
                  <a:srgbClr val="F1EEE6"/>
                </a:solidFill>
                <a:latin typeface="Bahnschrift SemiBold Condensed" pitchFamily="34" charset="0"/>
                <a:ea typeface="Bahnschrift SemiBold Condensed" pitchFamily="34" charset="-122"/>
                <a:cs typeface="Bahnschrift SemiBold Condensed" pitchFamily="34" charset="-120"/>
              </a:rPr>
              <a:t>¿La lluvia influye en los siniestros?</a:t>
            </a:r>
            <a:endParaRPr lang="en-US" sz="1600" dirty="0"/>
          </a:p>
        </p:txBody>
      </p:sp>
      <p:sp>
        <p:nvSpPr>
          <p:cNvPr id="22" name="Text 19"/>
          <p:cNvSpPr txBox="1"/>
          <p:nvPr/>
        </p:nvSpPr>
        <p:spPr>
          <a:xfrm>
            <a:off x="7589520" y="4279392"/>
            <a:ext cx="3794760" cy="777240"/>
          </a:xfrm>
          <a:prstGeom prst="rect">
            <a:avLst/>
          </a:prstGeom>
          <a:noFill/>
          <a:ln/>
        </p:spPr>
        <p:txBody>
          <a:bodyPr wrap="square" lIns="0" tIns="0" rIns="0" bIns="0" rtlCol="0" anchor="t"/>
          <a:lstStyle/>
          <a:p>
            <a:pPr marL="0" indent="0">
              <a:buNone/>
            </a:pPr>
            <a:r>
              <a:rPr lang="en-US" sz="1600" dirty="0">
                <a:solidFill>
                  <a:srgbClr val="F1EEE6"/>
                </a:solidFill>
                <a:latin typeface="Bahnschrift SemiBold Condensed" pitchFamily="34" charset="0"/>
                <a:ea typeface="Bahnschrift SemiBold Condensed" pitchFamily="34" charset="-122"/>
                <a:cs typeface="Bahnschrift SemiBold Condensed" pitchFamily="34" charset="-120"/>
              </a:rPr>
              <a:t>¿Qué parroquias se parecen en su riesgo?</a:t>
            </a:r>
            <a:endParaRPr lang="en-US" sz="1600" dirty="0"/>
          </a:p>
        </p:txBody>
      </p:sp>
      <p:sp>
        <p:nvSpPr>
          <p:cNvPr id="23" name="Text 20"/>
          <p:cNvSpPr txBox="1"/>
          <p:nvPr/>
        </p:nvSpPr>
        <p:spPr>
          <a:xfrm>
            <a:off x="7589520" y="5175504"/>
            <a:ext cx="3794760" cy="777240"/>
          </a:xfrm>
          <a:prstGeom prst="rect">
            <a:avLst/>
          </a:prstGeom>
          <a:noFill/>
          <a:ln/>
        </p:spPr>
        <p:txBody>
          <a:bodyPr wrap="square" lIns="0" tIns="0" rIns="0" bIns="0" rtlCol="0" anchor="t"/>
          <a:lstStyle/>
          <a:p>
            <a:pPr marL="0" indent="0">
              <a:buNone/>
            </a:pPr>
            <a:r>
              <a:rPr lang="en-US" sz="1600" dirty="0">
                <a:solidFill>
                  <a:srgbClr val="F1EEE6"/>
                </a:solidFill>
                <a:latin typeface="Bahnschrift SemiBold Condensed" pitchFamily="34" charset="0"/>
                <a:ea typeface="Bahnschrift SemiBold Condensed" pitchFamily="34" charset="-122"/>
                <a:cs typeface="Bahnschrift SemiBold Condensed" pitchFamily="34" charset="-120"/>
              </a:rPr>
              <a:t>¿Se puede estimar el riesgo de una vía como la Av. Simón Bolívar?</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04 · DATOS UTILIZADOS</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DE DÓNDE OBTUVIMOS LOS DATOS</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Usamos solo fuentes oficiales y verificables: no se inventó ni se estimó ningún dato.</a:t>
            </a:r>
            <a:endParaRPr lang="en-US" sz="1700" dirty="0"/>
          </a:p>
        </p:txBody>
      </p:sp>
      <p:sp>
        <p:nvSpPr>
          <p:cNvPr id="6" name="tarjeta"/>
          <p:cNvSpPr/>
          <p:nvPr/>
        </p:nvSpPr>
        <p:spPr>
          <a:xfrm>
            <a:off x="548640" y="2240280"/>
            <a:ext cx="2606040" cy="3291840"/>
          </a:xfrm>
          <a:prstGeom prst="rect">
            <a:avLst/>
          </a:prstGeom>
          <a:solidFill>
            <a:srgbClr val="16150F"/>
          </a:solidFill>
          <a:ln w="15875">
            <a:solidFill>
              <a:srgbClr val="16150F"/>
            </a:solidFill>
            <a:prstDash val="solid"/>
          </a:ln>
        </p:spPr>
      </p:sp>
      <p:sp>
        <p:nvSpPr>
          <p:cNvPr id="7" name="Text 4"/>
          <p:cNvSpPr txBox="1"/>
          <p:nvPr/>
        </p:nvSpPr>
        <p:spPr>
          <a:xfrm>
            <a:off x="749808" y="2386584"/>
            <a:ext cx="2203704" cy="256032"/>
          </a:xfrm>
          <a:prstGeom prst="rect">
            <a:avLst/>
          </a:prstGeom>
          <a:noFill/>
          <a:ln/>
        </p:spPr>
        <p:txBody>
          <a:bodyPr wrap="square" lIns="0" tIns="0" rIns="0" bIns="0" rtlCol="0" anchor="ctr"/>
          <a:lstStyle/>
          <a:p>
            <a:pPr marL="0" indent="0">
              <a:buNone/>
            </a:pPr>
            <a:r>
              <a:rPr lang="en-US" sz="1000" kern="0" spc="200" dirty="0">
                <a:solidFill>
                  <a:srgbClr val="C9C2B0"/>
                </a:solidFill>
                <a:latin typeface="Consolas" pitchFamily="34" charset="0"/>
                <a:ea typeface="Consolas" pitchFamily="34" charset="-122"/>
                <a:cs typeface="Consolas" pitchFamily="34" charset="-120"/>
              </a:rPr>
              <a:t>2017 – 2023</a:t>
            </a:r>
            <a:endParaRPr lang="en-US" sz="1000" dirty="0"/>
          </a:p>
        </p:txBody>
      </p:sp>
      <p:sp>
        <p:nvSpPr>
          <p:cNvPr id="8" name="Text 5"/>
          <p:cNvSpPr txBox="1"/>
          <p:nvPr/>
        </p:nvSpPr>
        <p:spPr>
          <a:xfrm>
            <a:off x="749808" y="2697480"/>
            <a:ext cx="2240280" cy="914400"/>
          </a:xfrm>
          <a:prstGeom prst="rect">
            <a:avLst/>
          </a:prstGeom>
          <a:noFill/>
          <a:ln/>
        </p:spPr>
        <p:txBody>
          <a:bodyPr wrap="square" lIns="0" tIns="0" rIns="0" bIns="0" rtlCol="0" anchor="t"/>
          <a:lstStyle/>
          <a:p>
            <a:pPr marL="0" indent="0">
              <a:buNone/>
            </a:pPr>
            <a:r>
              <a:rPr lang="en-US" sz="3800" dirty="0">
                <a:solidFill>
                  <a:srgbClr val="F1EEE6"/>
                </a:solidFill>
                <a:latin typeface="Bahnschrift SemiBold Condensed" pitchFamily="34" charset="0"/>
                <a:ea typeface="Bahnschrift SemiBold Condensed" pitchFamily="34" charset="-122"/>
                <a:cs typeface="Bahnschrift SemiBold Condensed" pitchFamily="34" charset="-120"/>
              </a:rPr>
              <a:t>INEC</a:t>
            </a:r>
            <a:endParaRPr lang="en-US" sz="3800" dirty="0"/>
          </a:p>
        </p:txBody>
      </p:sp>
      <p:sp>
        <p:nvSpPr>
          <p:cNvPr id="9" name="Text 6"/>
          <p:cNvSpPr txBox="1"/>
          <p:nvPr/>
        </p:nvSpPr>
        <p:spPr>
          <a:xfrm>
            <a:off x="749808" y="3749040"/>
            <a:ext cx="2240280" cy="1645920"/>
          </a:xfrm>
          <a:prstGeom prst="rect">
            <a:avLst/>
          </a:prstGeom>
          <a:noFill/>
          <a:ln/>
        </p:spPr>
        <p:txBody>
          <a:bodyPr wrap="square" lIns="0" tIns="0" rIns="0" bIns="0" rtlCol="0" anchor="t"/>
          <a:lstStyle/>
          <a:p>
            <a:pPr marL="0" indent="0">
              <a:buNone/>
            </a:pPr>
            <a:r>
              <a:rPr lang="en-US" sz="1500" dirty="0">
                <a:solidFill>
                  <a:srgbClr val="E6E1D5"/>
                </a:solidFill>
                <a:latin typeface="Georgia" pitchFamily="34" charset="0"/>
                <a:ea typeface="Georgia" pitchFamily="34" charset="-122"/>
                <a:cs typeface="Georgia" pitchFamily="34" charset="-120"/>
              </a:rPr>
              <a:t>Siniestros por año, hora, causa y tipo. No incluye la ubicación exacta.</a:t>
            </a:r>
            <a:endParaRPr lang="en-US" sz="1500" dirty="0"/>
          </a:p>
        </p:txBody>
      </p:sp>
      <p:sp>
        <p:nvSpPr>
          <p:cNvPr id="10" name="tarjeta"/>
          <p:cNvSpPr/>
          <p:nvPr/>
        </p:nvSpPr>
        <p:spPr>
          <a:xfrm>
            <a:off x="3346704" y="2240280"/>
            <a:ext cx="2606040" cy="3291840"/>
          </a:xfrm>
          <a:prstGeom prst="rect">
            <a:avLst/>
          </a:prstGeom>
          <a:solidFill>
            <a:srgbClr val="16150F"/>
          </a:solidFill>
          <a:ln w="15875">
            <a:solidFill>
              <a:srgbClr val="16150F"/>
            </a:solidFill>
            <a:prstDash val="solid"/>
          </a:ln>
        </p:spPr>
      </p:sp>
      <p:sp>
        <p:nvSpPr>
          <p:cNvPr id="11" name="Text 8"/>
          <p:cNvSpPr txBox="1"/>
          <p:nvPr/>
        </p:nvSpPr>
        <p:spPr>
          <a:xfrm>
            <a:off x="3547872" y="2386584"/>
            <a:ext cx="2203704" cy="256032"/>
          </a:xfrm>
          <a:prstGeom prst="rect">
            <a:avLst/>
          </a:prstGeom>
          <a:noFill/>
          <a:ln/>
        </p:spPr>
        <p:txBody>
          <a:bodyPr wrap="square" lIns="0" tIns="0" rIns="0" bIns="0" rtlCol="0" anchor="ctr"/>
          <a:lstStyle/>
          <a:p>
            <a:pPr marL="0" indent="0">
              <a:buNone/>
            </a:pPr>
            <a:r>
              <a:rPr lang="en-US" sz="1000" kern="0" spc="200" dirty="0">
                <a:solidFill>
                  <a:srgbClr val="C9C2B0"/>
                </a:solidFill>
                <a:latin typeface="Consolas" pitchFamily="34" charset="0"/>
                <a:ea typeface="Consolas" pitchFamily="34" charset="-122"/>
                <a:cs typeface="Consolas" pitchFamily="34" charset="-120"/>
              </a:rPr>
              <a:t>2024 – AGO 2026</a:t>
            </a:r>
            <a:endParaRPr lang="en-US" sz="1000" dirty="0"/>
          </a:p>
        </p:txBody>
      </p:sp>
      <p:sp>
        <p:nvSpPr>
          <p:cNvPr id="12" name="Text 9"/>
          <p:cNvSpPr txBox="1"/>
          <p:nvPr/>
        </p:nvSpPr>
        <p:spPr>
          <a:xfrm>
            <a:off x="3547872" y="2697480"/>
            <a:ext cx="2240280" cy="914400"/>
          </a:xfrm>
          <a:prstGeom prst="rect">
            <a:avLst/>
          </a:prstGeom>
          <a:noFill/>
          <a:ln/>
        </p:spPr>
        <p:txBody>
          <a:bodyPr wrap="square" lIns="0" tIns="0" rIns="0" bIns="0" rtlCol="0" anchor="t"/>
          <a:lstStyle/>
          <a:p>
            <a:pPr marL="0" indent="0">
              <a:buNone/>
            </a:pPr>
            <a:r>
              <a:rPr lang="en-US" sz="3800" dirty="0">
                <a:solidFill>
                  <a:srgbClr val="F1EEE6"/>
                </a:solidFill>
                <a:latin typeface="Bahnschrift SemiBold Condensed" pitchFamily="34" charset="0"/>
                <a:ea typeface="Bahnschrift SemiBold Condensed" pitchFamily="34" charset="-122"/>
                <a:cs typeface="Bahnschrift SemiBold Condensed" pitchFamily="34" charset="-120"/>
              </a:rPr>
              <a:t>ANT</a:t>
            </a:r>
            <a:endParaRPr lang="en-US" sz="3800" dirty="0"/>
          </a:p>
        </p:txBody>
      </p:sp>
      <p:sp>
        <p:nvSpPr>
          <p:cNvPr id="13" name="Text 10"/>
          <p:cNvSpPr txBox="1"/>
          <p:nvPr/>
        </p:nvSpPr>
        <p:spPr>
          <a:xfrm>
            <a:off x="3547872" y="3749040"/>
            <a:ext cx="2240280" cy="1645920"/>
          </a:xfrm>
          <a:prstGeom prst="rect">
            <a:avLst/>
          </a:prstGeom>
          <a:noFill/>
          <a:ln/>
        </p:spPr>
        <p:txBody>
          <a:bodyPr wrap="square" lIns="0" tIns="0" rIns="0" bIns="0" rtlCol="0" anchor="t"/>
          <a:lstStyle/>
          <a:p>
            <a:pPr marL="0" indent="0">
              <a:buNone/>
            </a:pPr>
            <a:r>
              <a:rPr lang="en-US" sz="1500" dirty="0">
                <a:solidFill>
                  <a:srgbClr val="E6E1D5"/>
                </a:solidFill>
                <a:latin typeface="Georgia" pitchFamily="34" charset="0"/>
                <a:ea typeface="Georgia" pitchFamily="34" charset="-122"/>
                <a:cs typeface="Georgia" pitchFamily="34" charset="-120"/>
              </a:rPr>
              <a:t>Siniestros con fecha, hora exacta, dirección y coordenadas.</a:t>
            </a:r>
            <a:endParaRPr lang="en-US" sz="1500" dirty="0"/>
          </a:p>
        </p:txBody>
      </p:sp>
      <p:sp>
        <p:nvSpPr>
          <p:cNvPr id="14" name="tarjeta"/>
          <p:cNvSpPr/>
          <p:nvPr/>
        </p:nvSpPr>
        <p:spPr>
          <a:xfrm>
            <a:off x="6144768" y="2240280"/>
            <a:ext cx="2606040" cy="3291840"/>
          </a:xfrm>
          <a:prstGeom prst="rect">
            <a:avLst/>
          </a:prstGeom>
          <a:solidFill>
            <a:srgbClr val="FBFAF6"/>
          </a:solidFill>
          <a:ln w="15875">
            <a:solidFill>
              <a:srgbClr val="16150F"/>
            </a:solidFill>
            <a:prstDash val="solid"/>
          </a:ln>
        </p:spPr>
      </p:sp>
      <p:sp>
        <p:nvSpPr>
          <p:cNvPr id="15" name="Text 12"/>
          <p:cNvSpPr txBox="1"/>
          <p:nvPr/>
        </p:nvSpPr>
        <p:spPr>
          <a:xfrm>
            <a:off x="6345936" y="2386584"/>
            <a:ext cx="22037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MAPA OFICIAL</a:t>
            </a:r>
            <a:endParaRPr lang="en-US" sz="1000" dirty="0"/>
          </a:p>
        </p:txBody>
      </p:sp>
      <p:sp>
        <p:nvSpPr>
          <p:cNvPr id="16" name="Text 13"/>
          <p:cNvSpPr txBox="1"/>
          <p:nvPr/>
        </p:nvSpPr>
        <p:spPr>
          <a:xfrm>
            <a:off x="6345936" y="2697480"/>
            <a:ext cx="2240280" cy="914400"/>
          </a:xfrm>
          <a:prstGeom prst="rect">
            <a:avLst/>
          </a:prstGeom>
          <a:noFill/>
          <a:ln/>
        </p:spPr>
        <p:txBody>
          <a:bodyPr wrap="square" lIns="0" tIns="0" rIns="0" bIns="0" rtlCol="0" anchor="t"/>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GEOQUITO</a:t>
            </a:r>
            <a:endParaRPr lang="en-US" sz="3800" dirty="0"/>
          </a:p>
        </p:txBody>
      </p:sp>
      <p:sp>
        <p:nvSpPr>
          <p:cNvPr id="17" name="Text 14"/>
          <p:cNvSpPr txBox="1"/>
          <p:nvPr/>
        </p:nvSpPr>
        <p:spPr>
          <a:xfrm>
            <a:off x="6345936" y="3749040"/>
            <a:ext cx="2240280" cy="1645920"/>
          </a:xfrm>
          <a:prstGeom prst="rect">
            <a:avLst/>
          </a:prstGeom>
          <a:noFill/>
          <a:ln/>
        </p:spPr>
        <p:txBody>
          <a:bodyPr wrap="square" lIns="0" tIns="0" rIns="0" bIns="0" rtlCol="0" anchor="t"/>
          <a:lstStyle/>
          <a:p>
            <a:pPr marL="0" indent="0">
              <a:buNone/>
            </a:pPr>
            <a:r>
              <a:rPr lang="en-US" sz="1500" dirty="0">
                <a:solidFill>
                  <a:srgbClr val="3A372F"/>
                </a:solidFill>
                <a:latin typeface="Georgia" pitchFamily="34" charset="0"/>
                <a:ea typeface="Georgia" pitchFamily="34" charset="-122"/>
                <a:cs typeface="Georgia" pitchFamily="34" charset="-120"/>
              </a:rPr>
              <a:t>Límites de las 65 parroquias del Distrito Metropolitano.</a:t>
            </a:r>
            <a:endParaRPr lang="en-US" sz="1500" dirty="0"/>
          </a:p>
        </p:txBody>
      </p:sp>
      <p:sp>
        <p:nvSpPr>
          <p:cNvPr id="18" name="tarjeta"/>
          <p:cNvSpPr/>
          <p:nvPr/>
        </p:nvSpPr>
        <p:spPr>
          <a:xfrm>
            <a:off x="8942832" y="2240280"/>
            <a:ext cx="2606040" cy="3291840"/>
          </a:xfrm>
          <a:prstGeom prst="rect">
            <a:avLst/>
          </a:prstGeom>
          <a:solidFill>
            <a:srgbClr val="FBFAF6"/>
          </a:solidFill>
          <a:ln w="15875">
            <a:solidFill>
              <a:srgbClr val="16150F"/>
            </a:solidFill>
            <a:prstDash val="solid"/>
          </a:ln>
        </p:spPr>
      </p:sp>
      <p:sp>
        <p:nvSpPr>
          <p:cNvPr id="19" name="Text 16"/>
          <p:cNvSpPr txBox="1"/>
          <p:nvPr/>
        </p:nvSpPr>
        <p:spPr>
          <a:xfrm>
            <a:off x="9144000" y="2386584"/>
            <a:ext cx="22037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CLIMA POR HORA</a:t>
            </a:r>
            <a:endParaRPr lang="en-US" sz="1000" dirty="0"/>
          </a:p>
        </p:txBody>
      </p:sp>
      <p:sp>
        <p:nvSpPr>
          <p:cNvPr id="20" name="Text 17"/>
          <p:cNvSpPr txBox="1"/>
          <p:nvPr/>
        </p:nvSpPr>
        <p:spPr>
          <a:xfrm>
            <a:off x="9144000" y="2697480"/>
            <a:ext cx="2240280" cy="914400"/>
          </a:xfrm>
          <a:prstGeom prst="rect">
            <a:avLst/>
          </a:prstGeom>
          <a:noFill/>
          <a:ln/>
        </p:spPr>
        <p:txBody>
          <a:bodyPr wrap="square" lIns="0" tIns="0" rIns="0" bIns="0" rtlCol="0" anchor="t"/>
          <a:lstStyle/>
          <a:p>
            <a:pPr marL="0" indent="0">
              <a:buNone/>
            </a:pPr>
            <a:r>
              <a:rPr lang="en-US" sz="2600" dirty="0">
                <a:solidFill>
                  <a:srgbClr val="16150F"/>
                </a:solidFill>
                <a:latin typeface="Bahnschrift SemiBold Condensed" pitchFamily="34" charset="0"/>
                <a:ea typeface="Bahnschrift SemiBold Condensed" pitchFamily="34" charset="-122"/>
                <a:cs typeface="Bahnschrift SemiBold Condensed" pitchFamily="34" charset="-120"/>
              </a:rPr>
              <a:t>REMMAQ · OPEN-METEO</a:t>
            </a:r>
            <a:endParaRPr lang="en-US" sz="2600" dirty="0"/>
          </a:p>
        </p:txBody>
      </p:sp>
      <p:sp>
        <p:nvSpPr>
          <p:cNvPr id="21" name="Text 18"/>
          <p:cNvSpPr txBox="1"/>
          <p:nvPr/>
        </p:nvSpPr>
        <p:spPr>
          <a:xfrm>
            <a:off x="9144000" y="3749040"/>
            <a:ext cx="2240280" cy="1645920"/>
          </a:xfrm>
          <a:prstGeom prst="rect">
            <a:avLst/>
          </a:prstGeom>
          <a:noFill/>
          <a:ln/>
        </p:spPr>
        <p:txBody>
          <a:bodyPr wrap="square" lIns="0" tIns="0" rIns="0" bIns="0" rtlCol="0" anchor="t"/>
          <a:lstStyle/>
          <a:p>
            <a:pPr marL="0" indent="0">
              <a:buNone/>
            </a:pPr>
            <a:r>
              <a:rPr lang="en-US" sz="1500" dirty="0">
                <a:solidFill>
                  <a:srgbClr val="3A372F"/>
                </a:solidFill>
                <a:latin typeface="Georgia" pitchFamily="34" charset="0"/>
                <a:ea typeface="Georgia" pitchFamily="34" charset="-122"/>
                <a:cs typeface="Georgia" pitchFamily="34" charset="-120"/>
              </a:rPr>
              <a:t>Lluvia, temperatura y humedad en el momento del siniestro.</a:t>
            </a:r>
            <a:endParaRPr lang="en-US" sz="1500" dirty="0"/>
          </a:p>
        </p:txBody>
      </p:sp>
      <p:sp>
        <p:nvSpPr>
          <p:cNvPr id="22" name="Text 19"/>
          <p:cNvSpPr txBox="1"/>
          <p:nvPr/>
        </p:nvSpPr>
        <p:spPr>
          <a:xfrm>
            <a:off x="548640" y="5760720"/>
            <a:ext cx="10972800" cy="457200"/>
          </a:xfrm>
          <a:prstGeom prst="rect">
            <a:avLst/>
          </a:prstGeom>
          <a:noFill/>
          <a:ln/>
        </p:spPr>
        <p:txBody>
          <a:bodyPr wrap="square" lIns="0" tIns="0" rIns="0" bIns="0" rtlCol="0" anchor="t"/>
          <a:lstStyle/>
          <a:p>
            <a:pPr marL="0" indent="0">
              <a:buNone/>
            </a:pPr>
            <a:r>
              <a:rPr lang="en-US" sz="1400" i="1" dirty="0">
                <a:solidFill>
                  <a:srgbClr val="6B6657"/>
                </a:solidFill>
                <a:latin typeface="Georgia" pitchFamily="34" charset="0"/>
                <a:ea typeface="Georgia" pitchFamily="34" charset="-122"/>
                <a:cs typeface="Georgia" pitchFamily="34" charset="-120"/>
              </a:rPr>
              <a:t>Las dos primeras son las bases de siniestros; las otras dos sirven para agregar el lugar y el clima.</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04 · DATOS UTILIZADOS</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QUÉ CONTIENE LA BASE DE DATOS</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Cada fila es un siniestro: en total 44.982 registros con 32 variables, desde enero de 2017 hasta agosto de 2026.</a:t>
            </a:r>
            <a:endParaRPr lang="en-US" sz="1700" dirty="0"/>
          </a:p>
        </p:txBody>
      </p:sp>
      <p:sp>
        <p:nvSpPr>
          <p:cNvPr id="6" name="tarjeta"/>
          <p:cNvSpPr/>
          <p:nvPr/>
        </p:nvSpPr>
        <p:spPr>
          <a:xfrm>
            <a:off x="548640" y="2103120"/>
            <a:ext cx="2606040" cy="1691640"/>
          </a:xfrm>
          <a:prstGeom prst="rect">
            <a:avLst/>
          </a:prstGeom>
          <a:solidFill>
            <a:srgbClr val="FBFAF6"/>
          </a:solidFill>
          <a:ln w="15875">
            <a:solidFill>
              <a:srgbClr val="16150F"/>
            </a:solidFill>
            <a:prstDash val="solid"/>
          </a:ln>
        </p:spPr>
      </p:sp>
      <p:sp>
        <p:nvSpPr>
          <p:cNvPr id="7" name="Text 4"/>
          <p:cNvSpPr txBox="1"/>
          <p:nvPr/>
        </p:nvSpPr>
        <p:spPr>
          <a:xfrm>
            <a:off x="749808" y="2249424"/>
            <a:ext cx="22037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REGISTROS</a:t>
            </a:r>
            <a:endParaRPr lang="en-US" sz="1000" dirty="0"/>
          </a:p>
        </p:txBody>
      </p:sp>
      <p:sp>
        <p:nvSpPr>
          <p:cNvPr id="8" name="Text 5"/>
          <p:cNvSpPr txBox="1"/>
          <p:nvPr/>
        </p:nvSpPr>
        <p:spPr>
          <a:xfrm>
            <a:off x="749808" y="2423160"/>
            <a:ext cx="2286000" cy="762000"/>
          </a:xfrm>
          <a:prstGeom prst="rect">
            <a:avLst/>
          </a:prstGeom>
          <a:noFill/>
          <a:ln/>
        </p:spPr>
        <p:txBody>
          <a:bodyPr wrap="square" lIns="0" tIns="0" rIns="0" bIns="0" rtlCol="0" anchor="ctr"/>
          <a:lstStyle/>
          <a:p>
            <a:pPr marL="0" indent="0">
              <a:buNone/>
            </a:pPr>
            <a:r>
              <a:rPr lang="en-US" sz="5000" dirty="0">
                <a:solidFill>
                  <a:srgbClr val="B8321F"/>
                </a:solidFill>
                <a:latin typeface="Bahnschrift SemiBold Condensed" pitchFamily="34" charset="0"/>
                <a:ea typeface="Bahnschrift SemiBold Condensed" pitchFamily="34" charset="-122"/>
                <a:cs typeface="Bahnschrift SemiBold Condensed" pitchFamily="34" charset="-120"/>
              </a:rPr>
              <a:t>44.982</a:t>
            </a:r>
            <a:endParaRPr lang="en-US" sz="5000" dirty="0"/>
          </a:p>
        </p:txBody>
      </p:sp>
      <p:sp>
        <p:nvSpPr>
          <p:cNvPr id="9" name="Text 6"/>
          <p:cNvSpPr txBox="1"/>
          <p:nvPr/>
        </p:nvSpPr>
        <p:spPr>
          <a:xfrm>
            <a:off x="749808" y="3182112"/>
            <a:ext cx="2240280" cy="548640"/>
          </a:xfrm>
          <a:prstGeom prst="rect">
            <a:avLst/>
          </a:prstGeom>
          <a:noFill/>
          <a:ln/>
        </p:spPr>
        <p:txBody>
          <a:bodyPr wrap="square" lIns="0" tIns="0" rIns="0" bIns="0" rtlCol="0" anchor="t"/>
          <a:lstStyle/>
          <a:p>
            <a:pPr marL="0" indent="0">
              <a:buNone/>
            </a:pPr>
            <a:r>
              <a:rPr lang="en-US" sz="1250" dirty="0">
                <a:solidFill>
                  <a:srgbClr val="6B6657"/>
                </a:solidFill>
                <a:latin typeface="Consolas" pitchFamily="34" charset="0"/>
                <a:ea typeface="Consolas" pitchFamily="34" charset="-122"/>
                <a:cs typeface="Consolas" pitchFamily="34" charset="-120"/>
              </a:rPr>
              <a:t>registros (siniestros)</a:t>
            </a:r>
            <a:endParaRPr lang="en-US" sz="1250" dirty="0"/>
          </a:p>
        </p:txBody>
      </p:sp>
      <p:sp>
        <p:nvSpPr>
          <p:cNvPr id="10" name="tarjeta"/>
          <p:cNvSpPr/>
          <p:nvPr/>
        </p:nvSpPr>
        <p:spPr>
          <a:xfrm>
            <a:off x="3346704" y="2103120"/>
            <a:ext cx="2606040" cy="1691640"/>
          </a:xfrm>
          <a:prstGeom prst="rect">
            <a:avLst/>
          </a:prstGeom>
          <a:solidFill>
            <a:srgbClr val="FBFAF6"/>
          </a:solidFill>
          <a:ln w="15875">
            <a:solidFill>
              <a:srgbClr val="16150F"/>
            </a:solidFill>
            <a:prstDash val="solid"/>
          </a:ln>
        </p:spPr>
      </p:sp>
      <p:sp>
        <p:nvSpPr>
          <p:cNvPr id="11" name="Text 8"/>
          <p:cNvSpPr txBox="1"/>
          <p:nvPr/>
        </p:nvSpPr>
        <p:spPr>
          <a:xfrm>
            <a:off x="3547872" y="2249424"/>
            <a:ext cx="22037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VARIABLES</a:t>
            </a:r>
            <a:endParaRPr lang="en-US" sz="1000" dirty="0"/>
          </a:p>
        </p:txBody>
      </p:sp>
      <p:sp>
        <p:nvSpPr>
          <p:cNvPr id="12" name="Text 9"/>
          <p:cNvSpPr txBox="1"/>
          <p:nvPr/>
        </p:nvSpPr>
        <p:spPr>
          <a:xfrm>
            <a:off x="3547872" y="2423160"/>
            <a:ext cx="2286000" cy="762000"/>
          </a:xfrm>
          <a:prstGeom prst="rect">
            <a:avLst/>
          </a:prstGeom>
          <a:noFill/>
          <a:ln/>
        </p:spPr>
        <p:txBody>
          <a:bodyPr wrap="square" lIns="0" tIns="0" rIns="0" bIns="0" rtlCol="0" anchor="ctr"/>
          <a:lstStyle/>
          <a:p>
            <a:pPr marL="0" indent="0">
              <a:buNone/>
            </a:pPr>
            <a:r>
              <a:rPr lang="en-US" sz="5000" dirty="0">
                <a:solidFill>
                  <a:srgbClr val="16150F"/>
                </a:solidFill>
                <a:latin typeface="Bahnschrift SemiBold Condensed" pitchFamily="34" charset="0"/>
                <a:ea typeface="Bahnschrift SemiBold Condensed" pitchFamily="34" charset="-122"/>
                <a:cs typeface="Bahnschrift SemiBold Condensed" pitchFamily="34" charset="-120"/>
              </a:rPr>
              <a:t>32</a:t>
            </a:r>
            <a:endParaRPr lang="en-US" sz="5000" dirty="0"/>
          </a:p>
        </p:txBody>
      </p:sp>
      <p:sp>
        <p:nvSpPr>
          <p:cNvPr id="13" name="Text 10"/>
          <p:cNvSpPr txBox="1"/>
          <p:nvPr/>
        </p:nvSpPr>
        <p:spPr>
          <a:xfrm>
            <a:off x="3547872" y="3182112"/>
            <a:ext cx="2240280" cy="548640"/>
          </a:xfrm>
          <a:prstGeom prst="rect">
            <a:avLst/>
          </a:prstGeom>
          <a:noFill/>
          <a:ln/>
        </p:spPr>
        <p:txBody>
          <a:bodyPr wrap="square" lIns="0" tIns="0" rIns="0" bIns="0" rtlCol="0" anchor="t"/>
          <a:lstStyle/>
          <a:p>
            <a:pPr marL="0" indent="0">
              <a:buNone/>
            </a:pPr>
            <a:r>
              <a:rPr lang="en-US" sz="1250" dirty="0">
                <a:solidFill>
                  <a:srgbClr val="6B6657"/>
                </a:solidFill>
                <a:latin typeface="Consolas" pitchFamily="34" charset="0"/>
                <a:ea typeface="Consolas" pitchFamily="34" charset="-122"/>
                <a:cs typeface="Consolas" pitchFamily="34" charset="-120"/>
              </a:rPr>
              <a:t>variables originales; 39 después de transformar</a:t>
            </a:r>
            <a:endParaRPr lang="en-US" sz="1250" dirty="0"/>
          </a:p>
        </p:txBody>
      </p:sp>
      <p:sp>
        <p:nvSpPr>
          <p:cNvPr id="14" name="tarjeta"/>
          <p:cNvSpPr/>
          <p:nvPr/>
        </p:nvSpPr>
        <p:spPr>
          <a:xfrm>
            <a:off x="6144768" y="2103120"/>
            <a:ext cx="2606040" cy="1691640"/>
          </a:xfrm>
          <a:prstGeom prst="rect">
            <a:avLst/>
          </a:prstGeom>
          <a:solidFill>
            <a:srgbClr val="FBFAF6"/>
          </a:solidFill>
          <a:ln w="15875">
            <a:solidFill>
              <a:srgbClr val="16150F"/>
            </a:solidFill>
            <a:prstDash val="solid"/>
          </a:ln>
        </p:spPr>
      </p:sp>
      <p:sp>
        <p:nvSpPr>
          <p:cNvPr id="15" name="Text 12"/>
          <p:cNvSpPr txBox="1"/>
          <p:nvPr/>
        </p:nvSpPr>
        <p:spPr>
          <a:xfrm>
            <a:off x="6345936" y="2249424"/>
            <a:ext cx="22037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PERIODO</a:t>
            </a:r>
            <a:endParaRPr lang="en-US" sz="1000" dirty="0"/>
          </a:p>
        </p:txBody>
      </p:sp>
      <p:sp>
        <p:nvSpPr>
          <p:cNvPr id="16" name="Text 13"/>
          <p:cNvSpPr txBox="1"/>
          <p:nvPr/>
        </p:nvSpPr>
        <p:spPr>
          <a:xfrm>
            <a:off x="6345936" y="2423160"/>
            <a:ext cx="2286000" cy="609600"/>
          </a:xfrm>
          <a:prstGeom prst="rect">
            <a:avLst/>
          </a:prstGeom>
          <a:noFill/>
          <a:ln/>
        </p:spPr>
        <p:txBody>
          <a:bodyPr wrap="square" lIns="0" tIns="0" rIns="0" bIns="0" rtlCol="0" anchor="ctr"/>
          <a:lstStyle/>
          <a:p>
            <a:pPr marL="0" indent="0">
              <a:buNone/>
            </a:pPr>
            <a:r>
              <a:rPr lang="en-US" sz="4000" dirty="0">
                <a:solidFill>
                  <a:srgbClr val="16150F"/>
                </a:solidFill>
                <a:latin typeface="Bahnschrift SemiBold Condensed" pitchFamily="34" charset="0"/>
                <a:ea typeface="Bahnschrift SemiBold Condensed" pitchFamily="34" charset="-122"/>
                <a:cs typeface="Bahnschrift SemiBold Condensed" pitchFamily="34" charset="-120"/>
              </a:rPr>
              <a:t>2017–2026</a:t>
            </a:r>
            <a:endParaRPr lang="en-US" sz="4000" dirty="0"/>
          </a:p>
        </p:txBody>
      </p:sp>
      <p:sp>
        <p:nvSpPr>
          <p:cNvPr id="17" name="Text 14"/>
          <p:cNvSpPr txBox="1"/>
          <p:nvPr/>
        </p:nvSpPr>
        <p:spPr>
          <a:xfrm>
            <a:off x="6345936" y="3182112"/>
            <a:ext cx="2240280" cy="548640"/>
          </a:xfrm>
          <a:prstGeom prst="rect">
            <a:avLst/>
          </a:prstGeom>
          <a:noFill/>
          <a:ln/>
        </p:spPr>
        <p:txBody>
          <a:bodyPr wrap="square" lIns="0" tIns="0" rIns="0" bIns="0" rtlCol="0" anchor="t"/>
          <a:lstStyle/>
          <a:p>
            <a:pPr marL="0" indent="0">
              <a:buNone/>
            </a:pPr>
            <a:r>
              <a:rPr lang="en-US" sz="1250" dirty="0">
                <a:solidFill>
                  <a:srgbClr val="6B6657"/>
                </a:solidFill>
                <a:latin typeface="Consolas" pitchFamily="34" charset="0"/>
                <a:ea typeface="Consolas" pitchFamily="34" charset="-122"/>
                <a:cs typeface="Consolas" pitchFamily="34" charset="-120"/>
              </a:rPr>
              <a:t>enero de 2017 a agosto de 2026 (2026 parcial)</a:t>
            </a:r>
            <a:endParaRPr lang="en-US" sz="1250" dirty="0"/>
          </a:p>
        </p:txBody>
      </p:sp>
      <p:sp>
        <p:nvSpPr>
          <p:cNvPr id="18" name="tarjeta"/>
          <p:cNvSpPr/>
          <p:nvPr/>
        </p:nvSpPr>
        <p:spPr>
          <a:xfrm>
            <a:off x="8942832" y="2103120"/>
            <a:ext cx="2606040" cy="1691640"/>
          </a:xfrm>
          <a:prstGeom prst="rect">
            <a:avLst/>
          </a:prstGeom>
          <a:solidFill>
            <a:srgbClr val="FBFAF6"/>
          </a:solidFill>
          <a:ln w="15875">
            <a:solidFill>
              <a:srgbClr val="16150F"/>
            </a:solidFill>
            <a:prstDash val="solid"/>
          </a:ln>
        </p:spPr>
      </p:sp>
      <p:sp>
        <p:nvSpPr>
          <p:cNvPr id="19" name="Text 16"/>
          <p:cNvSpPr txBox="1"/>
          <p:nvPr/>
        </p:nvSpPr>
        <p:spPr>
          <a:xfrm>
            <a:off x="9144000" y="2249424"/>
            <a:ext cx="22037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UBICACIÓN</a:t>
            </a:r>
            <a:endParaRPr lang="en-US" sz="1000" dirty="0"/>
          </a:p>
        </p:txBody>
      </p:sp>
      <p:sp>
        <p:nvSpPr>
          <p:cNvPr id="20" name="Text 17"/>
          <p:cNvSpPr txBox="1"/>
          <p:nvPr/>
        </p:nvSpPr>
        <p:spPr>
          <a:xfrm>
            <a:off x="9144000" y="2423160"/>
            <a:ext cx="2286000" cy="762000"/>
          </a:xfrm>
          <a:prstGeom prst="rect">
            <a:avLst/>
          </a:prstGeom>
          <a:noFill/>
          <a:ln/>
        </p:spPr>
        <p:txBody>
          <a:bodyPr wrap="square" lIns="0" tIns="0" rIns="0" bIns="0" rtlCol="0" anchor="ctr"/>
          <a:lstStyle/>
          <a:p>
            <a:pPr marL="0" indent="0">
              <a:buNone/>
            </a:pPr>
            <a:r>
              <a:rPr lang="en-US" sz="5000" dirty="0">
                <a:solidFill>
                  <a:srgbClr val="16150F"/>
                </a:solidFill>
                <a:latin typeface="Bahnschrift SemiBold Condensed" pitchFamily="34" charset="0"/>
                <a:ea typeface="Bahnschrift SemiBold Condensed" pitchFamily="34" charset="-122"/>
                <a:cs typeface="Bahnschrift SemiBold Condensed" pitchFamily="34" charset="-120"/>
              </a:rPr>
              <a:t>10.272</a:t>
            </a:r>
            <a:endParaRPr lang="en-US" sz="5000" dirty="0"/>
          </a:p>
        </p:txBody>
      </p:sp>
      <p:sp>
        <p:nvSpPr>
          <p:cNvPr id="21" name="Text 18"/>
          <p:cNvSpPr txBox="1"/>
          <p:nvPr/>
        </p:nvSpPr>
        <p:spPr>
          <a:xfrm>
            <a:off x="9144000" y="3182112"/>
            <a:ext cx="2240280" cy="548640"/>
          </a:xfrm>
          <a:prstGeom prst="rect">
            <a:avLst/>
          </a:prstGeom>
          <a:noFill/>
          <a:ln/>
        </p:spPr>
        <p:txBody>
          <a:bodyPr wrap="square" lIns="0" tIns="0" rIns="0" bIns="0" rtlCol="0" anchor="t"/>
          <a:lstStyle/>
          <a:p>
            <a:pPr marL="0" indent="0">
              <a:buNone/>
            </a:pPr>
            <a:r>
              <a:rPr lang="en-US" sz="1250" dirty="0">
                <a:solidFill>
                  <a:srgbClr val="6B6657"/>
                </a:solidFill>
                <a:latin typeface="Consolas" pitchFamily="34" charset="0"/>
                <a:ea typeface="Consolas" pitchFamily="34" charset="-122"/>
                <a:cs typeface="Consolas" pitchFamily="34" charset="-120"/>
              </a:rPr>
              <a:t>siniestros con coordenadas (2024–2026)</a:t>
            </a:r>
            <a:endParaRPr lang="en-US" sz="1250" dirty="0"/>
          </a:p>
        </p:txBody>
      </p:sp>
      <p:sp>
        <p:nvSpPr>
          <p:cNvPr id="22" name="tarjeta"/>
          <p:cNvSpPr/>
          <p:nvPr/>
        </p:nvSpPr>
        <p:spPr>
          <a:xfrm>
            <a:off x="548640" y="4069080"/>
            <a:ext cx="2606040" cy="2057400"/>
          </a:xfrm>
          <a:prstGeom prst="rect">
            <a:avLst/>
          </a:prstGeom>
          <a:solidFill>
            <a:srgbClr val="FBFAF6"/>
          </a:solidFill>
          <a:ln w="15875">
            <a:solidFill>
              <a:srgbClr val="16150F"/>
            </a:solidFill>
            <a:prstDash val="solid"/>
          </a:ln>
        </p:spPr>
      </p:sp>
      <p:sp>
        <p:nvSpPr>
          <p:cNvPr id="23" name="Text 20"/>
          <p:cNvSpPr txBox="1"/>
          <p:nvPr/>
        </p:nvSpPr>
        <p:spPr>
          <a:xfrm>
            <a:off x="749808" y="4215384"/>
            <a:ext cx="22037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VARIABLES</a:t>
            </a:r>
            <a:endParaRPr lang="en-US" sz="1000" dirty="0"/>
          </a:p>
        </p:txBody>
      </p:sp>
      <p:sp>
        <p:nvSpPr>
          <p:cNvPr id="24" name="Text 21"/>
          <p:cNvSpPr txBox="1"/>
          <p:nvPr/>
        </p:nvSpPr>
        <p:spPr>
          <a:xfrm>
            <a:off x="749808" y="4434840"/>
            <a:ext cx="2240280" cy="457200"/>
          </a:xfrm>
          <a:prstGeom prst="rect">
            <a:avLst/>
          </a:prstGeom>
          <a:noFill/>
          <a:ln/>
        </p:spPr>
        <p:txBody>
          <a:bodyPr wrap="square" lIns="0" tIns="0" rIns="0" bIns="0" rtlCol="0" anchor="ctr"/>
          <a:lstStyle/>
          <a:p>
            <a:pPr marL="0" indent="0">
              <a:buNone/>
            </a:pPr>
            <a:r>
              <a:rPr lang="en-US" sz="2500" dirty="0">
                <a:solidFill>
                  <a:srgbClr val="16150F"/>
                </a:solidFill>
                <a:latin typeface="Bahnschrift SemiBold Condensed" pitchFamily="34" charset="0"/>
                <a:ea typeface="Bahnschrift SemiBold Condensed" pitchFamily="34" charset="-122"/>
                <a:cs typeface="Bahnschrift SemiBold Condensed" pitchFamily="34" charset="-120"/>
              </a:rPr>
              <a:t>TIEMPO</a:t>
            </a:r>
            <a:endParaRPr lang="en-US" sz="2500" dirty="0"/>
          </a:p>
        </p:txBody>
      </p:sp>
      <p:sp>
        <p:nvSpPr>
          <p:cNvPr id="25" name="Text 22"/>
          <p:cNvSpPr txBox="1"/>
          <p:nvPr/>
        </p:nvSpPr>
        <p:spPr>
          <a:xfrm>
            <a:off x="749808" y="4937760"/>
            <a:ext cx="2240280" cy="1097280"/>
          </a:xfrm>
          <a:prstGeom prst="rect">
            <a:avLst/>
          </a:prstGeom>
          <a:noFill/>
          <a:ln/>
        </p:spPr>
        <p:txBody>
          <a:bodyPr wrap="square" lIns="0" tIns="0" rIns="0" bIns="0" rtlCol="0" anchor="t"/>
          <a:lstStyle/>
          <a:p>
            <a:pPr marL="0" indent="0">
              <a:buNone/>
            </a:pPr>
            <a:r>
              <a:rPr lang="en-US" sz="1450" dirty="0">
                <a:solidFill>
                  <a:srgbClr val="3A372F"/>
                </a:solidFill>
                <a:latin typeface="Georgia" pitchFamily="34" charset="0"/>
                <a:ea typeface="Georgia" pitchFamily="34" charset="-122"/>
                <a:cs typeface="Georgia" pitchFamily="34" charset="-120"/>
              </a:rPr>
              <a:t>Año, mes, día de la semana, hora y franja horaria.</a:t>
            </a:r>
            <a:endParaRPr lang="en-US" sz="1450" dirty="0"/>
          </a:p>
        </p:txBody>
      </p:sp>
      <p:sp>
        <p:nvSpPr>
          <p:cNvPr id="26" name="tarjeta"/>
          <p:cNvSpPr/>
          <p:nvPr/>
        </p:nvSpPr>
        <p:spPr>
          <a:xfrm>
            <a:off x="3346704" y="4069080"/>
            <a:ext cx="2606040" cy="2057400"/>
          </a:xfrm>
          <a:prstGeom prst="rect">
            <a:avLst/>
          </a:prstGeom>
          <a:solidFill>
            <a:srgbClr val="FBFAF6"/>
          </a:solidFill>
          <a:ln w="15875">
            <a:solidFill>
              <a:srgbClr val="16150F"/>
            </a:solidFill>
            <a:prstDash val="solid"/>
          </a:ln>
        </p:spPr>
      </p:sp>
      <p:sp>
        <p:nvSpPr>
          <p:cNvPr id="27" name="Text 24"/>
          <p:cNvSpPr txBox="1"/>
          <p:nvPr/>
        </p:nvSpPr>
        <p:spPr>
          <a:xfrm>
            <a:off x="3547872" y="4215384"/>
            <a:ext cx="22037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VARIABLES</a:t>
            </a:r>
            <a:endParaRPr lang="en-US" sz="1000" dirty="0"/>
          </a:p>
        </p:txBody>
      </p:sp>
      <p:sp>
        <p:nvSpPr>
          <p:cNvPr id="28" name="Text 25"/>
          <p:cNvSpPr txBox="1"/>
          <p:nvPr/>
        </p:nvSpPr>
        <p:spPr>
          <a:xfrm>
            <a:off x="3547872" y="4434840"/>
            <a:ext cx="2240280" cy="457200"/>
          </a:xfrm>
          <a:prstGeom prst="rect">
            <a:avLst/>
          </a:prstGeom>
          <a:noFill/>
          <a:ln/>
        </p:spPr>
        <p:txBody>
          <a:bodyPr wrap="square" lIns="0" tIns="0" rIns="0" bIns="0" rtlCol="0" anchor="ctr"/>
          <a:lstStyle/>
          <a:p>
            <a:pPr marL="0" indent="0">
              <a:buNone/>
            </a:pPr>
            <a:r>
              <a:rPr lang="en-US" sz="2500" dirty="0">
                <a:solidFill>
                  <a:srgbClr val="16150F"/>
                </a:solidFill>
                <a:latin typeface="Bahnschrift SemiBold Condensed" pitchFamily="34" charset="0"/>
                <a:ea typeface="Bahnschrift SemiBold Condensed" pitchFamily="34" charset="-122"/>
                <a:cs typeface="Bahnschrift SemiBold Condensed" pitchFamily="34" charset="-120"/>
              </a:rPr>
              <a:t>LUGAR</a:t>
            </a:r>
            <a:endParaRPr lang="en-US" sz="2500" dirty="0"/>
          </a:p>
        </p:txBody>
      </p:sp>
      <p:sp>
        <p:nvSpPr>
          <p:cNvPr id="29" name="Text 26"/>
          <p:cNvSpPr txBox="1"/>
          <p:nvPr/>
        </p:nvSpPr>
        <p:spPr>
          <a:xfrm>
            <a:off x="3547872" y="4937760"/>
            <a:ext cx="2240280" cy="1097280"/>
          </a:xfrm>
          <a:prstGeom prst="rect">
            <a:avLst/>
          </a:prstGeom>
          <a:noFill/>
          <a:ln/>
        </p:spPr>
        <p:txBody>
          <a:bodyPr wrap="square" lIns="0" tIns="0" rIns="0" bIns="0" rtlCol="0" anchor="t"/>
          <a:lstStyle/>
          <a:p>
            <a:pPr marL="0" indent="0">
              <a:buNone/>
            </a:pPr>
            <a:r>
              <a:rPr lang="en-US" sz="1450" dirty="0">
                <a:solidFill>
                  <a:srgbClr val="3A372F"/>
                </a:solidFill>
                <a:latin typeface="Georgia" pitchFamily="34" charset="0"/>
                <a:ea typeface="Georgia" pitchFamily="34" charset="-122"/>
                <a:cs typeface="Georgia" pitchFamily="34" charset="-120"/>
              </a:rPr>
              <a:t>Zona urbana o rural, parroquia, vía y coordenadas.</a:t>
            </a:r>
            <a:endParaRPr lang="en-US" sz="1450" dirty="0"/>
          </a:p>
        </p:txBody>
      </p:sp>
      <p:sp>
        <p:nvSpPr>
          <p:cNvPr id="30" name="tarjeta"/>
          <p:cNvSpPr/>
          <p:nvPr/>
        </p:nvSpPr>
        <p:spPr>
          <a:xfrm>
            <a:off x="6144768" y="4069080"/>
            <a:ext cx="2606040" cy="2057400"/>
          </a:xfrm>
          <a:prstGeom prst="rect">
            <a:avLst/>
          </a:prstGeom>
          <a:solidFill>
            <a:srgbClr val="FBFAF6"/>
          </a:solidFill>
          <a:ln w="15875">
            <a:solidFill>
              <a:srgbClr val="16150F"/>
            </a:solidFill>
            <a:prstDash val="solid"/>
          </a:ln>
        </p:spPr>
      </p:sp>
      <p:sp>
        <p:nvSpPr>
          <p:cNvPr id="31" name="Text 28"/>
          <p:cNvSpPr txBox="1"/>
          <p:nvPr/>
        </p:nvSpPr>
        <p:spPr>
          <a:xfrm>
            <a:off x="6345936" y="4215384"/>
            <a:ext cx="22037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VARIABLES</a:t>
            </a:r>
            <a:endParaRPr lang="en-US" sz="1000" dirty="0"/>
          </a:p>
        </p:txBody>
      </p:sp>
      <p:sp>
        <p:nvSpPr>
          <p:cNvPr id="32" name="Text 29"/>
          <p:cNvSpPr txBox="1"/>
          <p:nvPr/>
        </p:nvSpPr>
        <p:spPr>
          <a:xfrm>
            <a:off x="6345936" y="4434840"/>
            <a:ext cx="2240280" cy="457200"/>
          </a:xfrm>
          <a:prstGeom prst="rect">
            <a:avLst/>
          </a:prstGeom>
          <a:noFill/>
          <a:ln/>
        </p:spPr>
        <p:txBody>
          <a:bodyPr wrap="square" lIns="0" tIns="0" rIns="0" bIns="0" rtlCol="0" anchor="ctr"/>
          <a:lstStyle/>
          <a:p>
            <a:pPr marL="0" indent="0">
              <a:buNone/>
            </a:pPr>
            <a:r>
              <a:rPr lang="en-US" sz="2500" dirty="0">
                <a:solidFill>
                  <a:srgbClr val="16150F"/>
                </a:solidFill>
                <a:latin typeface="Bahnschrift SemiBold Condensed" pitchFamily="34" charset="0"/>
                <a:ea typeface="Bahnschrift SemiBold Condensed" pitchFamily="34" charset="-122"/>
                <a:cs typeface="Bahnschrift SemiBold Condensed" pitchFamily="34" charset="-120"/>
              </a:rPr>
              <a:t>GRAVEDAD Y CAUSA</a:t>
            </a:r>
            <a:endParaRPr lang="en-US" sz="2500" dirty="0"/>
          </a:p>
        </p:txBody>
      </p:sp>
      <p:sp>
        <p:nvSpPr>
          <p:cNvPr id="33" name="Text 30"/>
          <p:cNvSpPr txBox="1"/>
          <p:nvPr/>
        </p:nvSpPr>
        <p:spPr>
          <a:xfrm>
            <a:off x="6345936" y="4937760"/>
            <a:ext cx="2240280" cy="1097280"/>
          </a:xfrm>
          <a:prstGeom prst="rect">
            <a:avLst/>
          </a:prstGeom>
          <a:noFill/>
          <a:ln/>
        </p:spPr>
        <p:txBody>
          <a:bodyPr wrap="square" lIns="0" tIns="0" rIns="0" bIns="0" rtlCol="0" anchor="t"/>
          <a:lstStyle/>
          <a:p>
            <a:pPr marL="0" indent="0">
              <a:buNone/>
            </a:pPr>
            <a:r>
              <a:rPr lang="en-US" sz="1450" dirty="0">
                <a:solidFill>
                  <a:srgbClr val="3A372F"/>
                </a:solidFill>
                <a:latin typeface="Georgia" pitchFamily="34" charset="0"/>
                <a:ea typeface="Georgia" pitchFamily="34" charset="-122"/>
                <a:cs typeface="Georgia" pitchFamily="34" charset="-120"/>
              </a:rPr>
              <a:t>Fallecidos, lesionados, tipo de siniestro y causa.</a:t>
            </a:r>
            <a:endParaRPr lang="en-US" sz="1450" dirty="0"/>
          </a:p>
        </p:txBody>
      </p:sp>
      <p:sp>
        <p:nvSpPr>
          <p:cNvPr id="34" name="tarjeta"/>
          <p:cNvSpPr/>
          <p:nvPr/>
        </p:nvSpPr>
        <p:spPr>
          <a:xfrm>
            <a:off x="8942832" y="4069080"/>
            <a:ext cx="2606040" cy="2057400"/>
          </a:xfrm>
          <a:prstGeom prst="rect">
            <a:avLst/>
          </a:prstGeom>
          <a:solidFill>
            <a:srgbClr val="FBFAF6"/>
          </a:solidFill>
          <a:ln w="15875">
            <a:solidFill>
              <a:srgbClr val="16150F"/>
            </a:solidFill>
            <a:prstDash val="solid"/>
          </a:ln>
        </p:spPr>
      </p:sp>
      <p:sp>
        <p:nvSpPr>
          <p:cNvPr id="35" name="Text 32"/>
          <p:cNvSpPr txBox="1"/>
          <p:nvPr/>
        </p:nvSpPr>
        <p:spPr>
          <a:xfrm>
            <a:off x="9144000" y="4215384"/>
            <a:ext cx="22037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VARIABLES</a:t>
            </a:r>
            <a:endParaRPr lang="en-US" sz="1000" dirty="0"/>
          </a:p>
        </p:txBody>
      </p:sp>
      <p:sp>
        <p:nvSpPr>
          <p:cNvPr id="36" name="Text 33"/>
          <p:cNvSpPr txBox="1"/>
          <p:nvPr/>
        </p:nvSpPr>
        <p:spPr>
          <a:xfrm>
            <a:off x="9144000" y="4434840"/>
            <a:ext cx="2240280" cy="457200"/>
          </a:xfrm>
          <a:prstGeom prst="rect">
            <a:avLst/>
          </a:prstGeom>
          <a:noFill/>
          <a:ln/>
        </p:spPr>
        <p:txBody>
          <a:bodyPr wrap="square" lIns="0" tIns="0" rIns="0" bIns="0" rtlCol="0" anchor="ctr"/>
          <a:lstStyle/>
          <a:p>
            <a:pPr marL="0" indent="0">
              <a:buNone/>
            </a:pPr>
            <a:r>
              <a:rPr lang="en-US" sz="2500" dirty="0">
                <a:solidFill>
                  <a:srgbClr val="16150F"/>
                </a:solidFill>
                <a:latin typeface="Bahnschrift SemiBold Condensed" pitchFamily="34" charset="0"/>
                <a:ea typeface="Bahnschrift SemiBold Condensed" pitchFamily="34" charset="-122"/>
                <a:cs typeface="Bahnschrift SemiBold Condensed" pitchFamily="34" charset="-120"/>
              </a:rPr>
              <a:t>PERSONAS Y CLIMA</a:t>
            </a:r>
            <a:endParaRPr lang="en-US" sz="2500" dirty="0"/>
          </a:p>
        </p:txBody>
      </p:sp>
      <p:sp>
        <p:nvSpPr>
          <p:cNvPr id="37" name="Text 34"/>
          <p:cNvSpPr txBox="1"/>
          <p:nvPr/>
        </p:nvSpPr>
        <p:spPr>
          <a:xfrm>
            <a:off x="9144000" y="4937760"/>
            <a:ext cx="2240280" cy="1097280"/>
          </a:xfrm>
          <a:prstGeom prst="rect">
            <a:avLst/>
          </a:prstGeom>
          <a:noFill/>
          <a:ln/>
        </p:spPr>
        <p:txBody>
          <a:bodyPr wrap="square" lIns="0" tIns="0" rIns="0" bIns="0" rtlCol="0" anchor="t"/>
          <a:lstStyle/>
          <a:p>
            <a:pPr marL="0" indent="0">
              <a:buNone/>
            </a:pPr>
            <a:r>
              <a:rPr lang="en-US" sz="1450" dirty="0">
                <a:solidFill>
                  <a:srgbClr val="3A372F"/>
                </a:solidFill>
                <a:latin typeface="Georgia" pitchFamily="34" charset="0"/>
                <a:ea typeface="Georgia" pitchFamily="34" charset="-122"/>
                <a:cs typeface="Georgia" pitchFamily="34" charset="-120"/>
              </a:rPr>
              <a:t>Sexo, edad, vehículo y lluvia (desde 2024).</a:t>
            </a:r>
            <a:endParaRPr lang="en-US" sz="1450" dirty="0"/>
          </a:p>
        </p:txBody>
      </p:sp>
      <p:sp>
        <p:nvSpPr>
          <p:cNvPr id="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05 · METODOLOGÍA Y HERRAMIENTAS</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CÓMO RECOPILAMOS Y LIMPIAMOS LOS DATOS</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Seguimos la metodología CRISP-DM: entender el problema y los datos, prepararlos y, al final, analizarlos.</a:t>
            </a:r>
            <a:endParaRPr lang="en-US" sz="1700" dirty="0"/>
          </a:p>
        </p:txBody>
      </p:sp>
      <p:sp>
        <p:nvSpPr>
          <p:cNvPr id="6" name="tarjeta"/>
          <p:cNvSpPr/>
          <p:nvPr/>
        </p:nvSpPr>
        <p:spPr>
          <a:xfrm>
            <a:off x="548640" y="2240280"/>
            <a:ext cx="2057400" cy="3429000"/>
          </a:xfrm>
          <a:prstGeom prst="rect">
            <a:avLst/>
          </a:prstGeom>
          <a:solidFill>
            <a:srgbClr val="FBFAF6"/>
          </a:solidFill>
          <a:ln w="15875">
            <a:solidFill>
              <a:srgbClr val="16150F"/>
            </a:solidFill>
            <a:prstDash val="solid"/>
          </a:ln>
        </p:spPr>
      </p:sp>
      <p:sp>
        <p:nvSpPr>
          <p:cNvPr id="7" name="Text 4"/>
          <p:cNvSpPr txBox="1"/>
          <p:nvPr/>
        </p:nvSpPr>
        <p:spPr>
          <a:xfrm>
            <a:off x="749808" y="2423160"/>
            <a:ext cx="1371600" cy="685800"/>
          </a:xfrm>
          <a:prstGeom prst="rect">
            <a:avLst/>
          </a:prstGeom>
          <a:noFill/>
          <a:ln/>
        </p:spPr>
        <p:txBody>
          <a:bodyPr wrap="square" lIns="0" tIns="0" rIns="0" bIns="0" rtlCol="0" anchor="ctr"/>
          <a:lstStyle/>
          <a:p>
            <a:pPr marL="0" indent="0">
              <a:buNone/>
            </a:pPr>
            <a:r>
              <a:rPr lang="en-US" sz="4400" dirty="0">
                <a:solidFill>
                  <a:srgbClr val="B8321F"/>
                </a:solidFill>
                <a:latin typeface="Bahnschrift SemiBold Condensed" pitchFamily="34" charset="0"/>
                <a:ea typeface="Bahnschrift SemiBold Condensed" pitchFamily="34" charset="-122"/>
                <a:cs typeface="Bahnschrift SemiBold Condensed" pitchFamily="34" charset="-120"/>
              </a:rPr>
              <a:t>01</a:t>
            </a:r>
            <a:endParaRPr lang="en-US" sz="4400" dirty="0"/>
          </a:p>
        </p:txBody>
      </p:sp>
      <p:sp>
        <p:nvSpPr>
          <p:cNvPr id="8" name="Text 5"/>
          <p:cNvSpPr txBox="1"/>
          <p:nvPr/>
        </p:nvSpPr>
        <p:spPr>
          <a:xfrm>
            <a:off x="749808" y="3154680"/>
            <a:ext cx="1737360" cy="457200"/>
          </a:xfrm>
          <a:prstGeom prst="rect">
            <a:avLst/>
          </a:prstGeom>
          <a:noFill/>
          <a:ln/>
        </p:spPr>
        <p:txBody>
          <a:bodyPr wrap="square" lIns="0" tIns="0" rIns="0" bIns="0" rtlCol="0" anchor="ctr"/>
          <a:lstStyle/>
          <a:p>
            <a:pPr marL="0" indent="0">
              <a:buNone/>
            </a:pPr>
            <a:r>
              <a:rPr lang="en-US" sz="2400" dirty="0">
                <a:solidFill>
                  <a:srgbClr val="16150F"/>
                </a:solidFill>
                <a:latin typeface="Bahnschrift SemiBold Condensed" pitchFamily="34" charset="0"/>
                <a:ea typeface="Bahnschrift SemiBold Condensed" pitchFamily="34" charset="-122"/>
                <a:cs typeface="Bahnschrift SemiBold Condensed" pitchFamily="34" charset="-120"/>
              </a:rPr>
              <a:t>RECOPILAR</a:t>
            </a:r>
            <a:endParaRPr lang="en-US" sz="2400" dirty="0"/>
          </a:p>
        </p:txBody>
      </p:sp>
      <p:sp>
        <p:nvSpPr>
          <p:cNvPr id="9" name="Text 6"/>
          <p:cNvSpPr txBox="1"/>
          <p:nvPr/>
        </p:nvSpPr>
        <p:spPr>
          <a:xfrm>
            <a:off x="749808" y="3703320"/>
            <a:ext cx="1691640" cy="1828800"/>
          </a:xfrm>
          <a:prstGeom prst="rect">
            <a:avLst/>
          </a:prstGeom>
          <a:noFill/>
          <a:ln/>
        </p:spPr>
        <p:txBody>
          <a:bodyPr wrap="square" lIns="0" tIns="0" rIns="0" bIns="0" rtlCol="0" anchor="t"/>
          <a:lstStyle/>
          <a:p>
            <a:pPr marL="0" indent="0">
              <a:buNone/>
            </a:pPr>
            <a:r>
              <a:rPr lang="en-US" sz="1400" dirty="0">
                <a:solidFill>
                  <a:srgbClr val="3A372F"/>
                </a:solidFill>
                <a:latin typeface="Georgia" pitchFamily="34" charset="0"/>
                <a:ea typeface="Georgia" pitchFamily="34" charset="-122"/>
                <a:cs typeface="Georgia" pitchFamily="34" charset="-120"/>
              </a:rPr>
              <a:t>Descargamos las bases del INEC y la ANT y las unimos en un solo archivo.</a:t>
            </a:r>
            <a:endParaRPr lang="en-US" sz="1400" dirty="0"/>
          </a:p>
        </p:txBody>
      </p:sp>
      <p:sp>
        <p:nvSpPr>
          <p:cNvPr id="10" name="Text 7"/>
          <p:cNvSpPr txBox="1"/>
          <p:nvPr/>
        </p:nvSpPr>
        <p:spPr>
          <a:xfrm>
            <a:off x="2606040" y="3657600"/>
            <a:ext cx="182880" cy="457200"/>
          </a:xfrm>
          <a:prstGeom prst="rect">
            <a:avLst/>
          </a:prstGeom>
          <a:noFill/>
          <a:ln/>
        </p:spPr>
        <p:txBody>
          <a:bodyPr wrap="square" lIns="0" tIns="0" rIns="0" bIns="0" rtlCol="0" anchor="ctr"/>
          <a:lstStyle/>
          <a:p>
            <a:pPr marL="0" indent="0" algn="ctr">
              <a:buNone/>
            </a:pPr>
            <a:r>
              <a:rPr lang="en-US" sz="1400" dirty="0">
                <a:solidFill>
                  <a:srgbClr val="B8321F"/>
                </a:solidFill>
                <a:latin typeface="Consolas" pitchFamily="34" charset="0"/>
                <a:ea typeface="Consolas" pitchFamily="34" charset="-122"/>
                <a:cs typeface="Consolas" pitchFamily="34" charset="-120"/>
              </a:rPr>
              <a:t>→</a:t>
            </a:r>
            <a:endParaRPr lang="en-US" sz="1400" dirty="0"/>
          </a:p>
        </p:txBody>
      </p:sp>
      <p:sp>
        <p:nvSpPr>
          <p:cNvPr id="11" name="tarjeta"/>
          <p:cNvSpPr/>
          <p:nvPr/>
        </p:nvSpPr>
        <p:spPr>
          <a:xfrm>
            <a:off x="2788920" y="2240280"/>
            <a:ext cx="2057400" cy="3429000"/>
          </a:xfrm>
          <a:prstGeom prst="rect">
            <a:avLst/>
          </a:prstGeom>
          <a:solidFill>
            <a:srgbClr val="FBFAF6"/>
          </a:solidFill>
          <a:ln w="15875">
            <a:solidFill>
              <a:srgbClr val="16150F"/>
            </a:solidFill>
            <a:prstDash val="solid"/>
          </a:ln>
        </p:spPr>
      </p:sp>
      <p:sp>
        <p:nvSpPr>
          <p:cNvPr id="12" name="Text 9"/>
          <p:cNvSpPr txBox="1"/>
          <p:nvPr/>
        </p:nvSpPr>
        <p:spPr>
          <a:xfrm>
            <a:off x="2990088" y="2423160"/>
            <a:ext cx="1371600" cy="685800"/>
          </a:xfrm>
          <a:prstGeom prst="rect">
            <a:avLst/>
          </a:prstGeom>
          <a:noFill/>
          <a:ln/>
        </p:spPr>
        <p:txBody>
          <a:bodyPr wrap="square" lIns="0" tIns="0" rIns="0" bIns="0" rtlCol="0" anchor="ctr"/>
          <a:lstStyle/>
          <a:p>
            <a:pPr marL="0" indent="0">
              <a:buNone/>
            </a:pPr>
            <a:r>
              <a:rPr lang="en-US" sz="4400" dirty="0">
                <a:solidFill>
                  <a:srgbClr val="B8321F"/>
                </a:solidFill>
                <a:latin typeface="Bahnschrift SemiBold Condensed" pitchFamily="34" charset="0"/>
                <a:ea typeface="Bahnschrift SemiBold Condensed" pitchFamily="34" charset="-122"/>
                <a:cs typeface="Bahnschrift SemiBold Condensed" pitchFamily="34" charset="-120"/>
              </a:rPr>
              <a:t>02</a:t>
            </a:r>
            <a:endParaRPr lang="en-US" sz="4400" dirty="0"/>
          </a:p>
        </p:txBody>
      </p:sp>
      <p:sp>
        <p:nvSpPr>
          <p:cNvPr id="13" name="Text 10"/>
          <p:cNvSpPr txBox="1"/>
          <p:nvPr/>
        </p:nvSpPr>
        <p:spPr>
          <a:xfrm>
            <a:off x="2990088" y="3154680"/>
            <a:ext cx="1737360" cy="457200"/>
          </a:xfrm>
          <a:prstGeom prst="rect">
            <a:avLst/>
          </a:prstGeom>
          <a:noFill/>
          <a:ln/>
        </p:spPr>
        <p:txBody>
          <a:bodyPr wrap="square" lIns="0" tIns="0" rIns="0" bIns="0" rtlCol="0" anchor="ctr"/>
          <a:lstStyle/>
          <a:p>
            <a:pPr marL="0" indent="0">
              <a:buNone/>
            </a:pPr>
            <a:r>
              <a:rPr lang="en-US" sz="2400" dirty="0">
                <a:solidFill>
                  <a:srgbClr val="16150F"/>
                </a:solidFill>
                <a:latin typeface="Bahnschrift SemiBold Condensed" pitchFamily="34" charset="0"/>
                <a:ea typeface="Bahnschrift SemiBold Condensed" pitchFamily="34" charset="-122"/>
                <a:cs typeface="Bahnschrift SemiBold Condensed" pitchFamily="34" charset="-120"/>
              </a:rPr>
              <a:t>FILTRAR</a:t>
            </a:r>
            <a:endParaRPr lang="en-US" sz="2400" dirty="0"/>
          </a:p>
        </p:txBody>
      </p:sp>
      <p:sp>
        <p:nvSpPr>
          <p:cNvPr id="14" name="Text 11"/>
          <p:cNvSpPr txBox="1"/>
          <p:nvPr/>
        </p:nvSpPr>
        <p:spPr>
          <a:xfrm>
            <a:off x="2990088" y="3703320"/>
            <a:ext cx="1691640" cy="1828800"/>
          </a:xfrm>
          <a:prstGeom prst="rect">
            <a:avLst/>
          </a:prstGeom>
          <a:noFill/>
          <a:ln/>
        </p:spPr>
        <p:txBody>
          <a:bodyPr wrap="square" lIns="0" tIns="0" rIns="0" bIns="0" rtlCol="0" anchor="t"/>
          <a:lstStyle/>
          <a:p>
            <a:pPr marL="0" indent="0">
              <a:buNone/>
            </a:pPr>
            <a:r>
              <a:rPr lang="en-US" sz="1400" dirty="0">
                <a:solidFill>
                  <a:srgbClr val="3A372F"/>
                </a:solidFill>
                <a:latin typeface="Georgia" pitchFamily="34" charset="0"/>
                <a:ea typeface="Georgia" pitchFamily="34" charset="-122"/>
                <a:cs typeface="Georgia" pitchFamily="34" charset="-120"/>
              </a:rPr>
              <a:t>Dejamos solo los siniestros del cantón Quito y validamos las coordenadas.</a:t>
            </a:r>
            <a:endParaRPr lang="en-US" sz="1400" dirty="0"/>
          </a:p>
        </p:txBody>
      </p:sp>
      <p:sp>
        <p:nvSpPr>
          <p:cNvPr id="15" name="Text 12"/>
          <p:cNvSpPr txBox="1"/>
          <p:nvPr/>
        </p:nvSpPr>
        <p:spPr>
          <a:xfrm>
            <a:off x="4846320" y="3657600"/>
            <a:ext cx="182880" cy="457200"/>
          </a:xfrm>
          <a:prstGeom prst="rect">
            <a:avLst/>
          </a:prstGeom>
          <a:noFill/>
          <a:ln/>
        </p:spPr>
        <p:txBody>
          <a:bodyPr wrap="square" lIns="0" tIns="0" rIns="0" bIns="0" rtlCol="0" anchor="ctr"/>
          <a:lstStyle/>
          <a:p>
            <a:pPr marL="0" indent="0" algn="ctr">
              <a:buNone/>
            </a:pPr>
            <a:r>
              <a:rPr lang="en-US" sz="1400" dirty="0">
                <a:solidFill>
                  <a:srgbClr val="B8321F"/>
                </a:solidFill>
                <a:latin typeface="Consolas" pitchFamily="34" charset="0"/>
                <a:ea typeface="Consolas" pitchFamily="34" charset="-122"/>
                <a:cs typeface="Consolas" pitchFamily="34" charset="-120"/>
              </a:rPr>
              <a:t>→</a:t>
            </a:r>
            <a:endParaRPr lang="en-US" sz="1400" dirty="0"/>
          </a:p>
        </p:txBody>
      </p:sp>
      <p:sp>
        <p:nvSpPr>
          <p:cNvPr id="16" name="tarjeta"/>
          <p:cNvSpPr/>
          <p:nvPr/>
        </p:nvSpPr>
        <p:spPr>
          <a:xfrm>
            <a:off x="5029200" y="2240280"/>
            <a:ext cx="2057400" cy="3429000"/>
          </a:xfrm>
          <a:prstGeom prst="rect">
            <a:avLst/>
          </a:prstGeom>
          <a:solidFill>
            <a:srgbClr val="FBFAF6"/>
          </a:solidFill>
          <a:ln w="15875">
            <a:solidFill>
              <a:srgbClr val="16150F"/>
            </a:solidFill>
            <a:prstDash val="solid"/>
          </a:ln>
        </p:spPr>
      </p:sp>
      <p:sp>
        <p:nvSpPr>
          <p:cNvPr id="17" name="Text 14"/>
          <p:cNvSpPr txBox="1"/>
          <p:nvPr/>
        </p:nvSpPr>
        <p:spPr>
          <a:xfrm>
            <a:off x="5230368" y="2423160"/>
            <a:ext cx="1371600" cy="685800"/>
          </a:xfrm>
          <a:prstGeom prst="rect">
            <a:avLst/>
          </a:prstGeom>
          <a:noFill/>
          <a:ln/>
        </p:spPr>
        <p:txBody>
          <a:bodyPr wrap="square" lIns="0" tIns="0" rIns="0" bIns="0" rtlCol="0" anchor="ctr"/>
          <a:lstStyle/>
          <a:p>
            <a:pPr marL="0" indent="0">
              <a:buNone/>
            </a:pPr>
            <a:r>
              <a:rPr lang="en-US" sz="4400" dirty="0">
                <a:solidFill>
                  <a:srgbClr val="B8321F"/>
                </a:solidFill>
                <a:latin typeface="Bahnschrift SemiBold Condensed" pitchFamily="34" charset="0"/>
                <a:ea typeface="Bahnschrift SemiBold Condensed" pitchFamily="34" charset="-122"/>
                <a:cs typeface="Bahnschrift SemiBold Condensed" pitchFamily="34" charset="-120"/>
              </a:rPr>
              <a:t>03</a:t>
            </a:r>
            <a:endParaRPr lang="en-US" sz="4400" dirty="0"/>
          </a:p>
        </p:txBody>
      </p:sp>
      <p:sp>
        <p:nvSpPr>
          <p:cNvPr id="18" name="Text 15"/>
          <p:cNvSpPr txBox="1"/>
          <p:nvPr/>
        </p:nvSpPr>
        <p:spPr>
          <a:xfrm>
            <a:off x="5230368" y="3154680"/>
            <a:ext cx="1737360" cy="457200"/>
          </a:xfrm>
          <a:prstGeom prst="rect">
            <a:avLst/>
          </a:prstGeom>
          <a:noFill/>
          <a:ln/>
        </p:spPr>
        <p:txBody>
          <a:bodyPr wrap="square" lIns="0" tIns="0" rIns="0" bIns="0" rtlCol="0" anchor="ctr"/>
          <a:lstStyle/>
          <a:p>
            <a:pPr marL="0" indent="0">
              <a:buNone/>
            </a:pPr>
            <a:r>
              <a:rPr lang="en-US" sz="2400" dirty="0">
                <a:solidFill>
                  <a:srgbClr val="16150F"/>
                </a:solidFill>
                <a:latin typeface="Bahnschrift SemiBold Condensed" pitchFamily="34" charset="0"/>
                <a:ea typeface="Bahnschrift SemiBold Condensed" pitchFamily="34" charset="-122"/>
                <a:cs typeface="Bahnschrift SemiBold Condensed" pitchFamily="34" charset="-120"/>
              </a:rPr>
              <a:t>LIMPIAR</a:t>
            </a:r>
            <a:endParaRPr lang="en-US" sz="2400" dirty="0"/>
          </a:p>
        </p:txBody>
      </p:sp>
      <p:sp>
        <p:nvSpPr>
          <p:cNvPr id="19" name="Text 16"/>
          <p:cNvSpPr txBox="1"/>
          <p:nvPr/>
        </p:nvSpPr>
        <p:spPr>
          <a:xfrm>
            <a:off x="5230368" y="3703320"/>
            <a:ext cx="1691640" cy="1828800"/>
          </a:xfrm>
          <a:prstGeom prst="rect">
            <a:avLst/>
          </a:prstGeom>
          <a:noFill/>
          <a:ln/>
        </p:spPr>
        <p:txBody>
          <a:bodyPr wrap="square" lIns="0" tIns="0" rIns="0" bIns="0" rtlCol="0" anchor="t"/>
          <a:lstStyle/>
          <a:p>
            <a:pPr marL="0" indent="0">
              <a:buNone/>
            </a:pPr>
            <a:r>
              <a:rPr lang="en-US" sz="1400" dirty="0">
                <a:solidFill>
                  <a:srgbClr val="3A372F"/>
                </a:solidFill>
                <a:latin typeface="Georgia" pitchFamily="34" charset="0"/>
                <a:ea typeface="Georgia" pitchFamily="34" charset="-122"/>
                <a:cs typeface="Georgia" pitchFamily="34" charset="-120"/>
              </a:rPr>
              <a:t>Revisamos duplicados, valores N/D, fechas y coordenadas mal registradas.</a:t>
            </a:r>
            <a:endParaRPr lang="en-US" sz="1400" dirty="0"/>
          </a:p>
        </p:txBody>
      </p:sp>
      <p:sp>
        <p:nvSpPr>
          <p:cNvPr id="20" name="Text 17"/>
          <p:cNvSpPr txBox="1"/>
          <p:nvPr/>
        </p:nvSpPr>
        <p:spPr>
          <a:xfrm>
            <a:off x="7086600" y="3657600"/>
            <a:ext cx="182880" cy="457200"/>
          </a:xfrm>
          <a:prstGeom prst="rect">
            <a:avLst/>
          </a:prstGeom>
          <a:noFill/>
          <a:ln/>
        </p:spPr>
        <p:txBody>
          <a:bodyPr wrap="square" lIns="0" tIns="0" rIns="0" bIns="0" rtlCol="0" anchor="ctr"/>
          <a:lstStyle/>
          <a:p>
            <a:pPr marL="0" indent="0" algn="ctr">
              <a:buNone/>
            </a:pPr>
            <a:r>
              <a:rPr lang="en-US" sz="1400" dirty="0">
                <a:solidFill>
                  <a:srgbClr val="B8321F"/>
                </a:solidFill>
                <a:latin typeface="Consolas" pitchFamily="34" charset="0"/>
                <a:ea typeface="Consolas" pitchFamily="34" charset="-122"/>
                <a:cs typeface="Consolas" pitchFamily="34" charset="-120"/>
              </a:rPr>
              <a:t>→</a:t>
            </a:r>
            <a:endParaRPr lang="en-US" sz="1400" dirty="0"/>
          </a:p>
        </p:txBody>
      </p:sp>
      <p:sp>
        <p:nvSpPr>
          <p:cNvPr id="21" name="tarjeta"/>
          <p:cNvSpPr/>
          <p:nvPr/>
        </p:nvSpPr>
        <p:spPr>
          <a:xfrm>
            <a:off x="7269480" y="2240280"/>
            <a:ext cx="2057400" cy="3429000"/>
          </a:xfrm>
          <a:prstGeom prst="rect">
            <a:avLst/>
          </a:prstGeom>
          <a:solidFill>
            <a:srgbClr val="FBFAF6"/>
          </a:solidFill>
          <a:ln w="15875">
            <a:solidFill>
              <a:srgbClr val="16150F"/>
            </a:solidFill>
            <a:prstDash val="solid"/>
          </a:ln>
        </p:spPr>
      </p:sp>
      <p:sp>
        <p:nvSpPr>
          <p:cNvPr id="22" name="Text 19"/>
          <p:cNvSpPr txBox="1"/>
          <p:nvPr/>
        </p:nvSpPr>
        <p:spPr>
          <a:xfrm>
            <a:off x="7470648" y="2423160"/>
            <a:ext cx="1371600" cy="685800"/>
          </a:xfrm>
          <a:prstGeom prst="rect">
            <a:avLst/>
          </a:prstGeom>
          <a:noFill/>
          <a:ln/>
        </p:spPr>
        <p:txBody>
          <a:bodyPr wrap="square" lIns="0" tIns="0" rIns="0" bIns="0" rtlCol="0" anchor="ctr"/>
          <a:lstStyle/>
          <a:p>
            <a:pPr marL="0" indent="0">
              <a:buNone/>
            </a:pPr>
            <a:r>
              <a:rPr lang="en-US" sz="4400" dirty="0">
                <a:solidFill>
                  <a:srgbClr val="B8321F"/>
                </a:solidFill>
                <a:latin typeface="Bahnschrift SemiBold Condensed" pitchFamily="34" charset="0"/>
                <a:ea typeface="Bahnschrift SemiBold Condensed" pitchFamily="34" charset="-122"/>
                <a:cs typeface="Bahnschrift SemiBold Condensed" pitchFamily="34" charset="-120"/>
              </a:rPr>
              <a:t>04</a:t>
            </a:r>
            <a:endParaRPr lang="en-US" sz="4400" dirty="0"/>
          </a:p>
        </p:txBody>
      </p:sp>
      <p:sp>
        <p:nvSpPr>
          <p:cNvPr id="23" name="Text 20"/>
          <p:cNvSpPr txBox="1"/>
          <p:nvPr/>
        </p:nvSpPr>
        <p:spPr>
          <a:xfrm>
            <a:off x="7470648" y="3154680"/>
            <a:ext cx="1737360" cy="457200"/>
          </a:xfrm>
          <a:prstGeom prst="rect">
            <a:avLst/>
          </a:prstGeom>
          <a:noFill/>
          <a:ln/>
        </p:spPr>
        <p:txBody>
          <a:bodyPr wrap="square" lIns="0" tIns="0" rIns="0" bIns="0" rtlCol="0" anchor="ctr"/>
          <a:lstStyle/>
          <a:p>
            <a:pPr marL="0" indent="0">
              <a:buNone/>
            </a:pPr>
            <a:r>
              <a:rPr lang="en-US" sz="2400" dirty="0">
                <a:solidFill>
                  <a:srgbClr val="16150F"/>
                </a:solidFill>
                <a:latin typeface="Bahnschrift SemiBold Condensed" pitchFamily="34" charset="0"/>
                <a:ea typeface="Bahnschrift SemiBold Condensed" pitchFamily="34" charset="-122"/>
                <a:cs typeface="Bahnschrift SemiBold Condensed" pitchFamily="34" charset="-120"/>
              </a:rPr>
              <a:t>TRANSFORMAR</a:t>
            </a:r>
            <a:endParaRPr lang="en-US" sz="2400" dirty="0"/>
          </a:p>
        </p:txBody>
      </p:sp>
      <p:sp>
        <p:nvSpPr>
          <p:cNvPr id="24" name="Text 21"/>
          <p:cNvSpPr txBox="1"/>
          <p:nvPr/>
        </p:nvSpPr>
        <p:spPr>
          <a:xfrm>
            <a:off x="7470648" y="3703320"/>
            <a:ext cx="1691640" cy="1828800"/>
          </a:xfrm>
          <a:prstGeom prst="rect">
            <a:avLst/>
          </a:prstGeom>
          <a:noFill/>
          <a:ln/>
        </p:spPr>
        <p:txBody>
          <a:bodyPr wrap="square" lIns="0" tIns="0" rIns="0" bIns="0" rtlCol="0" anchor="t"/>
          <a:lstStyle/>
          <a:p>
            <a:pPr marL="0" indent="0">
              <a:buNone/>
            </a:pPr>
            <a:r>
              <a:rPr lang="en-US" sz="1400" dirty="0">
                <a:solidFill>
                  <a:srgbClr val="3A372F"/>
                </a:solidFill>
                <a:latin typeface="Georgia" pitchFamily="34" charset="0"/>
                <a:ea typeface="Georgia" pitchFamily="34" charset="-122"/>
                <a:cs typeface="Georgia" pitchFamily="34" charset="-120"/>
              </a:rPr>
              <a:t>Creamos variables nuevas: fin de semana, gravedad y hora numérica.</a:t>
            </a:r>
            <a:endParaRPr lang="en-US" sz="1400" dirty="0"/>
          </a:p>
        </p:txBody>
      </p:sp>
      <p:sp>
        <p:nvSpPr>
          <p:cNvPr id="25" name="Text 22"/>
          <p:cNvSpPr txBox="1"/>
          <p:nvPr/>
        </p:nvSpPr>
        <p:spPr>
          <a:xfrm>
            <a:off x="9326880" y="3657600"/>
            <a:ext cx="182880" cy="457200"/>
          </a:xfrm>
          <a:prstGeom prst="rect">
            <a:avLst/>
          </a:prstGeom>
          <a:noFill/>
          <a:ln/>
        </p:spPr>
        <p:txBody>
          <a:bodyPr wrap="square" lIns="0" tIns="0" rIns="0" bIns="0" rtlCol="0" anchor="ctr"/>
          <a:lstStyle/>
          <a:p>
            <a:pPr marL="0" indent="0" algn="ctr">
              <a:buNone/>
            </a:pPr>
            <a:r>
              <a:rPr lang="en-US" sz="1400" dirty="0">
                <a:solidFill>
                  <a:srgbClr val="B8321F"/>
                </a:solidFill>
                <a:latin typeface="Consolas" pitchFamily="34" charset="0"/>
                <a:ea typeface="Consolas" pitchFamily="34" charset="-122"/>
                <a:cs typeface="Consolas" pitchFamily="34" charset="-120"/>
              </a:rPr>
              <a:t>→</a:t>
            </a:r>
            <a:endParaRPr lang="en-US" sz="1400" dirty="0"/>
          </a:p>
        </p:txBody>
      </p:sp>
      <p:sp>
        <p:nvSpPr>
          <p:cNvPr id="26" name="tarjeta"/>
          <p:cNvSpPr/>
          <p:nvPr/>
        </p:nvSpPr>
        <p:spPr>
          <a:xfrm>
            <a:off x="9509760" y="2240280"/>
            <a:ext cx="2057400" cy="3429000"/>
          </a:xfrm>
          <a:prstGeom prst="rect">
            <a:avLst/>
          </a:prstGeom>
          <a:solidFill>
            <a:srgbClr val="16150F"/>
          </a:solidFill>
          <a:ln w="15875">
            <a:solidFill>
              <a:srgbClr val="16150F"/>
            </a:solidFill>
            <a:prstDash val="solid"/>
          </a:ln>
        </p:spPr>
      </p:sp>
      <p:sp>
        <p:nvSpPr>
          <p:cNvPr id="27" name="Text 24"/>
          <p:cNvSpPr txBox="1"/>
          <p:nvPr/>
        </p:nvSpPr>
        <p:spPr>
          <a:xfrm>
            <a:off x="9710928" y="2423160"/>
            <a:ext cx="1371600" cy="685800"/>
          </a:xfrm>
          <a:prstGeom prst="rect">
            <a:avLst/>
          </a:prstGeom>
          <a:noFill/>
          <a:ln/>
        </p:spPr>
        <p:txBody>
          <a:bodyPr wrap="square" lIns="0" tIns="0" rIns="0" bIns="0" rtlCol="0" anchor="ctr"/>
          <a:lstStyle/>
          <a:p>
            <a:pPr marL="0" indent="0">
              <a:buNone/>
            </a:pPr>
            <a:r>
              <a:rPr lang="en-US" sz="4400" dirty="0">
                <a:solidFill>
                  <a:srgbClr val="B8321F"/>
                </a:solidFill>
                <a:latin typeface="Bahnschrift SemiBold Condensed" pitchFamily="34" charset="0"/>
                <a:ea typeface="Bahnschrift SemiBold Condensed" pitchFamily="34" charset="-122"/>
                <a:cs typeface="Bahnschrift SemiBold Condensed" pitchFamily="34" charset="-120"/>
              </a:rPr>
              <a:t>05</a:t>
            </a:r>
            <a:endParaRPr lang="en-US" sz="4400" dirty="0"/>
          </a:p>
        </p:txBody>
      </p:sp>
      <p:sp>
        <p:nvSpPr>
          <p:cNvPr id="28" name="Text 25"/>
          <p:cNvSpPr txBox="1"/>
          <p:nvPr/>
        </p:nvSpPr>
        <p:spPr>
          <a:xfrm>
            <a:off x="9710928" y="3154680"/>
            <a:ext cx="1737360" cy="457200"/>
          </a:xfrm>
          <a:prstGeom prst="rect">
            <a:avLst/>
          </a:prstGeom>
          <a:noFill/>
          <a:ln/>
        </p:spPr>
        <p:txBody>
          <a:bodyPr wrap="square" lIns="0" tIns="0" rIns="0" bIns="0" rtlCol="0" anchor="ctr"/>
          <a:lstStyle/>
          <a:p>
            <a:pPr marL="0" indent="0">
              <a:buNone/>
            </a:pPr>
            <a:r>
              <a:rPr lang="en-US" sz="2400" dirty="0">
                <a:solidFill>
                  <a:srgbClr val="F1EEE6"/>
                </a:solidFill>
                <a:latin typeface="Bahnschrift SemiBold Condensed" pitchFamily="34" charset="0"/>
                <a:ea typeface="Bahnschrift SemiBold Condensed" pitchFamily="34" charset="-122"/>
                <a:cs typeface="Bahnschrift SemiBold Condensed" pitchFamily="34" charset="-120"/>
              </a:rPr>
              <a:t>ANALIZAR</a:t>
            </a:r>
            <a:endParaRPr lang="en-US" sz="2400" dirty="0"/>
          </a:p>
        </p:txBody>
      </p:sp>
      <p:sp>
        <p:nvSpPr>
          <p:cNvPr id="29" name="Text 26"/>
          <p:cNvSpPr txBox="1"/>
          <p:nvPr/>
        </p:nvSpPr>
        <p:spPr>
          <a:xfrm>
            <a:off x="9710928" y="3703320"/>
            <a:ext cx="1691640" cy="1828800"/>
          </a:xfrm>
          <a:prstGeom prst="rect">
            <a:avLst/>
          </a:prstGeom>
          <a:noFill/>
          <a:ln/>
        </p:spPr>
        <p:txBody>
          <a:bodyPr wrap="square" lIns="0" tIns="0" rIns="0" bIns="0" rtlCol="0" anchor="t"/>
          <a:lstStyle/>
          <a:p>
            <a:pPr marL="0" indent="0">
              <a:buNone/>
            </a:pPr>
            <a:r>
              <a:rPr lang="en-US" sz="1400" dirty="0">
                <a:solidFill>
                  <a:srgbClr val="E6E1D5"/>
                </a:solidFill>
                <a:latin typeface="Georgia" pitchFamily="34" charset="0"/>
                <a:ea typeface="Georgia" pitchFamily="34" charset="-122"/>
                <a:cs typeface="Georgia" pitchFamily="34" charset="-120"/>
              </a:rPr>
              <a:t>Estadística, correlación, estacionalidad, clustering, mapas y dashboard.</a:t>
            </a:r>
            <a:endParaRPr lang="en-US" sz="1400" dirty="0"/>
          </a:p>
        </p:txBody>
      </p:sp>
      <p:sp>
        <p:nvSpPr>
          <p:cNvPr id="30" name="Text 27"/>
          <p:cNvSpPr txBox="1"/>
          <p:nvPr/>
        </p:nvSpPr>
        <p:spPr>
          <a:xfrm>
            <a:off x="548640" y="5852160"/>
            <a:ext cx="10972800" cy="411480"/>
          </a:xfrm>
          <a:prstGeom prst="rect">
            <a:avLst/>
          </a:prstGeom>
          <a:noFill/>
          <a:ln/>
        </p:spPr>
        <p:txBody>
          <a:bodyPr wrap="square" lIns="0" tIns="0" rIns="0" bIns="0" rtlCol="0" anchor="t"/>
          <a:lstStyle/>
          <a:p>
            <a:pPr marL="0" indent="0">
              <a:buNone/>
            </a:pPr>
            <a:r>
              <a:rPr lang="en-US" sz="1150" dirty="0">
                <a:solidFill>
                  <a:srgbClr val="6B6657"/>
                </a:solidFill>
                <a:latin typeface="Consolas" pitchFamily="34" charset="0"/>
                <a:ea typeface="Consolas" pitchFamily="34" charset="-122"/>
                <a:cs typeface="Consolas" pitchFamily="34" charset="-120"/>
              </a:rPr>
              <a:t>Scripts: 01_limpieza_datos.py · transformacion.py · 03 a 11 (análisis) · 12_dashboard.py</a:t>
            </a:r>
            <a:endParaRPr lang="en-US" sz="1150" dirty="0"/>
          </a:p>
        </p:txBody>
      </p:sp>
      <p:sp>
        <p:nvSpPr>
          <p:cNvPr id="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05 · METODOLOGÍA Y HERRAMIENTAS</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HERRAMIENTAS Y TÉCNICAS ESTADÍSTICAS</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Todo el análisis se programó en Python; las técnicas estadísticas resumen cómo se comportan los siniestros.</a:t>
            </a:r>
            <a:endParaRPr lang="en-US" sz="1700" dirty="0"/>
          </a:p>
        </p:txBody>
      </p:sp>
      <p:sp>
        <p:nvSpPr>
          <p:cNvPr id="6" name="tarjeta"/>
          <p:cNvSpPr/>
          <p:nvPr/>
        </p:nvSpPr>
        <p:spPr>
          <a:xfrm>
            <a:off x="548640" y="2103120"/>
            <a:ext cx="4206240" cy="4023360"/>
          </a:xfrm>
          <a:prstGeom prst="rect">
            <a:avLst/>
          </a:prstGeom>
          <a:solidFill>
            <a:srgbClr val="16150F"/>
          </a:solidFill>
          <a:ln w="15875">
            <a:solidFill>
              <a:srgbClr val="16150F"/>
            </a:solidFill>
            <a:prstDash val="solid"/>
          </a:ln>
        </p:spPr>
      </p:sp>
      <p:sp>
        <p:nvSpPr>
          <p:cNvPr id="7" name="Text 4"/>
          <p:cNvSpPr txBox="1"/>
          <p:nvPr/>
        </p:nvSpPr>
        <p:spPr>
          <a:xfrm>
            <a:off x="749808" y="2249424"/>
            <a:ext cx="3803904" cy="256032"/>
          </a:xfrm>
          <a:prstGeom prst="rect">
            <a:avLst/>
          </a:prstGeom>
          <a:noFill/>
          <a:ln/>
        </p:spPr>
        <p:txBody>
          <a:bodyPr wrap="square" lIns="0" tIns="0" rIns="0" bIns="0" rtlCol="0" anchor="ctr"/>
          <a:lstStyle/>
          <a:p>
            <a:pPr marL="0" indent="0">
              <a:buNone/>
            </a:pPr>
            <a:r>
              <a:rPr lang="en-US" sz="1000" kern="0" spc="200" dirty="0">
                <a:solidFill>
                  <a:srgbClr val="C9C2B0"/>
                </a:solidFill>
                <a:latin typeface="Consolas" pitchFamily="34" charset="0"/>
                <a:ea typeface="Consolas" pitchFamily="34" charset="-122"/>
                <a:cs typeface="Consolas" pitchFamily="34" charset="-120"/>
              </a:rPr>
              <a:t>HERRAMIENTAS</a:t>
            </a:r>
            <a:endParaRPr lang="en-US" sz="1000" dirty="0"/>
          </a:p>
        </p:txBody>
      </p:sp>
      <p:sp>
        <p:nvSpPr>
          <p:cNvPr id="8" name="Text 5"/>
          <p:cNvSpPr txBox="1"/>
          <p:nvPr/>
        </p:nvSpPr>
        <p:spPr>
          <a:xfrm>
            <a:off x="777240" y="2514600"/>
            <a:ext cx="1828800" cy="457200"/>
          </a:xfrm>
          <a:prstGeom prst="rect">
            <a:avLst/>
          </a:prstGeom>
          <a:noFill/>
          <a:ln/>
        </p:spPr>
        <p:txBody>
          <a:bodyPr wrap="square" lIns="0" tIns="0" rIns="0" bIns="0" rtlCol="0" anchor="ctr"/>
          <a:lstStyle/>
          <a:p>
            <a:pPr marL="0" indent="0">
              <a:buNone/>
            </a:pPr>
            <a:r>
              <a:rPr lang="en-US" sz="1900" dirty="0">
                <a:solidFill>
                  <a:srgbClr val="E2563E"/>
                </a:solidFill>
                <a:latin typeface="Bahnschrift SemiBold Condensed" pitchFamily="34" charset="0"/>
                <a:ea typeface="Bahnschrift SemiBold Condensed" pitchFamily="34" charset="-122"/>
                <a:cs typeface="Bahnschrift SemiBold Condensed" pitchFamily="34" charset="-120"/>
              </a:rPr>
              <a:t>Python</a:t>
            </a:r>
            <a:endParaRPr lang="en-US" sz="1900" dirty="0"/>
          </a:p>
        </p:txBody>
      </p:sp>
      <p:sp>
        <p:nvSpPr>
          <p:cNvPr id="9" name="Text 6"/>
          <p:cNvSpPr txBox="1"/>
          <p:nvPr/>
        </p:nvSpPr>
        <p:spPr>
          <a:xfrm>
            <a:off x="2606040" y="2514600"/>
            <a:ext cx="2011680" cy="457200"/>
          </a:xfrm>
          <a:prstGeom prst="rect">
            <a:avLst/>
          </a:prstGeom>
          <a:noFill/>
          <a:ln/>
        </p:spPr>
        <p:txBody>
          <a:bodyPr wrap="square" lIns="0" tIns="0" rIns="0" bIns="0" rtlCol="0" anchor="ctr"/>
          <a:lstStyle/>
          <a:p>
            <a:pPr marL="0" indent="0">
              <a:buNone/>
            </a:pPr>
            <a:r>
              <a:rPr lang="en-US" sz="1250" i="1" dirty="0">
                <a:solidFill>
                  <a:srgbClr val="C9C2B0"/>
                </a:solidFill>
                <a:latin typeface="Georgia" pitchFamily="34" charset="0"/>
                <a:ea typeface="Georgia" pitchFamily="34" charset="-122"/>
                <a:cs typeface="Georgia" pitchFamily="34" charset="-120"/>
              </a:rPr>
              <a:t>pandas y NumPy: manejo de datos</a:t>
            </a:r>
            <a:endParaRPr lang="en-US" sz="1250" dirty="0"/>
          </a:p>
        </p:txBody>
      </p:sp>
      <p:sp>
        <p:nvSpPr>
          <p:cNvPr id="10" name="Text 7"/>
          <p:cNvSpPr txBox="1"/>
          <p:nvPr/>
        </p:nvSpPr>
        <p:spPr>
          <a:xfrm>
            <a:off x="777240" y="3099816"/>
            <a:ext cx="1828800" cy="457200"/>
          </a:xfrm>
          <a:prstGeom prst="rect">
            <a:avLst/>
          </a:prstGeom>
          <a:noFill/>
          <a:ln/>
        </p:spPr>
        <p:txBody>
          <a:bodyPr wrap="square" lIns="0" tIns="0" rIns="0" bIns="0" rtlCol="0" anchor="ctr"/>
          <a:lstStyle/>
          <a:p>
            <a:pPr marL="0" indent="0">
              <a:buNone/>
            </a:pPr>
            <a:r>
              <a:rPr lang="en-US" sz="1900" dirty="0">
                <a:solidFill>
                  <a:srgbClr val="F1EEE6"/>
                </a:solidFill>
                <a:latin typeface="Bahnschrift SemiBold Condensed" pitchFamily="34" charset="0"/>
                <a:ea typeface="Bahnschrift SemiBold Condensed" pitchFamily="34" charset="-122"/>
                <a:cs typeface="Bahnschrift SemiBold Condensed" pitchFamily="34" charset="-120"/>
              </a:rPr>
              <a:t>Matplotlib</a:t>
            </a:r>
            <a:endParaRPr lang="en-US" sz="1900" dirty="0"/>
          </a:p>
        </p:txBody>
      </p:sp>
      <p:sp>
        <p:nvSpPr>
          <p:cNvPr id="11" name="Text 8"/>
          <p:cNvSpPr txBox="1"/>
          <p:nvPr/>
        </p:nvSpPr>
        <p:spPr>
          <a:xfrm>
            <a:off x="2606040" y="3099816"/>
            <a:ext cx="2011680" cy="457200"/>
          </a:xfrm>
          <a:prstGeom prst="rect">
            <a:avLst/>
          </a:prstGeom>
          <a:noFill/>
          <a:ln/>
        </p:spPr>
        <p:txBody>
          <a:bodyPr wrap="square" lIns="0" tIns="0" rIns="0" bIns="0" rtlCol="0" anchor="ctr"/>
          <a:lstStyle/>
          <a:p>
            <a:pPr marL="0" indent="0">
              <a:buNone/>
            </a:pPr>
            <a:r>
              <a:rPr lang="en-US" sz="1250" i="1" dirty="0">
                <a:solidFill>
                  <a:srgbClr val="C9C2B0"/>
                </a:solidFill>
                <a:latin typeface="Georgia" pitchFamily="34" charset="0"/>
                <a:ea typeface="Georgia" pitchFamily="34" charset="-122"/>
                <a:cs typeface="Georgia" pitchFamily="34" charset="-120"/>
              </a:rPr>
              <a:t>gráficos del análisis</a:t>
            </a:r>
            <a:endParaRPr lang="en-US" sz="1250" dirty="0"/>
          </a:p>
        </p:txBody>
      </p:sp>
      <p:sp>
        <p:nvSpPr>
          <p:cNvPr id="12" name="Text 9"/>
          <p:cNvSpPr txBox="1"/>
          <p:nvPr/>
        </p:nvSpPr>
        <p:spPr>
          <a:xfrm>
            <a:off x="777240" y="3685032"/>
            <a:ext cx="1828800" cy="457200"/>
          </a:xfrm>
          <a:prstGeom prst="rect">
            <a:avLst/>
          </a:prstGeom>
          <a:noFill/>
          <a:ln/>
        </p:spPr>
        <p:txBody>
          <a:bodyPr wrap="square" lIns="0" tIns="0" rIns="0" bIns="0" rtlCol="0" anchor="ctr"/>
          <a:lstStyle/>
          <a:p>
            <a:pPr marL="0" indent="0">
              <a:buNone/>
            </a:pPr>
            <a:r>
              <a:rPr lang="en-US" sz="1900" dirty="0">
                <a:solidFill>
                  <a:srgbClr val="F1EEE6"/>
                </a:solidFill>
                <a:latin typeface="Bahnschrift SemiBold Condensed" pitchFamily="34" charset="0"/>
                <a:ea typeface="Bahnschrift SemiBold Condensed" pitchFamily="34" charset="-122"/>
                <a:cs typeface="Bahnschrift SemiBold Condensed" pitchFamily="34" charset="-120"/>
              </a:rPr>
              <a:t>scikit-learn</a:t>
            </a:r>
            <a:endParaRPr lang="en-US" sz="1900" dirty="0"/>
          </a:p>
        </p:txBody>
      </p:sp>
      <p:sp>
        <p:nvSpPr>
          <p:cNvPr id="13" name="Text 10"/>
          <p:cNvSpPr txBox="1"/>
          <p:nvPr/>
        </p:nvSpPr>
        <p:spPr>
          <a:xfrm>
            <a:off x="2606040" y="3685032"/>
            <a:ext cx="2011680" cy="457200"/>
          </a:xfrm>
          <a:prstGeom prst="rect">
            <a:avLst/>
          </a:prstGeom>
          <a:noFill/>
          <a:ln/>
        </p:spPr>
        <p:txBody>
          <a:bodyPr wrap="square" lIns="0" tIns="0" rIns="0" bIns="0" rtlCol="0" anchor="ctr"/>
          <a:lstStyle/>
          <a:p>
            <a:pPr marL="0" indent="0">
              <a:buNone/>
            </a:pPr>
            <a:r>
              <a:rPr lang="en-US" sz="1250" i="1" dirty="0">
                <a:solidFill>
                  <a:srgbClr val="C9C2B0"/>
                </a:solidFill>
                <a:latin typeface="Georgia" pitchFamily="34" charset="0"/>
                <a:ea typeface="Georgia" pitchFamily="34" charset="-122"/>
                <a:cs typeface="Georgia" pitchFamily="34" charset="-120"/>
              </a:rPr>
              <a:t>clustering K-Means</a:t>
            </a:r>
            <a:endParaRPr lang="en-US" sz="1250" dirty="0"/>
          </a:p>
        </p:txBody>
      </p:sp>
      <p:sp>
        <p:nvSpPr>
          <p:cNvPr id="14" name="Text 11"/>
          <p:cNvSpPr txBox="1"/>
          <p:nvPr/>
        </p:nvSpPr>
        <p:spPr>
          <a:xfrm>
            <a:off x="777240" y="4270248"/>
            <a:ext cx="1828800" cy="457200"/>
          </a:xfrm>
          <a:prstGeom prst="rect">
            <a:avLst/>
          </a:prstGeom>
          <a:noFill/>
          <a:ln/>
        </p:spPr>
        <p:txBody>
          <a:bodyPr wrap="square" lIns="0" tIns="0" rIns="0" bIns="0" rtlCol="0" anchor="ctr"/>
          <a:lstStyle/>
          <a:p>
            <a:pPr marL="0" indent="0">
              <a:buNone/>
            </a:pPr>
            <a:r>
              <a:rPr lang="en-US" sz="1900" dirty="0">
                <a:solidFill>
                  <a:srgbClr val="F1EEE6"/>
                </a:solidFill>
                <a:latin typeface="Bahnschrift SemiBold Condensed" pitchFamily="34" charset="0"/>
                <a:ea typeface="Bahnschrift SemiBold Condensed" pitchFamily="34" charset="-122"/>
                <a:cs typeface="Bahnschrift SemiBold Condensed" pitchFamily="34" charset="-120"/>
              </a:rPr>
              <a:t>folium</a:t>
            </a:r>
            <a:endParaRPr lang="en-US" sz="1900" dirty="0"/>
          </a:p>
        </p:txBody>
      </p:sp>
      <p:sp>
        <p:nvSpPr>
          <p:cNvPr id="15" name="Text 12"/>
          <p:cNvSpPr txBox="1"/>
          <p:nvPr/>
        </p:nvSpPr>
        <p:spPr>
          <a:xfrm>
            <a:off x="2606040" y="4270248"/>
            <a:ext cx="2011680" cy="457200"/>
          </a:xfrm>
          <a:prstGeom prst="rect">
            <a:avLst/>
          </a:prstGeom>
          <a:noFill/>
          <a:ln/>
        </p:spPr>
        <p:txBody>
          <a:bodyPr wrap="square" lIns="0" tIns="0" rIns="0" bIns="0" rtlCol="0" anchor="ctr"/>
          <a:lstStyle/>
          <a:p>
            <a:pPr marL="0" indent="0">
              <a:buNone/>
            </a:pPr>
            <a:r>
              <a:rPr lang="en-US" sz="1250" i="1" dirty="0">
                <a:solidFill>
                  <a:srgbClr val="C9C2B0"/>
                </a:solidFill>
                <a:latin typeface="Georgia" pitchFamily="34" charset="0"/>
                <a:ea typeface="Georgia" pitchFamily="34" charset="-122"/>
                <a:cs typeface="Georgia" pitchFamily="34" charset="-120"/>
              </a:rPr>
              <a:t>mapas interactivos</a:t>
            </a:r>
            <a:endParaRPr lang="en-US" sz="1250" dirty="0"/>
          </a:p>
        </p:txBody>
      </p:sp>
      <p:sp>
        <p:nvSpPr>
          <p:cNvPr id="16" name="Text 13"/>
          <p:cNvSpPr txBox="1"/>
          <p:nvPr/>
        </p:nvSpPr>
        <p:spPr>
          <a:xfrm>
            <a:off x="777240" y="4855464"/>
            <a:ext cx="1828800" cy="457200"/>
          </a:xfrm>
          <a:prstGeom prst="rect">
            <a:avLst/>
          </a:prstGeom>
          <a:noFill/>
          <a:ln/>
        </p:spPr>
        <p:txBody>
          <a:bodyPr wrap="square" lIns="0" tIns="0" rIns="0" bIns="0" rtlCol="0" anchor="ctr"/>
          <a:lstStyle/>
          <a:p>
            <a:pPr marL="0" indent="0">
              <a:buNone/>
            </a:pPr>
            <a:r>
              <a:rPr lang="en-US" sz="1900" dirty="0">
                <a:solidFill>
                  <a:srgbClr val="F1EEE6"/>
                </a:solidFill>
                <a:latin typeface="Bahnschrift SemiBold Condensed" pitchFamily="34" charset="0"/>
                <a:ea typeface="Bahnschrift SemiBold Condensed" pitchFamily="34" charset="-122"/>
                <a:cs typeface="Bahnschrift SemiBold Condensed" pitchFamily="34" charset="-120"/>
              </a:rPr>
              <a:t>Streamlit · Plotly</a:t>
            </a:r>
            <a:endParaRPr lang="en-US" sz="1900" dirty="0"/>
          </a:p>
        </p:txBody>
      </p:sp>
      <p:sp>
        <p:nvSpPr>
          <p:cNvPr id="17" name="Text 14"/>
          <p:cNvSpPr txBox="1"/>
          <p:nvPr/>
        </p:nvSpPr>
        <p:spPr>
          <a:xfrm>
            <a:off x="2606040" y="4855464"/>
            <a:ext cx="2011680" cy="457200"/>
          </a:xfrm>
          <a:prstGeom prst="rect">
            <a:avLst/>
          </a:prstGeom>
          <a:noFill/>
          <a:ln/>
        </p:spPr>
        <p:txBody>
          <a:bodyPr wrap="square" lIns="0" tIns="0" rIns="0" bIns="0" rtlCol="0" anchor="ctr"/>
          <a:lstStyle/>
          <a:p>
            <a:pPr marL="0" indent="0">
              <a:buNone/>
            </a:pPr>
            <a:r>
              <a:rPr lang="en-US" sz="1250" i="1" dirty="0">
                <a:solidFill>
                  <a:srgbClr val="C9C2B0"/>
                </a:solidFill>
                <a:latin typeface="Georgia" pitchFamily="34" charset="0"/>
                <a:ea typeface="Georgia" pitchFamily="34" charset="-122"/>
                <a:cs typeface="Georgia" pitchFamily="34" charset="-120"/>
              </a:rPr>
              <a:t>dashboard</a:t>
            </a:r>
            <a:endParaRPr lang="en-US" sz="1250" dirty="0"/>
          </a:p>
        </p:txBody>
      </p:sp>
      <p:sp>
        <p:nvSpPr>
          <p:cNvPr id="18" name="Text 15"/>
          <p:cNvSpPr txBox="1"/>
          <p:nvPr/>
        </p:nvSpPr>
        <p:spPr>
          <a:xfrm>
            <a:off x="777240" y="5440680"/>
            <a:ext cx="1828800" cy="457200"/>
          </a:xfrm>
          <a:prstGeom prst="rect">
            <a:avLst/>
          </a:prstGeom>
          <a:noFill/>
          <a:ln/>
        </p:spPr>
        <p:txBody>
          <a:bodyPr wrap="square" lIns="0" tIns="0" rIns="0" bIns="0" rtlCol="0" anchor="ctr"/>
          <a:lstStyle/>
          <a:p>
            <a:pPr marL="0" indent="0">
              <a:buNone/>
            </a:pPr>
            <a:r>
              <a:rPr lang="en-US" sz="1900" dirty="0">
                <a:solidFill>
                  <a:srgbClr val="F1EEE6"/>
                </a:solidFill>
                <a:latin typeface="Bahnschrift SemiBold Condensed" pitchFamily="34" charset="0"/>
                <a:ea typeface="Bahnschrift SemiBold Condensed" pitchFamily="34" charset="-122"/>
                <a:cs typeface="Bahnschrift SemiBold Condensed" pitchFamily="34" charset="-120"/>
              </a:rPr>
              <a:t>Excel · VS Code</a:t>
            </a:r>
            <a:endParaRPr lang="en-US" sz="1900" dirty="0"/>
          </a:p>
        </p:txBody>
      </p:sp>
      <p:sp>
        <p:nvSpPr>
          <p:cNvPr id="19" name="Text 16"/>
          <p:cNvSpPr txBox="1"/>
          <p:nvPr/>
        </p:nvSpPr>
        <p:spPr>
          <a:xfrm>
            <a:off x="2606040" y="5440680"/>
            <a:ext cx="2011680" cy="457200"/>
          </a:xfrm>
          <a:prstGeom prst="rect">
            <a:avLst/>
          </a:prstGeom>
          <a:noFill/>
          <a:ln/>
        </p:spPr>
        <p:txBody>
          <a:bodyPr wrap="square" lIns="0" tIns="0" rIns="0" bIns="0" rtlCol="0" anchor="ctr"/>
          <a:lstStyle/>
          <a:p>
            <a:pPr marL="0" indent="0">
              <a:buNone/>
            </a:pPr>
            <a:r>
              <a:rPr lang="en-US" sz="1250" i="1" dirty="0">
                <a:solidFill>
                  <a:srgbClr val="C9C2B0"/>
                </a:solidFill>
                <a:latin typeface="Georgia" pitchFamily="34" charset="0"/>
                <a:ea typeface="Georgia" pitchFamily="34" charset="-122"/>
                <a:cs typeface="Georgia" pitchFamily="34" charset="-120"/>
              </a:rPr>
              <a:t>revisión de archivos y código</a:t>
            </a:r>
            <a:endParaRPr lang="en-US" sz="1250" dirty="0"/>
          </a:p>
        </p:txBody>
      </p:sp>
      <p:sp>
        <p:nvSpPr>
          <p:cNvPr id="20" name="tarjeta"/>
          <p:cNvSpPr/>
          <p:nvPr/>
        </p:nvSpPr>
        <p:spPr>
          <a:xfrm>
            <a:off x="5029200" y="2103120"/>
            <a:ext cx="3136392" cy="1874520"/>
          </a:xfrm>
          <a:prstGeom prst="rect">
            <a:avLst/>
          </a:prstGeom>
          <a:solidFill>
            <a:srgbClr val="FBFAF6"/>
          </a:solidFill>
          <a:ln w="15875">
            <a:solidFill>
              <a:srgbClr val="16150F"/>
            </a:solidFill>
            <a:prstDash val="solid"/>
          </a:ln>
        </p:spPr>
      </p:sp>
      <p:sp>
        <p:nvSpPr>
          <p:cNvPr id="21" name="Text 18"/>
          <p:cNvSpPr txBox="1"/>
          <p:nvPr/>
        </p:nvSpPr>
        <p:spPr>
          <a:xfrm>
            <a:off x="5230368" y="2249424"/>
            <a:ext cx="2734056"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MEDIA</a:t>
            </a:r>
            <a:endParaRPr lang="en-US" sz="1000" dirty="0"/>
          </a:p>
        </p:txBody>
      </p:sp>
      <p:sp>
        <p:nvSpPr>
          <p:cNvPr id="22" name="Text 19"/>
          <p:cNvSpPr txBox="1"/>
          <p:nvPr/>
        </p:nvSpPr>
        <p:spPr>
          <a:xfrm>
            <a:off x="5230368" y="2560320"/>
            <a:ext cx="2743200" cy="731520"/>
          </a:xfrm>
          <a:prstGeom prst="rect">
            <a:avLst/>
          </a:prstGeom>
          <a:noFill/>
          <a:ln/>
        </p:spPr>
        <p:txBody>
          <a:bodyPr wrap="square" lIns="0" tIns="0" rIns="0" bIns="0" rtlCol="0" anchor="ctr"/>
          <a:lstStyle/>
          <a:p>
            <a:pPr marL="0" indent="0">
              <a:buNone/>
            </a:pPr>
            <a:r>
              <a:rPr lang="en-US" sz="4800" dirty="0">
                <a:solidFill>
                  <a:srgbClr val="16150F"/>
                </a:solidFill>
                <a:latin typeface="Bahnschrift SemiBold Condensed" pitchFamily="34" charset="0"/>
                <a:ea typeface="Bahnschrift SemiBold Condensed" pitchFamily="34" charset="-122"/>
                <a:cs typeface="Bahnschrift SemiBold Condensed" pitchFamily="34" charset="-120"/>
              </a:rPr>
              <a:t>0,66</a:t>
            </a:r>
            <a:endParaRPr lang="en-US" sz="4800" dirty="0"/>
          </a:p>
        </p:txBody>
      </p:sp>
      <p:sp>
        <p:nvSpPr>
          <p:cNvPr id="23" name="Text 20"/>
          <p:cNvSpPr txBox="1"/>
          <p:nvPr/>
        </p:nvSpPr>
        <p:spPr>
          <a:xfrm>
            <a:off x="5230368" y="3310128"/>
            <a:ext cx="2743200" cy="594360"/>
          </a:xfrm>
          <a:prstGeom prst="rect">
            <a:avLst/>
          </a:prstGeom>
          <a:noFill/>
          <a:ln/>
        </p:spPr>
        <p:txBody>
          <a:bodyPr wrap="square" lIns="0" tIns="0" rIns="0" bIns="0" rtlCol="0" anchor="t"/>
          <a:lstStyle/>
          <a:p>
            <a:pPr marL="0" indent="0">
              <a:buNone/>
            </a:pPr>
            <a:r>
              <a:rPr lang="en-US" sz="1350" dirty="0">
                <a:solidFill>
                  <a:srgbClr val="3A372F"/>
                </a:solidFill>
                <a:latin typeface="Georgia" pitchFamily="34" charset="0"/>
                <a:ea typeface="Georgia" pitchFamily="34" charset="-122"/>
                <a:cs typeface="Georgia" pitchFamily="34" charset="-120"/>
              </a:rPr>
              <a:t>víctimas en promedio deja cada siniestro.</a:t>
            </a:r>
            <a:endParaRPr lang="en-US" sz="1350" dirty="0"/>
          </a:p>
        </p:txBody>
      </p:sp>
      <p:sp>
        <p:nvSpPr>
          <p:cNvPr id="24" name="tarjeta"/>
          <p:cNvSpPr/>
          <p:nvPr/>
        </p:nvSpPr>
        <p:spPr>
          <a:xfrm>
            <a:off x="8339328" y="2103120"/>
            <a:ext cx="3136392" cy="1874520"/>
          </a:xfrm>
          <a:prstGeom prst="rect">
            <a:avLst/>
          </a:prstGeom>
          <a:solidFill>
            <a:srgbClr val="FBFAF6"/>
          </a:solidFill>
          <a:ln w="15875">
            <a:solidFill>
              <a:srgbClr val="16150F"/>
            </a:solidFill>
            <a:prstDash val="solid"/>
          </a:ln>
        </p:spPr>
      </p:sp>
      <p:sp>
        <p:nvSpPr>
          <p:cNvPr id="25" name="Text 22"/>
          <p:cNvSpPr txBox="1"/>
          <p:nvPr/>
        </p:nvSpPr>
        <p:spPr>
          <a:xfrm>
            <a:off x="8540496" y="2249424"/>
            <a:ext cx="2734056"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MODA</a:t>
            </a:r>
            <a:endParaRPr lang="en-US" sz="1000" dirty="0"/>
          </a:p>
        </p:txBody>
      </p:sp>
      <p:sp>
        <p:nvSpPr>
          <p:cNvPr id="26" name="Text 23"/>
          <p:cNvSpPr txBox="1"/>
          <p:nvPr/>
        </p:nvSpPr>
        <p:spPr>
          <a:xfrm>
            <a:off x="8540496" y="2560320"/>
            <a:ext cx="2743200" cy="579120"/>
          </a:xfrm>
          <a:prstGeom prst="rect">
            <a:avLst/>
          </a:prstGeom>
          <a:noFill/>
          <a:ln/>
        </p:spPr>
        <p:txBody>
          <a:bodyPr wrap="square" lIns="0" tIns="0" rIns="0" bIns="0" rtlCol="0" anchor="ctr"/>
          <a:lstStyle/>
          <a:p>
            <a:pPr marL="0" indent="0">
              <a:buNone/>
            </a:pPr>
            <a:r>
              <a:rPr lang="en-US" sz="3800" dirty="0">
                <a:solidFill>
                  <a:srgbClr val="B8321F"/>
                </a:solidFill>
                <a:latin typeface="Bahnschrift SemiBold Condensed" pitchFamily="34" charset="0"/>
                <a:ea typeface="Bahnschrift SemiBold Condensed" pitchFamily="34" charset="-122"/>
                <a:cs typeface="Bahnschrift SemiBold Condensed" pitchFamily="34" charset="-120"/>
              </a:rPr>
              <a:t>Sábado · 07:00</a:t>
            </a:r>
            <a:endParaRPr lang="en-US" sz="3800" dirty="0"/>
          </a:p>
        </p:txBody>
      </p:sp>
      <p:sp>
        <p:nvSpPr>
          <p:cNvPr id="27" name="Text 24"/>
          <p:cNvSpPr txBox="1"/>
          <p:nvPr/>
        </p:nvSpPr>
        <p:spPr>
          <a:xfrm>
            <a:off x="8540496" y="3310128"/>
            <a:ext cx="2743200" cy="594360"/>
          </a:xfrm>
          <a:prstGeom prst="rect">
            <a:avLst/>
          </a:prstGeom>
          <a:noFill/>
          <a:ln/>
        </p:spPr>
        <p:txBody>
          <a:bodyPr wrap="square" lIns="0" tIns="0" rIns="0" bIns="0" rtlCol="0" anchor="t"/>
          <a:lstStyle/>
          <a:p>
            <a:pPr marL="0" indent="0">
              <a:buNone/>
            </a:pPr>
            <a:r>
              <a:rPr lang="en-US" sz="1350" dirty="0">
                <a:solidFill>
                  <a:srgbClr val="3A372F"/>
                </a:solidFill>
                <a:latin typeface="Georgia" pitchFamily="34" charset="0"/>
                <a:ea typeface="Georgia" pitchFamily="34" charset="-122"/>
                <a:cs typeface="Georgia" pitchFamily="34" charset="-120"/>
              </a:rPr>
              <a:t>el día y la hora que más se repiten.</a:t>
            </a:r>
            <a:endParaRPr lang="en-US" sz="1350" dirty="0"/>
          </a:p>
        </p:txBody>
      </p:sp>
      <p:sp>
        <p:nvSpPr>
          <p:cNvPr id="28" name="tarjeta"/>
          <p:cNvSpPr/>
          <p:nvPr/>
        </p:nvSpPr>
        <p:spPr>
          <a:xfrm>
            <a:off x="5029200" y="4160520"/>
            <a:ext cx="3136392" cy="1874520"/>
          </a:xfrm>
          <a:prstGeom prst="rect">
            <a:avLst/>
          </a:prstGeom>
          <a:solidFill>
            <a:srgbClr val="FBFAF6"/>
          </a:solidFill>
          <a:ln w="15875">
            <a:solidFill>
              <a:srgbClr val="16150F"/>
            </a:solidFill>
            <a:prstDash val="solid"/>
          </a:ln>
        </p:spPr>
      </p:sp>
      <p:sp>
        <p:nvSpPr>
          <p:cNvPr id="29" name="Text 26"/>
          <p:cNvSpPr txBox="1"/>
          <p:nvPr/>
        </p:nvSpPr>
        <p:spPr>
          <a:xfrm>
            <a:off x="5230368" y="4306824"/>
            <a:ext cx="2734056"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MEDIANA</a:t>
            </a:r>
            <a:endParaRPr lang="en-US" sz="1000" dirty="0"/>
          </a:p>
        </p:txBody>
      </p:sp>
      <p:sp>
        <p:nvSpPr>
          <p:cNvPr id="30" name="Text 27"/>
          <p:cNvSpPr txBox="1"/>
          <p:nvPr/>
        </p:nvSpPr>
        <p:spPr>
          <a:xfrm>
            <a:off x="5230368" y="4617720"/>
            <a:ext cx="2743200" cy="731520"/>
          </a:xfrm>
          <a:prstGeom prst="rect">
            <a:avLst/>
          </a:prstGeom>
          <a:noFill/>
          <a:ln/>
        </p:spPr>
        <p:txBody>
          <a:bodyPr wrap="square" lIns="0" tIns="0" rIns="0" bIns="0" rtlCol="0" anchor="ctr"/>
          <a:lstStyle/>
          <a:p>
            <a:pPr marL="0" indent="0">
              <a:buNone/>
            </a:pPr>
            <a:r>
              <a:rPr lang="en-US" sz="4800" dirty="0">
                <a:solidFill>
                  <a:srgbClr val="16150F"/>
                </a:solidFill>
                <a:latin typeface="Bahnschrift SemiBold Condensed" pitchFamily="34" charset="0"/>
                <a:ea typeface="Bahnschrift SemiBold Condensed" pitchFamily="34" charset="-122"/>
                <a:cs typeface="Bahnschrift SemiBold Condensed" pitchFamily="34" charset="-120"/>
              </a:rPr>
              <a:t>12:00</a:t>
            </a:r>
            <a:endParaRPr lang="en-US" sz="4800" dirty="0"/>
          </a:p>
        </p:txBody>
      </p:sp>
      <p:sp>
        <p:nvSpPr>
          <p:cNvPr id="31" name="Text 28"/>
          <p:cNvSpPr txBox="1"/>
          <p:nvPr/>
        </p:nvSpPr>
        <p:spPr>
          <a:xfrm>
            <a:off x="5230368" y="5367528"/>
            <a:ext cx="2743200" cy="594360"/>
          </a:xfrm>
          <a:prstGeom prst="rect">
            <a:avLst/>
          </a:prstGeom>
          <a:noFill/>
          <a:ln/>
        </p:spPr>
        <p:txBody>
          <a:bodyPr wrap="square" lIns="0" tIns="0" rIns="0" bIns="0" rtlCol="0" anchor="t"/>
          <a:lstStyle/>
          <a:p>
            <a:pPr marL="0" indent="0">
              <a:buNone/>
            </a:pPr>
            <a:r>
              <a:rPr lang="en-US" sz="1350" dirty="0">
                <a:solidFill>
                  <a:srgbClr val="3A372F"/>
                </a:solidFill>
                <a:latin typeface="Georgia" pitchFamily="34" charset="0"/>
                <a:ea typeface="Georgia" pitchFamily="34" charset="-122"/>
                <a:cs typeface="Georgia" pitchFamily="34" charset="-120"/>
              </a:rPr>
              <a:t>la mitad de los siniestros ocurre antes del mediodía.</a:t>
            </a:r>
            <a:endParaRPr lang="en-US" sz="1350" dirty="0"/>
          </a:p>
        </p:txBody>
      </p:sp>
      <p:sp>
        <p:nvSpPr>
          <p:cNvPr id="32" name="tarjeta"/>
          <p:cNvSpPr/>
          <p:nvPr/>
        </p:nvSpPr>
        <p:spPr>
          <a:xfrm>
            <a:off x="8339328" y="4160520"/>
            <a:ext cx="3136392" cy="1874520"/>
          </a:xfrm>
          <a:prstGeom prst="rect">
            <a:avLst/>
          </a:prstGeom>
          <a:solidFill>
            <a:srgbClr val="FBFAF6"/>
          </a:solidFill>
          <a:ln w="15875">
            <a:solidFill>
              <a:srgbClr val="16150F"/>
            </a:solidFill>
            <a:prstDash val="solid"/>
          </a:ln>
        </p:spPr>
      </p:sp>
      <p:sp>
        <p:nvSpPr>
          <p:cNvPr id="33" name="Text 30"/>
          <p:cNvSpPr txBox="1"/>
          <p:nvPr/>
        </p:nvSpPr>
        <p:spPr>
          <a:xfrm>
            <a:off x="8540496" y="4306824"/>
            <a:ext cx="2734056"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DESVIACIÓN ESTÁNDAR</a:t>
            </a:r>
            <a:endParaRPr lang="en-US" sz="1000" dirty="0"/>
          </a:p>
        </p:txBody>
      </p:sp>
      <p:sp>
        <p:nvSpPr>
          <p:cNvPr id="34" name="Text 31"/>
          <p:cNvSpPr txBox="1"/>
          <p:nvPr/>
        </p:nvSpPr>
        <p:spPr>
          <a:xfrm>
            <a:off x="8540496" y="4617720"/>
            <a:ext cx="2743200" cy="731520"/>
          </a:xfrm>
          <a:prstGeom prst="rect">
            <a:avLst/>
          </a:prstGeom>
          <a:noFill/>
          <a:ln/>
        </p:spPr>
        <p:txBody>
          <a:bodyPr wrap="square" lIns="0" tIns="0" rIns="0" bIns="0" rtlCol="0" anchor="ctr"/>
          <a:lstStyle/>
          <a:p>
            <a:pPr marL="0" indent="0">
              <a:buNone/>
            </a:pPr>
            <a:r>
              <a:rPr lang="en-US" sz="4800" dirty="0">
                <a:solidFill>
                  <a:srgbClr val="16150F"/>
                </a:solidFill>
                <a:latin typeface="Bahnschrift SemiBold Condensed" pitchFamily="34" charset="0"/>
                <a:ea typeface="Bahnschrift SemiBold Condensed" pitchFamily="34" charset="-122"/>
                <a:cs typeface="Bahnschrift SemiBold Condensed" pitchFamily="34" charset="-120"/>
              </a:rPr>
              <a:t>6,68 h</a:t>
            </a:r>
            <a:endParaRPr lang="en-US" sz="4800" dirty="0"/>
          </a:p>
        </p:txBody>
      </p:sp>
      <p:sp>
        <p:nvSpPr>
          <p:cNvPr id="35" name="Text 32"/>
          <p:cNvSpPr txBox="1"/>
          <p:nvPr/>
        </p:nvSpPr>
        <p:spPr>
          <a:xfrm>
            <a:off x="8540496" y="5367528"/>
            <a:ext cx="2743200" cy="594360"/>
          </a:xfrm>
          <a:prstGeom prst="rect">
            <a:avLst/>
          </a:prstGeom>
          <a:noFill/>
          <a:ln/>
        </p:spPr>
        <p:txBody>
          <a:bodyPr wrap="square" lIns="0" tIns="0" rIns="0" bIns="0" rtlCol="0" anchor="t"/>
          <a:lstStyle/>
          <a:p>
            <a:pPr marL="0" indent="0">
              <a:buNone/>
            </a:pPr>
            <a:r>
              <a:rPr lang="en-US" sz="1350" dirty="0">
                <a:solidFill>
                  <a:srgbClr val="3A372F"/>
                </a:solidFill>
                <a:latin typeface="Georgia" pitchFamily="34" charset="0"/>
                <a:ea typeface="Georgia" pitchFamily="34" charset="-122"/>
                <a:cs typeface="Georgia" pitchFamily="34" charset="-120"/>
              </a:rPr>
              <a:t>los siniestros se reparten a lo largo de todo el día.</a:t>
            </a:r>
            <a:endParaRPr lang="en-US" sz="1350" dirty="0"/>
          </a:p>
        </p:txBody>
      </p:sp>
      <p:sp>
        <p:nvSpPr>
          <p:cNvPr id="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06 · ANÁLISIS Y VISUALIZACIÓN</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MENOS SINIESTROS, PERO MÁS MORTALES</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Desde 2017 los siniestros bajaron a menos de la mitad, pero los fallecidos por cada 1.000 siniestros pasaron de 31 a 85.</a:t>
            </a:r>
            <a:endParaRPr lang="en-US" sz="1700" dirty="0"/>
          </a:p>
        </p:txBody>
      </p:sp>
      <p:sp>
        <p:nvSpPr>
          <p:cNvPr id="6" name="tarjeta"/>
          <p:cNvSpPr/>
          <p:nvPr/>
        </p:nvSpPr>
        <p:spPr>
          <a:xfrm>
            <a:off x="548640" y="2103120"/>
            <a:ext cx="6720840" cy="4023360"/>
          </a:xfrm>
          <a:prstGeom prst="rect">
            <a:avLst/>
          </a:prstGeom>
          <a:solidFill>
            <a:srgbClr val="FBFAF6"/>
          </a:solidFill>
          <a:ln w="15875">
            <a:solidFill>
              <a:srgbClr val="16150F"/>
            </a:solidFill>
            <a:prstDash val="solid"/>
          </a:ln>
        </p:spPr>
      </p:sp>
      <p:sp>
        <p:nvSpPr>
          <p:cNvPr id="7" name="Text 4"/>
          <p:cNvSpPr txBox="1"/>
          <p:nvPr/>
        </p:nvSpPr>
        <p:spPr>
          <a:xfrm>
            <a:off x="749808" y="2249424"/>
            <a:ext cx="63185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SINIESTROS POR AÑO</a:t>
            </a:r>
            <a:endParaRPr lang="en-US" sz="1000" dirty="0"/>
          </a:p>
        </p:txBody>
      </p:sp>
      <p:sp>
        <p:nvSpPr>
          <p:cNvPr id="8" name="Text 5"/>
          <p:cNvSpPr txBox="1"/>
          <p:nvPr/>
        </p:nvSpPr>
        <p:spPr>
          <a:xfrm>
            <a:off x="749808" y="2249424"/>
            <a:ext cx="6318504" cy="256032"/>
          </a:xfrm>
          <a:prstGeom prst="rect">
            <a:avLst/>
          </a:prstGeom>
          <a:noFill/>
          <a:ln/>
        </p:spPr>
        <p:txBody>
          <a:bodyPr wrap="square" lIns="0" tIns="0" rIns="0" bIns="0" rtlCol="0" anchor="ctr"/>
          <a:lstStyle/>
          <a:p>
            <a:pPr marL="0" indent="0" algn="r">
              <a:buNone/>
            </a:pPr>
            <a:r>
              <a:rPr lang="en-US" sz="1000" kern="0" spc="200" dirty="0">
                <a:solidFill>
                  <a:srgbClr val="3A372F"/>
                </a:solidFill>
                <a:latin typeface="Consolas" pitchFamily="34" charset="0"/>
                <a:ea typeface="Consolas" pitchFamily="34" charset="-122"/>
                <a:cs typeface="Consolas" pitchFamily="34" charset="-120"/>
              </a:rPr>
              <a:t>2026: ENERO A AGOSTO</a:t>
            </a:r>
            <a:endParaRPr lang="en-US" sz="1000" dirty="0"/>
          </a:p>
        </p:txBody>
      </p:sp>
      <p:graphicFrame>
        <p:nvGraphicFramePr>
          <p:cNvPr id="9" name="Chart 0"/>
          <p:cNvGraphicFramePr/>
          <p:nvPr/>
        </p:nvGraphicFramePr>
        <p:xfrm>
          <a:off x="685800" y="2423160"/>
          <a:ext cx="64465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arjeta"/>
          <p:cNvSpPr/>
          <p:nvPr/>
        </p:nvSpPr>
        <p:spPr>
          <a:xfrm>
            <a:off x="7498080" y="2103120"/>
            <a:ext cx="4069080" cy="4023360"/>
          </a:xfrm>
          <a:prstGeom prst="rect">
            <a:avLst/>
          </a:prstGeom>
          <a:solidFill>
            <a:srgbClr val="FBFAF6"/>
          </a:solidFill>
          <a:ln w="15875">
            <a:solidFill>
              <a:srgbClr val="16150F"/>
            </a:solidFill>
            <a:prstDash val="solid"/>
          </a:ln>
        </p:spPr>
      </p:sp>
      <p:sp>
        <p:nvSpPr>
          <p:cNvPr id="11" name="Text 7"/>
          <p:cNvSpPr txBox="1"/>
          <p:nvPr/>
        </p:nvSpPr>
        <p:spPr>
          <a:xfrm>
            <a:off x="7699248" y="2249424"/>
            <a:ext cx="366674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FALLECIDOS POR CADA 1.000</a:t>
            </a:r>
            <a:endParaRPr lang="en-US" sz="1000" dirty="0"/>
          </a:p>
        </p:txBody>
      </p:sp>
      <p:graphicFrame>
        <p:nvGraphicFramePr>
          <p:cNvPr id="12" name="Chart 1"/>
          <p:cNvGraphicFramePr/>
          <p:nvPr/>
        </p:nvGraphicFramePr>
        <p:xfrm>
          <a:off x="7589520" y="2423160"/>
          <a:ext cx="3886200" cy="3611880"/>
        </p:xfrm>
        <a:graphic>
          <a:graphicData uri="http://schemas.openxmlformats.org/drawingml/2006/chart">
            <c:chart xmlns:c="http://schemas.openxmlformats.org/drawingml/2006/chart" xmlns:r="http://schemas.openxmlformats.org/officeDocument/2006/relationships" r:id="rId4"/>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06 · ANÁLISIS Y VISUALIZACIÓN</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DOS HORAS PICO: 07:00 Y 19:00</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Los siniestros se disparan a la hora de ir al trabajo y a la hora de regresar a casa.</a:t>
            </a:r>
            <a:endParaRPr lang="en-US" sz="1700" dirty="0"/>
          </a:p>
        </p:txBody>
      </p:sp>
      <p:sp>
        <p:nvSpPr>
          <p:cNvPr id="6" name="tarjeta"/>
          <p:cNvSpPr/>
          <p:nvPr/>
        </p:nvSpPr>
        <p:spPr>
          <a:xfrm>
            <a:off x="548640" y="2103120"/>
            <a:ext cx="8046720" cy="4023360"/>
          </a:xfrm>
          <a:prstGeom prst="rect">
            <a:avLst/>
          </a:prstGeom>
          <a:solidFill>
            <a:srgbClr val="FBFAF6"/>
          </a:solidFill>
          <a:ln w="15875">
            <a:solidFill>
              <a:srgbClr val="16150F"/>
            </a:solidFill>
            <a:prstDash val="solid"/>
          </a:ln>
        </p:spPr>
      </p:sp>
      <p:sp>
        <p:nvSpPr>
          <p:cNvPr id="7" name="Text 4"/>
          <p:cNvSpPr txBox="1"/>
          <p:nvPr/>
        </p:nvSpPr>
        <p:spPr>
          <a:xfrm>
            <a:off x="749808" y="2249424"/>
            <a:ext cx="764438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SINIESTROS POR HORA DEL DÍA</a:t>
            </a:r>
            <a:endParaRPr lang="en-US" sz="1000" dirty="0"/>
          </a:p>
        </p:txBody>
      </p:sp>
      <p:sp>
        <p:nvSpPr>
          <p:cNvPr id="8" name="Text 5"/>
          <p:cNvSpPr txBox="1"/>
          <p:nvPr/>
        </p:nvSpPr>
        <p:spPr>
          <a:xfrm>
            <a:off x="749808" y="2249424"/>
            <a:ext cx="7644384" cy="256032"/>
          </a:xfrm>
          <a:prstGeom prst="rect">
            <a:avLst/>
          </a:prstGeom>
          <a:noFill/>
          <a:ln/>
        </p:spPr>
        <p:txBody>
          <a:bodyPr wrap="square" lIns="0" tIns="0" rIns="0" bIns="0" rtlCol="0" anchor="ctr"/>
          <a:lstStyle/>
          <a:p>
            <a:pPr marL="0" indent="0" algn="r">
              <a:buNone/>
            </a:pPr>
            <a:r>
              <a:rPr lang="en-US" sz="1000" kern="0" spc="200" dirty="0">
                <a:solidFill>
                  <a:srgbClr val="3A372F"/>
                </a:solidFill>
                <a:latin typeface="Consolas" pitchFamily="34" charset="0"/>
                <a:ea typeface="Consolas" pitchFamily="34" charset="-122"/>
                <a:cs typeface="Consolas" pitchFamily="34" charset="-120"/>
              </a:rPr>
              <a:t>2017–2026</a:t>
            </a:r>
            <a:endParaRPr lang="en-US" sz="1000" dirty="0"/>
          </a:p>
        </p:txBody>
      </p:sp>
      <p:graphicFrame>
        <p:nvGraphicFramePr>
          <p:cNvPr id="9" name="Chart 0"/>
          <p:cNvGraphicFramePr/>
          <p:nvPr/>
        </p:nvGraphicFramePr>
        <p:xfrm>
          <a:off x="685800" y="2423160"/>
          <a:ext cx="77724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arjeta"/>
          <p:cNvSpPr/>
          <p:nvPr/>
        </p:nvSpPr>
        <p:spPr>
          <a:xfrm>
            <a:off x="8823960" y="2103120"/>
            <a:ext cx="2743200" cy="1920240"/>
          </a:xfrm>
          <a:prstGeom prst="rect">
            <a:avLst/>
          </a:prstGeom>
          <a:solidFill>
            <a:srgbClr val="FBFAF6"/>
          </a:solidFill>
          <a:ln w="15875">
            <a:solidFill>
              <a:srgbClr val="16150F"/>
            </a:solidFill>
            <a:prstDash val="solid"/>
          </a:ln>
        </p:spPr>
      </p:sp>
      <p:sp>
        <p:nvSpPr>
          <p:cNvPr id="11" name="Text 7"/>
          <p:cNvSpPr txBox="1"/>
          <p:nvPr/>
        </p:nvSpPr>
        <p:spPr>
          <a:xfrm>
            <a:off x="9025128" y="2249424"/>
            <a:ext cx="234086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A LAS 07:00</a:t>
            </a:r>
            <a:endParaRPr lang="en-US" sz="1000" dirty="0"/>
          </a:p>
        </p:txBody>
      </p:sp>
      <p:sp>
        <p:nvSpPr>
          <p:cNvPr id="12" name="Text 8"/>
          <p:cNvSpPr txBox="1"/>
          <p:nvPr/>
        </p:nvSpPr>
        <p:spPr>
          <a:xfrm>
            <a:off x="9025128" y="2468880"/>
            <a:ext cx="2377440" cy="762000"/>
          </a:xfrm>
          <a:prstGeom prst="rect">
            <a:avLst/>
          </a:prstGeom>
          <a:noFill/>
          <a:ln/>
        </p:spPr>
        <p:txBody>
          <a:bodyPr wrap="square" lIns="0" tIns="0" rIns="0" bIns="0" rtlCol="0" anchor="ctr"/>
          <a:lstStyle/>
          <a:p>
            <a:pPr marL="0" indent="0">
              <a:buNone/>
            </a:pPr>
            <a:r>
              <a:rPr lang="en-US" sz="5000" dirty="0">
                <a:solidFill>
                  <a:srgbClr val="B8321F"/>
                </a:solidFill>
                <a:latin typeface="Bahnschrift SemiBold Condensed" pitchFamily="34" charset="0"/>
                <a:ea typeface="Bahnschrift SemiBold Condensed" pitchFamily="34" charset="-122"/>
                <a:cs typeface="Bahnschrift SemiBold Condensed" pitchFamily="34" charset="-120"/>
              </a:rPr>
              <a:t>2.535</a:t>
            </a:r>
            <a:endParaRPr lang="en-US" sz="5000" dirty="0"/>
          </a:p>
        </p:txBody>
      </p:sp>
      <p:sp>
        <p:nvSpPr>
          <p:cNvPr id="13" name="Text 9"/>
          <p:cNvSpPr txBox="1"/>
          <p:nvPr/>
        </p:nvSpPr>
        <p:spPr>
          <a:xfrm>
            <a:off x="9025128" y="3246120"/>
            <a:ext cx="2377440" cy="685800"/>
          </a:xfrm>
          <a:prstGeom prst="rect">
            <a:avLst/>
          </a:prstGeom>
          <a:noFill/>
          <a:ln/>
        </p:spPr>
        <p:txBody>
          <a:bodyPr wrap="square" lIns="0" tIns="0" rIns="0" bIns="0" rtlCol="0" anchor="t"/>
          <a:lstStyle/>
          <a:p>
            <a:pPr marL="0" indent="0">
              <a:buNone/>
            </a:pPr>
            <a:r>
              <a:rPr lang="en-US" sz="1400" dirty="0">
                <a:solidFill>
                  <a:srgbClr val="3A372F"/>
                </a:solidFill>
                <a:latin typeface="Georgia" pitchFamily="34" charset="0"/>
                <a:ea typeface="Georgia" pitchFamily="34" charset="-122"/>
                <a:cs typeface="Georgia" pitchFamily="34" charset="-120"/>
              </a:rPr>
              <a:t>siniestros: la hora con más casos.</a:t>
            </a:r>
            <a:endParaRPr lang="en-US" sz="1400" dirty="0"/>
          </a:p>
        </p:txBody>
      </p:sp>
      <p:sp>
        <p:nvSpPr>
          <p:cNvPr id="14" name="tarjeta"/>
          <p:cNvSpPr/>
          <p:nvPr/>
        </p:nvSpPr>
        <p:spPr>
          <a:xfrm>
            <a:off x="8823960" y="4206240"/>
            <a:ext cx="2743200" cy="1920240"/>
          </a:xfrm>
          <a:prstGeom prst="rect">
            <a:avLst/>
          </a:prstGeom>
          <a:solidFill>
            <a:srgbClr val="FBFAF6"/>
          </a:solidFill>
          <a:ln w="15875">
            <a:solidFill>
              <a:srgbClr val="16150F"/>
            </a:solidFill>
            <a:prstDash val="solid"/>
          </a:ln>
        </p:spPr>
      </p:sp>
      <p:sp>
        <p:nvSpPr>
          <p:cNvPr id="15" name="Text 11"/>
          <p:cNvSpPr txBox="1"/>
          <p:nvPr/>
        </p:nvSpPr>
        <p:spPr>
          <a:xfrm>
            <a:off x="9025128" y="4352544"/>
            <a:ext cx="234086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A LAS 04:00</a:t>
            </a:r>
            <a:endParaRPr lang="en-US" sz="1000" dirty="0"/>
          </a:p>
        </p:txBody>
      </p:sp>
      <p:sp>
        <p:nvSpPr>
          <p:cNvPr id="16" name="Text 12"/>
          <p:cNvSpPr txBox="1"/>
          <p:nvPr/>
        </p:nvSpPr>
        <p:spPr>
          <a:xfrm>
            <a:off x="9025128" y="4572000"/>
            <a:ext cx="2377440" cy="762000"/>
          </a:xfrm>
          <a:prstGeom prst="rect">
            <a:avLst/>
          </a:prstGeom>
          <a:noFill/>
          <a:ln/>
        </p:spPr>
        <p:txBody>
          <a:bodyPr wrap="square" lIns="0" tIns="0" rIns="0" bIns="0" rtlCol="0" anchor="ctr"/>
          <a:lstStyle/>
          <a:p>
            <a:pPr marL="0" indent="0">
              <a:buNone/>
            </a:pPr>
            <a:r>
              <a:rPr lang="en-US" sz="5000" dirty="0">
                <a:solidFill>
                  <a:srgbClr val="16150F"/>
                </a:solidFill>
                <a:latin typeface="Bahnschrift SemiBold Condensed" pitchFamily="34" charset="0"/>
                <a:ea typeface="Bahnschrift SemiBold Condensed" pitchFamily="34" charset="-122"/>
                <a:cs typeface="Bahnschrift SemiBold Condensed" pitchFamily="34" charset="-120"/>
              </a:rPr>
              <a:t>1.278</a:t>
            </a:r>
            <a:endParaRPr lang="en-US" sz="5000" dirty="0"/>
          </a:p>
        </p:txBody>
      </p:sp>
      <p:sp>
        <p:nvSpPr>
          <p:cNvPr id="17" name="Text 13"/>
          <p:cNvSpPr txBox="1"/>
          <p:nvPr/>
        </p:nvSpPr>
        <p:spPr>
          <a:xfrm>
            <a:off x="9025128" y="5349240"/>
            <a:ext cx="2377440" cy="685800"/>
          </a:xfrm>
          <a:prstGeom prst="rect">
            <a:avLst/>
          </a:prstGeom>
          <a:noFill/>
          <a:ln/>
        </p:spPr>
        <p:txBody>
          <a:bodyPr wrap="square" lIns="0" tIns="0" rIns="0" bIns="0" rtlCol="0" anchor="t"/>
          <a:lstStyle/>
          <a:p>
            <a:pPr marL="0" indent="0">
              <a:buNone/>
            </a:pPr>
            <a:r>
              <a:rPr lang="en-US" sz="1400" dirty="0">
                <a:solidFill>
                  <a:srgbClr val="3A372F"/>
                </a:solidFill>
                <a:latin typeface="Georgia" pitchFamily="34" charset="0"/>
                <a:ea typeface="Georgia" pitchFamily="34" charset="-122"/>
                <a:cs typeface="Georgia" pitchFamily="34" charset="-120"/>
              </a:rPr>
              <a:t>siniestros: la mitad que a las 07:00.</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06 · ANÁLISIS Y VISUALIZACIÓN</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EL SÁBADO ES EL DÍA MÁS PELIGROSO</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El sábado y el domingo concentran el 34,5 % de los siniestros, aunque son solo dos de los siete días de la semana.</a:t>
            </a:r>
            <a:endParaRPr lang="en-US" sz="1700" dirty="0"/>
          </a:p>
        </p:txBody>
      </p:sp>
      <p:sp>
        <p:nvSpPr>
          <p:cNvPr id="6" name="tarjeta"/>
          <p:cNvSpPr/>
          <p:nvPr/>
        </p:nvSpPr>
        <p:spPr>
          <a:xfrm>
            <a:off x="548640" y="2103120"/>
            <a:ext cx="8046720" cy="4023360"/>
          </a:xfrm>
          <a:prstGeom prst="rect">
            <a:avLst/>
          </a:prstGeom>
          <a:solidFill>
            <a:srgbClr val="FBFAF6"/>
          </a:solidFill>
          <a:ln w="15875">
            <a:solidFill>
              <a:srgbClr val="16150F"/>
            </a:solidFill>
            <a:prstDash val="solid"/>
          </a:ln>
        </p:spPr>
      </p:sp>
      <p:sp>
        <p:nvSpPr>
          <p:cNvPr id="7" name="Text 4"/>
          <p:cNvSpPr txBox="1"/>
          <p:nvPr/>
        </p:nvSpPr>
        <p:spPr>
          <a:xfrm>
            <a:off x="749808" y="2249424"/>
            <a:ext cx="764438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SINIESTROS POR DÍA DE LA SEMANA</a:t>
            </a:r>
            <a:endParaRPr lang="en-US" sz="1000" dirty="0"/>
          </a:p>
        </p:txBody>
      </p:sp>
      <p:sp>
        <p:nvSpPr>
          <p:cNvPr id="8" name="Text 5"/>
          <p:cNvSpPr txBox="1"/>
          <p:nvPr/>
        </p:nvSpPr>
        <p:spPr>
          <a:xfrm>
            <a:off x="749808" y="2249424"/>
            <a:ext cx="7644384" cy="256032"/>
          </a:xfrm>
          <a:prstGeom prst="rect">
            <a:avLst/>
          </a:prstGeom>
          <a:noFill/>
          <a:ln/>
        </p:spPr>
        <p:txBody>
          <a:bodyPr wrap="square" lIns="0" tIns="0" rIns="0" bIns="0" rtlCol="0" anchor="ctr"/>
          <a:lstStyle/>
          <a:p>
            <a:pPr marL="0" indent="0" algn="r">
              <a:buNone/>
            </a:pPr>
            <a:r>
              <a:rPr lang="en-US" sz="1000" kern="0" spc="200" dirty="0">
                <a:solidFill>
                  <a:srgbClr val="3A372F"/>
                </a:solidFill>
                <a:latin typeface="Consolas" pitchFamily="34" charset="0"/>
                <a:ea typeface="Consolas" pitchFamily="34" charset="-122"/>
                <a:cs typeface="Consolas" pitchFamily="34" charset="-120"/>
              </a:rPr>
              <a:t>2017–2026</a:t>
            </a:r>
            <a:endParaRPr lang="en-US" sz="1000" dirty="0"/>
          </a:p>
        </p:txBody>
      </p:sp>
      <p:graphicFrame>
        <p:nvGraphicFramePr>
          <p:cNvPr id="9" name="Chart 0"/>
          <p:cNvGraphicFramePr/>
          <p:nvPr/>
        </p:nvGraphicFramePr>
        <p:xfrm>
          <a:off x="685800" y="2423160"/>
          <a:ext cx="77724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arjeta"/>
          <p:cNvSpPr/>
          <p:nvPr/>
        </p:nvSpPr>
        <p:spPr>
          <a:xfrm>
            <a:off x="8823960" y="2103120"/>
            <a:ext cx="2743200" cy="1920240"/>
          </a:xfrm>
          <a:prstGeom prst="rect">
            <a:avLst/>
          </a:prstGeom>
          <a:solidFill>
            <a:srgbClr val="FBFAF6"/>
          </a:solidFill>
          <a:ln w="15875">
            <a:solidFill>
              <a:srgbClr val="16150F"/>
            </a:solidFill>
            <a:prstDash val="solid"/>
          </a:ln>
        </p:spPr>
      </p:sp>
      <p:sp>
        <p:nvSpPr>
          <p:cNvPr id="11" name="Text 7"/>
          <p:cNvSpPr txBox="1"/>
          <p:nvPr/>
        </p:nvSpPr>
        <p:spPr>
          <a:xfrm>
            <a:off x="9025128" y="2249424"/>
            <a:ext cx="234086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FIN DE SEMANA</a:t>
            </a:r>
            <a:endParaRPr lang="en-US" sz="1000" dirty="0"/>
          </a:p>
        </p:txBody>
      </p:sp>
      <p:sp>
        <p:nvSpPr>
          <p:cNvPr id="12" name="Text 8"/>
          <p:cNvSpPr txBox="1"/>
          <p:nvPr/>
        </p:nvSpPr>
        <p:spPr>
          <a:xfrm>
            <a:off x="9025128" y="2468880"/>
            <a:ext cx="2377440" cy="762000"/>
          </a:xfrm>
          <a:prstGeom prst="rect">
            <a:avLst/>
          </a:prstGeom>
          <a:noFill/>
          <a:ln/>
        </p:spPr>
        <p:txBody>
          <a:bodyPr wrap="square" lIns="0" tIns="0" rIns="0" bIns="0" rtlCol="0" anchor="ctr"/>
          <a:lstStyle/>
          <a:p>
            <a:pPr marL="0" indent="0">
              <a:buNone/>
            </a:pPr>
            <a:r>
              <a:rPr lang="en-US" sz="5000" dirty="0">
                <a:solidFill>
                  <a:srgbClr val="B8321F"/>
                </a:solidFill>
                <a:latin typeface="Bahnschrift SemiBold Condensed" pitchFamily="34" charset="0"/>
                <a:ea typeface="Bahnschrift SemiBold Condensed" pitchFamily="34" charset="-122"/>
                <a:cs typeface="Bahnschrift SemiBold Condensed" pitchFamily="34" charset="-120"/>
              </a:rPr>
              <a:t>34,5 %</a:t>
            </a:r>
            <a:endParaRPr lang="en-US" sz="5000" dirty="0"/>
          </a:p>
        </p:txBody>
      </p:sp>
      <p:sp>
        <p:nvSpPr>
          <p:cNvPr id="13" name="Text 9"/>
          <p:cNvSpPr txBox="1"/>
          <p:nvPr/>
        </p:nvSpPr>
        <p:spPr>
          <a:xfrm>
            <a:off x="9025128" y="3246120"/>
            <a:ext cx="2377440" cy="685800"/>
          </a:xfrm>
          <a:prstGeom prst="rect">
            <a:avLst/>
          </a:prstGeom>
          <a:noFill/>
          <a:ln/>
        </p:spPr>
        <p:txBody>
          <a:bodyPr wrap="square" lIns="0" tIns="0" rIns="0" bIns="0" rtlCol="0" anchor="t"/>
          <a:lstStyle/>
          <a:p>
            <a:pPr marL="0" indent="0">
              <a:buNone/>
            </a:pPr>
            <a:r>
              <a:rPr lang="en-US" sz="1400" dirty="0">
                <a:solidFill>
                  <a:srgbClr val="3A372F"/>
                </a:solidFill>
                <a:latin typeface="Georgia" pitchFamily="34" charset="0"/>
                <a:ea typeface="Georgia" pitchFamily="34" charset="-122"/>
                <a:cs typeface="Georgia" pitchFamily="34" charset="-120"/>
              </a:rPr>
              <a:t>de los siniestros, en solo 2 días.</a:t>
            </a:r>
            <a:endParaRPr lang="en-US" sz="1400" dirty="0"/>
          </a:p>
        </p:txBody>
      </p:sp>
      <p:sp>
        <p:nvSpPr>
          <p:cNvPr id="14" name="tarjeta"/>
          <p:cNvSpPr/>
          <p:nvPr/>
        </p:nvSpPr>
        <p:spPr>
          <a:xfrm>
            <a:off x="8823960" y="4206240"/>
            <a:ext cx="2743200" cy="1920240"/>
          </a:xfrm>
          <a:prstGeom prst="rect">
            <a:avLst/>
          </a:prstGeom>
          <a:solidFill>
            <a:srgbClr val="FBFAF6"/>
          </a:solidFill>
          <a:ln w="15875">
            <a:solidFill>
              <a:srgbClr val="16150F"/>
            </a:solidFill>
            <a:prstDash val="solid"/>
          </a:ln>
        </p:spPr>
      </p:sp>
      <p:sp>
        <p:nvSpPr>
          <p:cNvPr id="15" name="Text 11"/>
          <p:cNvSpPr txBox="1"/>
          <p:nvPr/>
        </p:nvSpPr>
        <p:spPr>
          <a:xfrm>
            <a:off x="9025128" y="4352544"/>
            <a:ext cx="234086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SÁBADO VS. LUNES</a:t>
            </a:r>
            <a:endParaRPr lang="en-US" sz="1000" dirty="0"/>
          </a:p>
        </p:txBody>
      </p:sp>
      <p:sp>
        <p:nvSpPr>
          <p:cNvPr id="16" name="Text 12"/>
          <p:cNvSpPr txBox="1"/>
          <p:nvPr/>
        </p:nvSpPr>
        <p:spPr>
          <a:xfrm>
            <a:off x="9025128" y="4572000"/>
            <a:ext cx="2377440" cy="762000"/>
          </a:xfrm>
          <a:prstGeom prst="rect">
            <a:avLst/>
          </a:prstGeom>
          <a:noFill/>
          <a:ln/>
        </p:spPr>
        <p:txBody>
          <a:bodyPr wrap="square" lIns="0" tIns="0" rIns="0" bIns="0" rtlCol="0" anchor="ctr"/>
          <a:lstStyle/>
          <a:p>
            <a:pPr marL="0" indent="0">
              <a:buNone/>
            </a:pPr>
            <a:r>
              <a:rPr lang="en-US" sz="5000" dirty="0">
                <a:solidFill>
                  <a:srgbClr val="16150F"/>
                </a:solidFill>
                <a:latin typeface="Bahnschrift SemiBold Condensed" pitchFamily="34" charset="0"/>
                <a:ea typeface="Bahnschrift SemiBold Condensed" pitchFamily="34" charset="-122"/>
                <a:cs typeface="Bahnschrift SemiBold Condensed" pitchFamily="34" charset="-120"/>
              </a:rPr>
              <a:t>+57 %</a:t>
            </a:r>
            <a:endParaRPr lang="en-US" sz="5000" dirty="0"/>
          </a:p>
        </p:txBody>
      </p:sp>
      <p:sp>
        <p:nvSpPr>
          <p:cNvPr id="17" name="Text 13"/>
          <p:cNvSpPr txBox="1"/>
          <p:nvPr/>
        </p:nvSpPr>
        <p:spPr>
          <a:xfrm>
            <a:off x="9025128" y="5349240"/>
            <a:ext cx="2377440" cy="685800"/>
          </a:xfrm>
          <a:prstGeom prst="rect">
            <a:avLst/>
          </a:prstGeom>
          <a:noFill/>
          <a:ln/>
        </p:spPr>
        <p:txBody>
          <a:bodyPr wrap="square" lIns="0" tIns="0" rIns="0" bIns="0" rtlCol="0" anchor="t"/>
          <a:lstStyle/>
          <a:p>
            <a:pPr marL="0" indent="0">
              <a:buNone/>
            </a:pPr>
            <a:r>
              <a:rPr lang="en-US" sz="1400" dirty="0">
                <a:solidFill>
                  <a:srgbClr val="3A372F"/>
                </a:solidFill>
                <a:latin typeface="Georgia" pitchFamily="34" charset="0"/>
                <a:ea typeface="Georgia" pitchFamily="34" charset="-122"/>
                <a:cs typeface="Georgia" pitchFamily="34" charset="-120"/>
              </a:rPr>
              <a:t>más siniestros el sábado que el lunes.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06 · ANÁLISIS Y VISUALIZACIÓN</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LA MADRUGADA DEL FIN DE SEMANA ES EL MOMENTO CRÍTICO</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En el mapa de calor, siete de las ocho horas con más siniestros están entre las 00:00 y las 03:59 del sábado y del domingo.</a:t>
            </a:r>
            <a:endParaRPr lang="en-US" sz="1700" dirty="0"/>
          </a:p>
        </p:txBody>
      </p:sp>
      <p:sp>
        <p:nvSpPr>
          <p:cNvPr id="6" name="tarjeta"/>
          <p:cNvSpPr/>
          <p:nvPr/>
        </p:nvSpPr>
        <p:spPr>
          <a:xfrm>
            <a:off x="548640" y="2103120"/>
            <a:ext cx="11018520" cy="4023360"/>
          </a:xfrm>
          <a:prstGeom prst="rect">
            <a:avLst/>
          </a:prstGeom>
          <a:solidFill>
            <a:srgbClr val="FBFAF6"/>
          </a:solidFill>
          <a:ln w="15875">
            <a:solidFill>
              <a:srgbClr val="16150F"/>
            </a:solidFill>
            <a:prstDash val="solid"/>
          </a:ln>
        </p:spPr>
      </p:sp>
      <p:sp>
        <p:nvSpPr>
          <p:cNvPr id="7" name="Text 4"/>
          <p:cNvSpPr txBox="1"/>
          <p:nvPr/>
        </p:nvSpPr>
        <p:spPr>
          <a:xfrm>
            <a:off x="749808" y="2249424"/>
            <a:ext cx="1061618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SINIESTROS POR DÍA DE LA SEMANA Y HORA</a:t>
            </a:r>
            <a:endParaRPr lang="en-US" sz="1000" dirty="0"/>
          </a:p>
        </p:txBody>
      </p:sp>
      <p:sp>
        <p:nvSpPr>
          <p:cNvPr id="8" name="Text 5"/>
          <p:cNvSpPr txBox="1"/>
          <p:nvPr/>
        </p:nvSpPr>
        <p:spPr>
          <a:xfrm>
            <a:off x="749808" y="2249424"/>
            <a:ext cx="10616184" cy="256032"/>
          </a:xfrm>
          <a:prstGeom prst="rect">
            <a:avLst/>
          </a:prstGeom>
          <a:noFill/>
          <a:ln/>
        </p:spPr>
        <p:txBody>
          <a:bodyPr wrap="square" lIns="0" tIns="0" rIns="0" bIns="0" rtlCol="0" anchor="ctr"/>
          <a:lstStyle/>
          <a:p>
            <a:pPr marL="0" indent="0" algn="r">
              <a:buNone/>
            </a:pPr>
            <a:r>
              <a:rPr lang="en-US" sz="1000" kern="0" spc="200" dirty="0">
                <a:solidFill>
                  <a:srgbClr val="3A372F"/>
                </a:solidFill>
                <a:latin typeface="Consolas" pitchFamily="34" charset="0"/>
                <a:ea typeface="Consolas" pitchFamily="34" charset="-122"/>
                <a:cs typeface="Consolas" pitchFamily="34" charset="-120"/>
              </a:rPr>
              <a:t>LAS 8 HORAS MÁS CRÍTICAS EN ROJO</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2514600"/>
          <a:ext cx="10561320" cy="3282696"/>
        </p:xfrm>
        <a:graphic>
          <a:graphicData uri="http://schemas.openxmlformats.org/drawingml/2006/table">
            <a:tbl>
              <a:tblPr/>
              <a:tblGrid>
                <a:gridCol w="1014984">
                  <a:extLst>
                    <a:ext uri="{9D8B030D-6E8A-4147-A177-3AD203B41FA5}">
                      <a16:colId xmlns:a16="http://schemas.microsoft.com/office/drawing/2014/main" val="20000"/>
                    </a:ext>
                  </a:extLst>
                </a:gridCol>
                <a:gridCol w="397764">
                  <a:extLst>
                    <a:ext uri="{9D8B030D-6E8A-4147-A177-3AD203B41FA5}">
                      <a16:colId xmlns:a16="http://schemas.microsoft.com/office/drawing/2014/main" val="20001"/>
                    </a:ext>
                  </a:extLst>
                </a:gridCol>
                <a:gridCol w="397764">
                  <a:extLst>
                    <a:ext uri="{9D8B030D-6E8A-4147-A177-3AD203B41FA5}">
                      <a16:colId xmlns:a16="http://schemas.microsoft.com/office/drawing/2014/main" val="20002"/>
                    </a:ext>
                  </a:extLst>
                </a:gridCol>
                <a:gridCol w="397764">
                  <a:extLst>
                    <a:ext uri="{9D8B030D-6E8A-4147-A177-3AD203B41FA5}">
                      <a16:colId xmlns:a16="http://schemas.microsoft.com/office/drawing/2014/main" val="20003"/>
                    </a:ext>
                  </a:extLst>
                </a:gridCol>
                <a:gridCol w="397764">
                  <a:extLst>
                    <a:ext uri="{9D8B030D-6E8A-4147-A177-3AD203B41FA5}">
                      <a16:colId xmlns:a16="http://schemas.microsoft.com/office/drawing/2014/main" val="20004"/>
                    </a:ext>
                  </a:extLst>
                </a:gridCol>
                <a:gridCol w="397764">
                  <a:extLst>
                    <a:ext uri="{9D8B030D-6E8A-4147-A177-3AD203B41FA5}">
                      <a16:colId xmlns:a16="http://schemas.microsoft.com/office/drawing/2014/main" val="20005"/>
                    </a:ext>
                  </a:extLst>
                </a:gridCol>
                <a:gridCol w="397764">
                  <a:extLst>
                    <a:ext uri="{9D8B030D-6E8A-4147-A177-3AD203B41FA5}">
                      <a16:colId xmlns:a16="http://schemas.microsoft.com/office/drawing/2014/main" val="20006"/>
                    </a:ext>
                  </a:extLst>
                </a:gridCol>
                <a:gridCol w="397764">
                  <a:extLst>
                    <a:ext uri="{9D8B030D-6E8A-4147-A177-3AD203B41FA5}">
                      <a16:colId xmlns:a16="http://schemas.microsoft.com/office/drawing/2014/main" val="20007"/>
                    </a:ext>
                  </a:extLst>
                </a:gridCol>
                <a:gridCol w="397764">
                  <a:extLst>
                    <a:ext uri="{9D8B030D-6E8A-4147-A177-3AD203B41FA5}">
                      <a16:colId xmlns:a16="http://schemas.microsoft.com/office/drawing/2014/main" val="20008"/>
                    </a:ext>
                  </a:extLst>
                </a:gridCol>
                <a:gridCol w="397764">
                  <a:extLst>
                    <a:ext uri="{9D8B030D-6E8A-4147-A177-3AD203B41FA5}">
                      <a16:colId xmlns:a16="http://schemas.microsoft.com/office/drawing/2014/main" val="20009"/>
                    </a:ext>
                  </a:extLst>
                </a:gridCol>
                <a:gridCol w="397764">
                  <a:extLst>
                    <a:ext uri="{9D8B030D-6E8A-4147-A177-3AD203B41FA5}">
                      <a16:colId xmlns:a16="http://schemas.microsoft.com/office/drawing/2014/main" val="20010"/>
                    </a:ext>
                  </a:extLst>
                </a:gridCol>
                <a:gridCol w="397764">
                  <a:extLst>
                    <a:ext uri="{9D8B030D-6E8A-4147-A177-3AD203B41FA5}">
                      <a16:colId xmlns:a16="http://schemas.microsoft.com/office/drawing/2014/main" val="20011"/>
                    </a:ext>
                  </a:extLst>
                </a:gridCol>
                <a:gridCol w="397764">
                  <a:extLst>
                    <a:ext uri="{9D8B030D-6E8A-4147-A177-3AD203B41FA5}">
                      <a16:colId xmlns:a16="http://schemas.microsoft.com/office/drawing/2014/main" val="20012"/>
                    </a:ext>
                  </a:extLst>
                </a:gridCol>
                <a:gridCol w="397764">
                  <a:extLst>
                    <a:ext uri="{9D8B030D-6E8A-4147-A177-3AD203B41FA5}">
                      <a16:colId xmlns:a16="http://schemas.microsoft.com/office/drawing/2014/main" val="20013"/>
                    </a:ext>
                  </a:extLst>
                </a:gridCol>
                <a:gridCol w="397764">
                  <a:extLst>
                    <a:ext uri="{9D8B030D-6E8A-4147-A177-3AD203B41FA5}">
                      <a16:colId xmlns:a16="http://schemas.microsoft.com/office/drawing/2014/main" val="20014"/>
                    </a:ext>
                  </a:extLst>
                </a:gridCol>
                <a:gridCol w="397764">
                  <a:extLst>
                    <a:ext uri="{9D8B030D-6E8A-4147-A177-3AD203B41FA5}">
                      <a16:colId xmlns:a16="http://schemas.microsoft.com/office/drawing/2014/main" val="20015"/>
                    </a:ext>
                  </a:extLst>
                </a:gridCol>
                <a:gridCol w="397764">
                  <a:extLst>
                    <a:ext uri="{9D8B030D-6E8A-4147-A177-3AD203B41FA5}">
                      <a16:colId xmlns:a16="http://schemas.microsoft.com/office/drawing/2014/main" val="20016"/>
                    </a:ext>
                  </a:extLst>
                </a:gridCol>
                <a:gridCol w="397764">
                  <a:extLst>
                    <a:ext uri="{9D8B030D-6E8A-4147-A177-3AD203B41FA5}">
                      <a16:colId xmlns:a16="http://schemas.microsoft.com/office/drawing/2014/main" val="20017"/>
                    </a:ext>
                  </a:extLst>
                </a:gridCol>
                <a:gridCol w="397764">
                  <a:extLst>
                    <a:ext uri="{9D8B030D-6E8A-4147-A177-3AD203B41FA5}">
                      <a16:colId xmlns:a16="http://schemas.microsoft.com/office/drawing/2014/main" val="20018"/>
                    </a:ext>
                  </a:extLst>
                </a:gridCol>
                <a:gridCol w="397764">
                  <a:extLst>
                    <a:ext uri="{9D8B030D-6E8A-4147-A177-3AD203B41FA5}">
                      <a16:colId xmlns:a16="http://schemas.microsoft.com/office/drawing/2014/main" val="20019"/>
                    </a:ext>
                  </a:extLst>
                </a:gridCol>
                <a:gridCol w="397764">
                  <a:extLst>
                    <a:ext uri="{9D8B030D-6E8A-4147-A177-3AD203B41FA5}">
                      <a16:colId xmlns:a16="http://schemas.microsoft.com/office/drawing/2014/main" val="20020"/>
                    </a:ext>
                  </a:extLst>
                </a:gridCol>
                <a:gridCol w="397764">
                  <a:extLst>
                    <a:ext uri="{9D8B030D-6E8A-4147-A177-3AD203B41FA5}">
                      <a16:colId xmlns:a16="http://schemas.microsoft.com/office/drawing/2014/main" val="20021"/>
                    </a:ext>
                  </a:extLst>
                </a:gridCol>
                <a:gridCol w="397764">
                  <a:extLst>
                    <a:ext uri="{9D8B030D-6E8A-4147-A177-3AD203B41FA5}">
                      <a16:colId xmlns:a16="http://schemas.microsoft.com/office/drawing/2014/main" val="20022"/>
                    </a:ext>
                  </a:extLst>
                </a:gridCol>
                <a:gridCol w="397764">
                  <a:extLst>
                    <a:ext uri="{9D8B030D-6E8A-4147-A177-3AD203B41FA5}">
                      <a16:colId xmlns:a16="http://schemas.microsoft.com/office/drawing/2014/main" val="20023"/>
                    </a:ext>
                  </a:extLst>
                </a:gridCol>
                <a:gridCol w="397764">
                  <a:extLst>
                    <a:ext uri="{9D8B030D-6E8A-4147-A177-3AD203B41FA5}">
                      <a16:colId xmlns:a16="http://schemas.microsoft.com/office/drawing/2014/main" val="20024"/>
                    </a:ext>
                  </a:extLst>
                </a:gridCol>
              </a:tblGrid>
              <a:tr h="429768">
                <a:tc>
                  <a:txBody>
                    <a:bodyPr/>
                    <a:lstStyle/>
                    <a:p>
                      <a:pPr marL="0" indent="0" algn="r">
                        <a:buNone/>
                      </a:pPr>
                      <a:r>
                        <a:rPr lang="en-US" sz="1000" dirty="0">
                          <a:solidFill>
                            <a:srgbClr val="6B6657"/>
                          </a:solidFill>
                          <a:latin typeface="Consolas" pitchFamily="34" charset="0"/>
                          <a:ea typeface="Consolas" pitchFamily="34" charset="-122"/>
                          <a:cs typeface="Consolas" pitchFamily="34" charset="-120"/>
                        </a:rPr>
                        <a:t>Lunes</a:t>
                      </a:r>
                      <a:endParaRPr lang="en-US" sz="10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C3BEB0"/>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D0CBBE"/>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E1DCC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EAE5D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D9D4C7"/>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C1BBAE"/>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C776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15D51"/>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56054"/>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38D7E"/>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A09A8C"/>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18B7C"/>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68072"/>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C776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07A6C"/>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86357"/>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27C6E"/>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77264"/>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87365"/>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E796B"/>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B9687"/>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ACA698"/>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5B0A2"/>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CAC4B7"/>
                    </a:solidFill>
                  </a:tcPr>
                </a:tc>
                <a:extLst>
                  <a:ext uri="{0D108BD9-81ED-4DB2-BD59-A6C34878D82A}">
                    <a16:rowId xmlns:a16="http://schemas.microsoft.com/office/drawing/2014/main" val="10000"/>
                  </a:ext>
                </a:extLst>
              </a:tr>
              <a:tr h="429768">
                <a:tc>
                  <a:txBody>
                    <a:bodyPr/>
                    <a:lstStyle/>
                    <a:p>
                      <a:pPr marL="0" indent="0" algn="r">
                        <a:buNone/>
                      </a:pPr>
                      <a:r>
                        <a:rPr lang="en-US" sz="1000" dirty="0">
                          <a:solidFill>
                            <a:srgbClr val="6B6657"/>
                          </a:solidFill>
                          <a:latin typeface="Consolas" pitchFamily="34" charset="0"/>
                          <a:ea typeface="Consolas" pitchFamily="34" charset="-122"/>
                          <a:cs typeface="Consolas" pitchFamily="34" charset="-120"/>
                        </a:rPr>
                        <a:t>Martes</a:t>
                      </a:r>
                      <a:endParaRPr lang="en-US" sz="10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CAC5B8"/>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D7D2C5"/>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EAE5D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ECE7DB"/>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E9E4D8"/>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C9C4B7"/>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D786A"/>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8321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57544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E887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38D7E"/>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18B7D"/>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98374"/>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C776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97466"/>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A655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C766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47E70"/>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16C5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57063"/>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E887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A19B8D"/>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A29C8D"/>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C0BAAD"/>
                    </a:solidFill>
                  </a:tcPr>
                </a:tc>
                <a:extLst>
                  <a:ext uri="{0D108BD9-81ED-4DB2-BD59-A6C34878D82A}">
                    <a16:rowId xmlns:a16="http://schemas.microsoft.com/office/drawing/2014/main" val="10001"/>
                  </a:ext>
                </a:extLst>
              </a:tr>
              <a:tr h="429768">
                <a:tc>
                  <a:txBody>
                    <a:bodyPr/>
                    <a:lstStyle/>
                    <a:p>
                      <a:pPr marL="0" indent="0" algn="r">
                        <a:buNone/>
                      </a:pPr>
                      <a:r>
                        <a:rPr lang="en-US" sz="1000" dirty="0">
                          <a:solidFill>
                            <a:srgbClr val="6B6657"/>
                          </a:solidFill>
                          <a:latin typeface="Consolas" pitchFamily="34" charset="0"/>
                          <a:ea typeface="Consolas" pitchFamily="34" charset="-122"/>
                          <a:cs typeface="Consolas" pitchFamily="34" charset="-120"/>
                        </a:rPr>
                        <a:t>Miércoles</a:t>
                      </a:r>
                      <a:endParaRPr lang="en-US" sz="10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EB8AB"/>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D9D4C7"/>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DFDACE"/>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E6E1D5"/>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DAD5C8"/>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C7C2B5"/>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D776A"/>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47443A"/>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46F62"/>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D8778"/>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48F80"/>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E988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E887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36E61"/>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37E6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37D6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17B6D"/>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26D60"/>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77264"/>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37D6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69082"/>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C9688"/>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A19B8D"/>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A7A193"/>
                    </a:solidFill>
                  </a:tcPr>
                </a:tc>
                <a:extLst>
                  <a:ext uri="{0D108BD9-81ED-4DB2-BD59-A6C34878D82A}">
                    <a16:rowId xmlns:a16="http://schemas.microsoft.com/office/drawing/2014/main" val="10002"/>
                  </a:ext>
                </a:extLst>
              </a:tr>
              <a:tr h="429768">
                <a:tc>
                  <a:txBody>
                    <a:bodyPr/>
                    <a:lstStyle/>
                    <a:p>
                      <a:pPr marL="0" indent="0" algn="r">
                        <a:buNone/>
                      </a:pPr>
                      <a:r>
                        <a:rPr lang="en-US" sz="1000" dirty="0">
                          <a:solidFill>
                            <a:srgbClr val="6B6657"/>
                          </a:solidFill>
                          <a:latin typeface="Consolas" pitchFamily="34" charset="0"/>
                          <a:ea typeface="Consolas" pitchFamily="34" charset="-122"/>
                          <a:cs typeface="Consolas" pitchFamily="34" charset="-120"/>
                        </a:rPr>
                        <a:t>Jueves</a:t>
                      </a:r>
                      <a:endParaRPr lang="en-US" sz="10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1AC9E"/>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FBAAC"/>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CFCABD"/>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D6D1C4"/>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D2CDC0"/>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C0BBAD"/>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5B574C"/>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565248"/>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05C51"/>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18B7C"/>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F897A"/>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B9687"/>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D8778"/>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F897A"/>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A8475"/>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A8475"/>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36E61"/>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47F70"/>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35E52"/>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5C584C"/>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67163"/>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48E7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48E7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48E7F"/>
                    </a:solidFill>
                  </a:tcPr>
                </a:tc>
                <a:extLst>
                  <a:ext uri="{0D108BD9-81ED-4DB2-BD59-A6C34878D82A}">
                    <a16:rowId xmlns:a16="http://schemas.microsoft.com/office/drawing/2014/main" val="10003"/>
                  </a:ext>
                </a:extLst>
              </a:tr>
              <a:tr h="429768">
                <a:tc>
                  <a:txBody>
                    <a:bodyPr/>
                    <a:lstStyle/>
                    <a:p>
                      <a:pPr marL="0" indent="0" algn="r">
                        <a:buNone/>
                      </a:pPr>
                      <a:r>
                        <a:rPr lang="en-US" sz="1000" dirty="0">
                          <a:solidFill>
                            <a:srgbClr val="6B6657"/>
                          </a:solidFill>
                          <a:latin typeface="Consolas" pitchFamily="34" charset="0"/>
                          <a:ea typeface="Consolas" pitchFamily="34" charset="-122"/>
                          <a:cs typeface="Consolas" pitchFamily="34" charset="-120"/>
                        </a:rPr>
                        <a:t>Viernes</a:t>
                      </a:r>
                      <a:endParaRPr lang="en-US" sz="10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E887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69081"/>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A29C8E"/>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A6A192"/>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2AC9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89283"/>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B665A"/>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444138"/>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C766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89384"/>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48F80"/>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F998A"/>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66155"/>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C766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A7567"/>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05C51"/>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86458"/>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86458"/>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C675A"/>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4C493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504D42"/>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49463C"/>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4A473D"/>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3B3930"/>
                    </a:solidFill>
                  </a:tcPr>
                </a:tc>
                <a:extLst>
                  <a:ext uri="{0D108BD9-81ED-4DB2-BD59-A6C34878D82A}">
                    <a16:rowId xmlns:a16="http://schemas.microsoft.com/office/drawing/2014/main" val="10004"/>
                  </a:ext>
                </a:extLst>
              </a:tr>
              <a:tr h="429768">
                <a:tc>
                  <a:txBody>
                    <a:bodyPr/>
                    <a:lstStyle/>
                    <a:p>
                      <a:pPr marL="0" indent="0" algn="r">
                        <a:buNone/>
                      </a:pPr>
                      <a:r>
                        <a:rPr lang="en-US" sz="1000" dirty="0">
                          <a:solidFill>
                            <a:srgbClr val="6B6657"/>
                          </a:solidFill>
                          <a:latin typeface="Consolas" pitchFamily="34" charset="0"/>
                          <a:ea typeface="Consolas" pitchFamily="34" charset="-122"/>
                          <a:cs typeface="Consolas" pitchFamily="34" charset="-120"/>
                        </a:rPr>
                        <a:t>Sábado</a:t>
                      </a:r>
                      <a:endParaRPr lang="en-US" sz="10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8321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8321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8321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8321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4E4B41"/>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35E52"/>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D685B"/>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67163"/>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86357"/>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38D7E"/>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C776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27C6E"/>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36E61"/>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D776A"/>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F6A5D"/>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57063"/>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A7567"/>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E786B"/>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56155"/>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403D34"/>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454238"/>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3D3A31"/>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46433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565248"/>
                    </a:solidFill>
                  </a:tcPr>
                </a:tc>
                <a:extLst>
                  <a:ext uri="{0D108BD9-81ED-4DB2-BD59-A6C34878D82A}">
                    <a16:rowId xmlns:a16="http://schemas.microsoft.com/office/drawing/2014/main" val="10005"/>
                  </a:ext>
                </a:extLst>
              </a:tr>
              <a:tr h="429768">
                <a:tc>
                  <a:txBody>
                    <a:bodyPr/>
                    <a:lstStyle/>
                    <a:p>
                      <a:pPr marL="0" indent="0" algn="r">
                        <a:buNone/>
                      </a:pPr>
                      <a:r>
                        <a:rPr lang="en-US" sz="1000" dirty="0">
                          <a:solidFill>
                            <a:srgbClr val="6B6657"/>
                          </a:solidFill>
                          <a:latin typeface="Consolas" pitchFamily="34" charset="0"/>
                          <a:ea typeface="Consolas" pitchFamily="34" charset="-122"/>
                          <a:cs typeface="Consolas" pitchFamily="34" charset="-120"/>
                        </a:rPr>
                        <a:t>Domingo</a:t>
                      </a:r>
                      <a:endParaRPr lang="en-US" sz="10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444138"/>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8321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8321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8321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3E3B32"/>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676256"/>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545045"/>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36E61"/>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48E7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08A7B"/>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48E7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69082"/>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48F80"/>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A8475"/>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68072"/>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98374"/>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58F80"/>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38D7E"/>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A8475"/>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757063"/>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837E6F"/>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89384"/>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9E9889"/>
                    </a:solidFill>
                  </a:tcPr>
                </a:tc>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B3AD9F"/>
                    </a:solidFill>
                  </a:tcPr>
                </a:tc>
                <a:extLst>
                  <a:ext uri="{0D108BD9-81ED-4DB2-BD59-A6C34878D82A}">
                    <a16:rowId xmlns:a16="http://schemas.microsoft.com/office/drawing/2014/main" val="10006"/>
                  </a:ext>
                </a:extLst>
              </a:tr>
              <a:tr h="274320">
                <a:tc>
                  <a:txBody>
                    <a:bodyPr/>
                    <a:lstStyle/>
                    <a:p>
                      <a:pPr marL="0" indent="0">
                        <a:buNone/>
                      </a:pPr>
                      <a:endParaRPr lang="en-US" sz="1200" dirty="0"/>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r>
                        <a:rPr lang="en-US" sz="900" dirty="0">
                          <a:solidFill>
                            <a:srgbClr val="6B6657"/>
                          </a:solidFill>
                          <a:latin typeface="Consolas" pitchFamily="34" charset="0"/>
                          <a:ea typeface="Consolas" pitchFamily="34" charset="-122"/>
                          <a:cs typeface="Consolas" pitchFamily="34" charset="-120"/>
                        </a:rPr>
                        <a:t>00</a:t>
                      </a: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r>
                        <a:rPr lang="en-US" sz="900" dirty="0">
                          <a:solidFill>
                            <a:srgbClr val="6B6657"/>
                          </a:solidFill>
                          <a:latin typeface="Consolas" pitchFamily="34" charset="0"/>
                          <a:ea typeface="Consolas" pitchFamily="34" charset="-122"/>
                          <a:cs typeface="Consolas" pitchFamily="34" charset="-120"/>
                        </a:rPr>
                        <a:t>03</a:t>
                      </a: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r>
                        <a:rPr lang="en-US" sz="900" dirty="0">
                          <a:solidFill>
                            <a:srgbClr val="6B6657"/>
                          </a:solidFill>
                          <a:latin typeface="Consolas" pitchFamily="34" charset="0"/>
                          <a:ea typeface="Consolas" pitchFamily="34" charset="-122"/>
                          <a:cs typeface="Consolas" pitchFamily="34" charset="-120"/>
                        </a:rPr>
                        <a:t>06</a:t>
                      </a: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r>
                        <a:rPr lang="en-US" sz="900" dirty="0">
                          <a:solidFill>
                            <a:srgbClr val="6B6657"/>
                          </a:solidFill>
                          <a:latin typeface="Consolas" pitchFamily="34" charset="0"/>
                          <a:ea typeface="Consolas" pitchFamily="34" charset="-122"/>
                          <a:cs typeface="Consolas" pitchFamily="34" charset="-120"/>
                        </a:rPr>
                        <a:t>09</a:t>
                      </a: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r>
                        <a:rPr lang="en-US" sz="900" dirty="0">
                          <a:solidFill>
                            <a:srgbClr val="6B6657"/>
                          </a:solidFill>
                          <a:latin typeface="Consolas" pitchFamily="34" charset="0"/>
                          <a:ea typeface="Consolas" pitchFamily="34" charset="-122"/>
                          <a:cs typeface="Consolas" pitchFamily="34" charset="-120"/>
                        </a:rPr>
                        <a:t>12</a:t>
                      </a: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r>
                        <a:rPr lang="en-US" sz="900" dirty="0">
                          <a:solidFill>
                            <a:srgbClr val="6B6657"/>
                          </a:solidFill>
                          <a:latin typeface="Consolas" pitchFamily="34" charset="0"/>
                          <a:ea typeface="Consolas" pitchFamily="34" charset="-122"/>
                          <a:cs typeface="Consolas" pitchFamily="34" charset="-120"/>
                        </a:rPr>
                        <a:t>15</a:t>
                      </a: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r>
                        <a:rPr lang="en-US" sz="900" dirty="0">
                          <a:solidFill>
                            <a:srgbClr val="6B6657"/>
                          </a:solidFill>
                          <a:latin typeface="Consolas" pitchFamily="34" charset="0"/>
                          <a:ea typeface="Consolas" pitchFamily="34" charset="-122"/>
                          <a:cs typeface="Consolas" pitchFamily="34" charset="-120"/>
                        </a:rPr>
                        <a:t>18</a:t>
                      </a: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r>
                        <a:rPr lang="en-US" sz="900" dirty="0">
                          <a:solidFill>
                            <a:srgbClr val="6B6657"/>
                          </a:solidFill>
                          <a:latin typeface="Consolas" pitchFamily="34" charset="0"/>
                          <a:ea typeface="Consolas" pitchFamily="34" charset="-122"/>
                          <a:cs typeface="Consolas" pitchFamily="34" charset="-120"/>
                        </a:rPr>
                        <a:t>21</a:t>
                      </a: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tc>
                  <a:txBody>
                    <a:bodyPr/>
                    <a:lstStyle/>
                    <a:p>
                      <a:pPr marL="0" indent="0" algn="ctr">
                        <a:buNone/>
                      </a:pPr>
                      <a:endParaRPr lang="en-US" sz="900" dirty="0">
                        <a:latin typeface="Consolas" charset="0"/>
                        <a:ea typeface="Consolas" charset="0"/>
                        <a:cs typeface="Consolas" charset="0"/>
                      </a:endParaRPr>
                    </a:p>
                  </a:txBody>
                  <a:tcPr marL="27432" marR="27432" marT="27432" marB="27432">
                    <a:lnL w="25400" cap="flat" cmpd="sng" algn="ctr">
                      <a:solidFill>
                        <a:srgbClr val="FBFAF6"/>
                      </a:solidFill>
                      <a:prstDash val="solid"/>
                      <a:round/>
                      <a:headEnd type="none" w="med" len="med"/>
                      <a:tailEnd type="none" w="med" len="med"/>
                    </a:lnL>
                    <a:lnR w="25400" cap="flat" cmpd="sng" algn="ctr">
                      <a:solidFill>
                        <a:srgbClr val="FBFAF6"/>
                      </a:solidFill>
                      <a:prstDash val="solid"/>
                      <a:round/>
                      <a:headEnd type="none" w="med" len="med"/>
                      <a:tailEnd type="none" w="med" len="med"/>
                    </a:lnR>
                    <a:lnT w="25400" cap="flat" cmpd="sng" algn="ctr">
                      <a:solidFill>
                        <a:srgbClr val="FBFAF6"/>
                      </a:solidFill>
                      <a:prstDash val="solid"/>
                      <a:round/>
                      <a:headEnd type="none" w="med" len="med"/>
                      <a:tailEnd type="none" w="med" len="med"/>
                    </a:lnT>
                    <a:lnB w="25400" cap="flat" cmpd="sng" algn="ctr">
                      <a:solidFill>
                        <a:srgbClr val="FBFAF6"/>
                      </a:solidFill>
                      <a:prstDash val="solid"/>
                      <a:round/>
                      <a:headEnd type="none" w="med" len="med"/>
                      <a:tailEnd type="none" w="med" len="med"/>
                    </a:lnB>
                    <a:solidFill>
                      <a:srgbClr val="FBFAF6"/>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06 · ANÁLISIS Y VISUALIZACIÓN</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EL MES CASI NO INFLUYE, EXCEPTO DICIEMBRE</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Todos los meses están cerca del promedio; solo diciembre sobresale, con 12,1 % más siniestros por las fiestas de fin de año.</a:t>
            </a:r>
            <a:endParaRPr lang="en-US" sz="1700" dirty="0"/>
          </a:p>
        </p:txBody>
      </p:sp>
      <p:sp>
        <p:nvSpPr>
          <p:cNvPr id="6" name="tarjeta"/>
          <p:cNvSpPr/>
          <p:nvPr/>
        </p:nvSpPr>
        <p:spPr>
          <a:xfrm>
            <a:off x="548640" y="2103120"/>
            <a:ext cx="8046720" cy="4023360"/>
          </a:xfrm>
          <a:prstGeom prst="rect">
            <a:avLst/>
          </a:prstGeom>
          <a:solidFill>
            <a:srgbClr val="FBFAF6"/>
          </a:solidFill>
          <a:ln w="15875">
            <a:solidFill>
              <a:srgbClr val="16150F"/>
            </a:solidFill>
            <a:prstDash val="solid"/>
          </a:ln>
        </p:spPr>
      </p:sp>
      <p:sp>
        <p:nvSpPr>
          <p:cNvPr id="7" name="Text 4"/>
          <p:cNvSpPr txBox="1"/>
          <p:nvPr/>
        </p:nvSpPr>
        <p:spPr>
          <a:xfrm>
            <a:off x="749808" y="2249424"/>
            <a:ext cx="764438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SINIESTROS POR MES</a:t>
            </a:r>
            <a:endParaRPr lang="en-US" sz="1000" dirty="0"/>
          </a:p>
        </p:txBody>
      </p:sp>
      <p:sp>
        <p:nvSpPr>
          <p:cNvPr id="8" name="Text 5"/>
          <p:cNvSpPr txBox="1"/>
          <p:nvPr/>
        </p:nvSpPr>
        <p:spPr>
          <a:xfrm>
            <a:off x="749808" y="2249424"/>
            <a:ext cx="7644384" cy="256032"/>
          </a:xfrm>
          <a:prstGeom prst="rect">
            <a:avLst/>
          </a:prstGeom>
          <a:noFill/>
          <a:ln/>
        </p:spPr>
        <p:txBody>
          <a:bodyPr wrap="square" lIns="0" tIns="0" rIns="0" bIns="0" rtlCol="0" anchor="ctr"/>
          <a:lstStyle/>
          <a:p>
            <a:pPr marL="0" indent="0" algn="r">
              <a:buNone/>
            </a:pPr>
            <a:r>
              <a:rPr lang="en-US" sz="1000" kern="0" spc="200" dirty="0">
                <a:solidFill>
                  <a:srgbClr val="3A372F"/>
                </a:solidFill>
                <a:latin typeface="Consolas" pitchFamily="34" charset="0"/>
                <a:ea typeface="Consolas" pitchFamily="34" charset="-122"/>
                <a:cs typeface="Consolas" pitchFamily="34" charset="-120"/>
              </a:rPr>
              <a:t>2017–2025</a:t>
            </a:r>
            <a:endParaRPr lang="en-US" sz="1000" dirty="0"/>
          </a:p>
        </p:txBody>
      </p:sp>
      <p:graphicFrame>
        <p:nvGraphicFramePr>
          <p:cNvPr id="9" name="Chart 0"/>
          <p:cNvGraphicFramePr/>
          <p:nvPr/>
        </p:nvGraphicFramePr>
        <p:xfrm>
          <a:off x="685800" y="2423160"/>
          <a:ext cx="77724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arjeta"/>
          <p:cNvSpPr/>
          <p:nvPr/>
        </p:nvSpPr>
        <p:spPr>
          <a:xfrm>
            <a:off x="8823960" y="2103120"/>
            <a:ext cx="2743200" cy="1920240"/>
          </a:xfrm>
          <a:prstGeom prst="rect">
            <a:avLst/>
          </a:prstGeom>
          <a:solidFill>
            <a:srgbClr val="FBFAF6"/>
          </a:solidFill>
          <a:ln w="15875">
            <a:solidFill>
              <a:srgbClr val="16150F"/>
            </a:solidFill>
            <a:prstDash val="solid"/>
          </a:ln>
        </p:spPr>
      </p:sp>
      <p:sp>
        <p:nvSpPr>
          <p:cNvPr id="11" name="Text 7"/>
          <p:cNvSpPr txBox="1"/>
          <p:nvPr/>
        </p:nvSpPr>
        <p:spPr>
          <a:xfrm>
            <a:off x="9025128" y="2249424"/>
            <a:ext cx="234086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DICIEMBRE</a:t>
            </a:r>
            <a:endParaRPr lang="en-US" sz="1000" dirty="0"/>
          </a:p>
        </p:txBody>
      </p:sp>
      <p:sp>
        <p:nvSpPr>
          <p:cNvPr id="12" name="Text 8"/>
          <p:cNvSpPr txBox="1"/>
          <p:nvPr/>
        </p:nvSpPr>
        <p:spPr>
          <a:xfrm>
            <a:off x="9025128" y="2468880"/>
            <a:ext cx="2377440" cy="762000"/>
          </a:xfrm>
          <a:prstGeom prst="rect">
            <a:avLst/>
          </a:prstGeom>
          <a:noFill/>
          <a:ln/>
        </p:spPr>
        <p:txBody>
          <a:bodyPr wrap="square" lIns="0" tIns="0" rIns="0" bIns="0" rtlCol="0" anchor="ctr"/>
          <a:lstStyle/>
          <a:p>
            <a:pPr marL="0" indent="0">
              <a:buNone/>
            </a:pPr>
            <a:r>
              <a:rPr lang="en-US" sz="5000" dirty="0">
                <a:solidFill>
                  <a:srgbClr val="B8321F"/>
                </a:solidFill>
                <a:latin typeface="Bahnschrift SemiBold Condensed" pitchFamily="34" charset="0"/>
                <a:ea typeface="Bahnschrift SemiBold Condensed" pitchFamily="34" charset="-122"/>
                <a:cs typeface="Bahnschrift SemiBold Condensed" pitchFamily="34" charset="-120"/>
              </a:rPr>
              <a:t>+12,1 %</a:t>
            </a:r>
            <a:endParaRPr lang="en-US" sz="5000" dirty="0"/>
          </a:p>
        </p:txBody>
      </p:sp>
      <p:sp>
        <p:nvSpPr>
          <p:cNvPr id="13" name="Text 9"/>
          <p:cNvSpPr txBox="1"/>
          <p:nvPr/>
        </p:nvSpPr>
        <p:spPr>
          <a:xfrm>
            <a:off x="9025128" y="3246120"/>
            <a:ext cx="2377440" cy="685800"/>
          </a:xfrm>
          <a:prstGeom prst="rect">
            <a:avLst/>
          </a:prstGeom>
          <a:noFill/>
          <a:ln/>
        </p:spPr>
        <p:txBody>
          <a:bodyPr wrap="square" lIns="0" tIns="0" rIns="0" bIns="0" rtlCol="0" anchor="t"/>
          <a:lstStyle/>
          <a:p>
            <a:pPr marL="0" indent="0">
              <a:buNone/>
            </a:pPr>
            <a:r>
              <a:rPr lang="en-US" sz="1400" dirty="0">
                <a:solidFill>
                  <a:srgbClr val="3A372F"/>
                </a:solidFill>
                <a:latin typeface="Georgia" pitchFamily="34" charset="0"/>
                <a:ea typeface="Georgia" pitchFamily="34" charset="-122"/>
                <a:cs typeface="Georgia" pitchFamily="34" charset="-120"/>
              </a:rPr>
              <a:t>sobre el promedio mensual.</a:t>
            </a:r>
            <a:endParaRPr lang="en-US" sz="1400" dirty="0"/>
          </a:p>
        </p:txBody>
      </p:sp>
      <p:sp>
        <p:nvSpPr>
          <p:cNvPr id="14" name="tarjeta"/>
          <p:cNvSpPr/>
          <p:nvPr/>
        </p:nvSpPr>
        <p:spPr>
          <a:xfrm>
            <a:off x="8823960" y="4206240"/>
            <a:ext cx="2743200" cy="1920240"/>
          </a:xfrm>
          <a:prstGeom prst="rect">
            <a:avLst/>
          </a:prstGeom>
          <a:solidFill>
            <a:srgbClr val="FBFAF6"/>
          </a:solidFill>
          <a:ln w="15875">
            <a:solidFill>
              <a:srgbClr val="16150F"/>
            </a:solidFill>
            <a:prstDash val="solid"/>
          </a:ln>
        </p:spPr>
      </p:sp>
      <p:sp>
        <p:nvSpPr>
          <p:cNvPr id="15" name="Text 11"/>
          <p:cNvSpPr txBox="1"/>
          <p:nvPr/>
        </p:nvSpPr>
        <p:spPr>
          <a:xfrm>
            <a:off x="9025128" y="4352544"/>
            <a:ext cx="234086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PROMEDIO MENSUAL</a:t>
            </a:r>
            <a:endParaRPr lang="en-US" sz="1000" dirty="0"/>
          </a:p>
        </p:txBody>
      </p:sp>
      <p:sp>
        <p:nvSpPr>
          <p:cNvPr id="16" name="Text 12"/>
          <p:cNvSpPr txBox="1"/>
          <p:nvPr/>
        </p:nvSpPr>
        <p:spPr>
          <a:xfrm>
            <a:off x="9025128" y="4572000"/>
            <a:ext cx="2377440" cy="762000"/>
          </a:xfrm>
          <a:prstGeom prst="rect">
            <a:avLst/>
          </a:prstGeom>
          <a:noFill/>
          <a:ln/>
        </p:spPr>
        <p:txBody>
          <a:bodyPr wrap="square" lIns="0" tIns="0" rIns="0" bIns="0" rtlCol="0" anchor="ctr"/>
          <a:lstStyle/>
          <a:p>
            <a:pPr marL="0" indent="0">
              <a:buNone/>
            </a:pPr>
            <a:r>
              <a:rPr lang="en-US" sz="5000" dirty="0">
                <a:solidFill>
                  <a:srgbClr val="16150F"/>
                </a:solidFill>
                <a:latin typeface="Bahnschrift SemiBold Condensed" pitchFamily="34" charset="0"/>
                <a:ea typeface="Bahnschrift SemiBold Condensed" pitchFamily="34" charset="-122"/>
                <a:cs typeface="Bahnschrift SemiBold Condensed" pitchFamily="34" charset="-120"/>
              </a:rPr>
              <a:t>3.522</a:t>
            </a:r>
            <a:endParaRPr lang="en-US" sz="5000" dirty="0"/>
          </a:p>
        </p:txBody>
      </p:sp>
      <p:sp>
        <p:nvSpPr>
          <p:cNvPr id="17" name="Text 13"/>
          <p:cNvSpPr txBox="1"/>
          <p:nvPr/>
        </p:nvSpPr>
        <p:spPr>
          <a:xfrm>
            <a:off x="9025128" y="5349240"/>
            <a:ext cx="2377440" cy="685800"/>
          </a:xfrm>
          <a:prstGeom prst="rect">
            <a:avLst/>
          </a:prstGeom>
          <a:noFill/>
          <a:ln/>
        </p:spPr>
        <p:txBody>
          <a:bodyPr wrap="square" lIns="0" tIns="0" rIns="0" bIns="0" rtlCol="0" anchor="t"/>
          <a:lstStyle/>
          <a:p>
            <a:pPr marL="0" indent="0">
              <a:buNone/>
            </a:pPr>
            <a:r>
              <a:rPr lang="en-US" sz="1400" dirty="0">
                <a:solidFill>
                  <a:srgbClr val="3A372F"/>
                </a:solidFill>
                <a:latin typeface="Georgia" pitchFamily="34" charset="0"/>
                <a:ea typeface="Georgia" pitchFamily="34" charset="-122"/>
                <a:cs typeface="Georgia" pitchFamily="34" charset="-120"/>
              </a:rPr>
              <a:t>siniestros por mes, sumando 9 años.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06 · ANÁLISIS Y VISUALIZACIÓN</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EL CONDUCTOR CAUSA LA MAYORÍA DE SINIESTROS</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Imprudencia, exceso de velocidad, irrespeto a señales y alcohol explican el 85,5 % de los siniestros.</a:t>
            </a:r>
            <a:endParaRPr lang="en-US" sz="1700" dirty="0"/>
          </a:p>
        </p:txBody>
      </p:sp>
      <p:sp>
        <p:nvSpPr>
          <p:cNvPr id="6" name="tarjeta"/>
          <p:cNvSpPr/>
          <p:nvPr/>
        </p:nvSpPr>
        <p:spPr>
          <a:xfrm>
            <a:off x="548640" y="2103120"/>
            <a:ext cx="7315200" cy="4023360"/>
          </a:xfrm>
          <a:prstGeom prst="rect">
            <a:avLst/>
          </a:prstGeom>
          <a:solidFill>
            <a:srgbClr val="FBFAF6"/>
          </a:solidFill>
          <a:ln w="15875">
            <a:solidFill>
              <a:srgbClr val="16150F"/>
            </a:solidFill>
            <a:prstDash val="solid"/>
          </a:ln>
        </p:spPr>
      </p:sp>
      <p:sp>
        <p:nvSpPr>
          <p:cNvPr id="7" name="Text 4"/>
          <p:cNvSpPr txBox="1"/>
          <p:nvPr/>
        </p:nvSpPr>
        <p:spPr>
          <a:xfrm>
            <a:off x="749808" y="2249424"/>
            <a:ext cx="691286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CAUSAS AGRUPADAS</a:t>
            </a:r>
            <a:endParaRPr lang="en-US" sz="1000" dirty="0"/>
          </a:p>
        </p:txBody>
      </p:sp>
      <p:sp>
        <p:nvSpPr>
          <p:cNvPr id="8" name="Text 5"/>
          <p:cNvSpPr txBox="1"/>
          <p:nvPr/>
        </p:nvSpPr>
        <p:spPr>
          <a:xfrm>
            <a:off x="749808" y="2249424"/>
            <a:ext cx="6912864" cy="256032"/>
          </a:xfrm>
          <a:prstGeom prst="rect">
            <a:avLst/>
          </a:prstGeom>
          <a:noFill/>
          <a:ln/>
        </p:spPr>
        <p:txBody>
          <a:bodyPr wrap="square" lIns="0" tIns="0" rIns="0" bIns="0" rtlCol="0" anchor="ctr"/>
          <a:lstStyle/>
          <a:p>
            <a:pPr marL="0" indent="0" algn="r">
              <a:buNone/>
            </a:pPr>
            <a:r>
              <a:rPr lang="en-US" sz="1000" kern="0" spc="200" dirty="0">
                <a:solidFill>
                  <a:srgbClr val="3A372F"/>
                </a:solidFill>
                <a:latin typeface="Consolas" pitchFamily="34" charset="0"/>
                <a:ea typeface="Consolas" pitchFamily="34" charset="-122"/>
                <a:cs typeface="Consolas" pitchFamily="34" charset="-120"/>
              </a:rPr>
              <a:t>% DE SINIESTROS</a:t>
            </a:r>
            <a:endParaRPr lang="en-US" sz="1000" dirty="0"/>
          </a:p>
        </p:txBody>
      </p:sp>
      <p:graphicFrame>
        <p:nvGraphicFramePr>
          <p:cNvPr id="9" name="Chart 0"/>
          <p:cNvGraphicFramePr/>
          <p:nvPr/>
        </p:nvGraphicFramePr>
        <p:xfrm>
          <a:off x="685800" y="2423160"/>
          <a:ext cx="704088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arjeta"/>
          <p:cNvSpPr/>
          <p:nvPr/>
        </p:nvSpPr>
        <p:spPr>
          <a:xfrm>
            <a:off x="8092440" y="2103120"/>
            <a:ext cx="3474720" cy="4023360"/>
          </a:xfrm>
          <a:prstGeom prst="rect">
            <a:avLst/>
          </a:prstGeom>
          <a:solidFill>
            <a:srgbClr val="FBFAF6"/>
          </a:solidFill>
          <a:ln w="15875">
            <a:solidFill>
              <a:srgbClr val="16150F"/>
            </a:solidFill>
            <a:prstDash val="solid"/>
          </a:ln>
        </p:spPr>
      </p:sp>
      <p:sp>
        <p:nvSpPr>
          <p:cNvPr id="11" name="Text 7"/>
          <p:cNvSpPr txBox="1"/>
          <p:nvPr/>
        </p:nvSpPr>
        <p:spPr>
          <a:xfrm>
            <a:off x="8293608" y="2249424"/>
            <a:ext cx="307238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GRAVEDAD DE LOS SINIESTROS</a:t>
            </a:r>
            <a:endParaRPr lang="en-US" sz="1000" dirty="0"/>
          </a:p>
        </p:txBody>
      </p:sp>
      <p:sp>
        <p:nvSpPr>
          <p:cNvPr id="12" name="Text 8"/>
          <p:cNvSpPr txBox="1"/>
          <p:nvPr/>
        </p:nvSpPr>
        <p:spPr>
          <a:xfrm>
            <a:off x="8293608" y="2514600"/>
            <a:ext cx="3108960" cy="609600"/>
          </a:xfrm>
          <a:prstGeom prst="rect">
            <a:avLst/>
          </a:prstGeom>
          <a:noFill/>
          <a:ln/>
        </p:spPr>
        <p:txBody>
          <a:bodyPr wrap="square" lIns="0" tIns="0" rIns="0" bIns="0" rtlCol="0" anchor="ctr"/>
          <a:lstStyle/>
          <a:p>
            <a:pPr marL="0" indent="0">
              <a:buNone/>
            </a:pPr>
            <a:r>
              <a:rPr lang="en-US" sz="4000" dirty="0">
                <a:solidFill>
                  <a:srgbClr val="16150F"/>
                </a:solidFill>
                <a:latin typeface="Bahnschrift SemiBold Condensed" pitchFamily="34" charset="0"/>
                <a:ea typeface="Bahnschrift SemiBold Condensed" pitchFamily="34" charset="-122"/>
                <a:cs typeface="Bahnschrift SemiBold Condensed" pitchFamily="34" charset="-120"/>
              </a:rPr>
              <a:t>52,7 %</a:t>
            </a:r>
            <a:endParaRPr lang="en-US" sz="4000" dirty="0"/>
          </a:p>
        </p:txBody>
      </p:sp>
      <p:sp>
        <p:nvSpPr>
          <p:cNvPr id="13" name="Text 9"/>
          <p:cNvSpPr txBox="1"/>
          <p:nvPr/>
        </p:nvSpPr>
        <p:spPr>
          <a:xfrm>
            <a:off x="8293608" y="3154680"/>
            <a:ext cx="3108960" cy="457200"/>
          </a:xfrm>
          <a:prstGeom prst="rect">
            <a:avLst/>
          </a:prstGeom>
          <a:noFill/>
          <a:ln/>
        </p:spPr>
        <p:txBody>
          <a:bodyPr wrap="square" lIns="0" tIns="0" rIns="0" bIns="0" rtlCol="0" anchor="t"/>
          <a:lstStyle/>
          <a:p>
            <a:pPr marL="0" indent="0">
              <a:buNone/>
            </a:pPr>
            <a:r>
              <a:rPr lang="en-US" sz="1350" dirty="0">
                <a:solidFill>
                  <a:srgbClr val="3A372F"/>
                </a:solidFill>
                <a:latin typeface="Georgia" pitchFamily="34" charset="0"/>
                <a:ea typeface="Georgia" pitchFamily="34" charset="-122"/>
                <a:cs typeface="Georgia" pitchFamily="34" charset="-120"/>
              </a:rPr>
              <a:t>solo dejaron daños materiales.</a:t>
            </a:r>
            <a:endParaRPr lang="en-US" sz="1350" dirty="0"/>
          </a:p>
        </p:txBody>
      </p:sp>
      <p:sp>
        <p:nvSpPr>
          <p:cNvPr id="14" name="Text 10"/>
          <p:cNvSpPr txBox="1"/>
          <p:nvPr/>
        </p:nvSpPr>
        <p:spPr>
          <a:xfrm>
            <a:off x="8293608" y="3703320"/>
            <a:ext cx="3108960" cy="609600"/>
          </a:xfrm>
          <a:prstGeom prst="rect">
            <a:avLst/>
          </a:prstGeom>
          <a:noFill/>
          <a:ln/>
        </p:spPr>
        <p:txBody>
          <a:bodyPr wrap="square" lIns="0" tIns="0" rIns="0" bIns="0" rtlCol="0" anchor="ctr"/>
          <a:lstStyle/>
          <a:p>
            <a:pPr marL="0" indent="0">
              <a:buNone/>
            </a:pPr>
            <a:r>
              <a:rPr lang="en-US" sz="4000" dirty="0">
                <a:solidFill>
                  <a:srgbClr val="16150F"/>
                </a:solidFill>
                <a:latin typeface="Bahnschrift SemiBold Condensed" pitchFamily="34" charset="0"/>
                <a:ea typeface="Bahnschrift SemiBold Condensed" pitchFamily="34" charset="-122"/>
                <a:cs typeface="Bahnschrift SemiBold Condensed" pitchFamily="34" charset="-120"/>
              </a:rPr>
              <a:t>41,8 %</a:t>
            </a:r>
            <a:endParaRPr lang="en-US" sz="4000" dirty="0"/>
          </a:p>
        </p:txBody>
      </p:sp>
      <p:sp>
        <p:nvSpPr>
          <p:cNvPr id="15" name="Text 11"/>
          <p:cNvSpPr txBox="1"/>
          <p:nvPr/>
        </p:nvSpPr>
        <p:spPr>
          <a:xfrm>
            <a:off x="8293608" y="4343400"/>
            <a:ext cx="3108960" cy="457200"/>
          </a:xfrm>
          <a:prstGeom prst="rect">
            <a:avLst/>
          </a:prstGeom>
          <a:noFill/>
          <a:ln/>
        </p:spPr>
        <p:txBody>
          <a:bodyPr wrap="square" lIns="0" tIns="0" rIns="0" bIns="0" rtlCol="0" anchor="t"/>
          <a:lstStyle/>
          <a:p>
            <a:pPr marL="0" indent="0">
              <a:buNone/>
            </a:pPr>
            <a:r>
              <a:rPr lang="en-US" sz="1350" dirty="0">
                <a:solidFill>
                  <a:srgbClr val="3A372F"/>
                </a:solidFill>
                <a:latin typeface="Georgia" pitchFamily="34" charset="0"/>
                <a:ea typeface="Georgia" pitchFamily="34" charset="-122"/>
                <a:cs typeface="Georgia" pitchFamily="34" charset="-120"/>
              </a:rPr>
              <a:t>dejaron personas lesionadas.</a:t>
            </a:r>
            <a:endParaRPr lang="en-US" sz="1350" dirty="0"/>
          </a:p>
        </p:txBody>
      </p:sp>
      <p:sp>
        <p:nvSpPr>
          <p:cNvPr id="16" name="Text 12"/>
          <p:cNvSpPr txBox="1"/>
          <p:nvPr/>
        </p:nvSpPr>
        <p:spPr>
          <a:xfrm>
            <a:off x="8293608" y="4892040"/>
            <a:ext cx="3108960" cy="609600"/>
          </a:xfrm>
          <a:prstGeom prst="rect">
            <a:avLst/>
          </a:prstGeom>
          <a:noFill/>
          <a:ln/>
        </p:spPr>
        <p:txBody>
          <a:bodyPr wrap="square" lIns="0" tIns="0" rIns="0" bIns="0" rtlCol="0" anchor="ctr"/>
          <a:lstStyle/>
          <a:p>
            <a:pPr marL="0" indent="0">
              <a:buNone/>
            </a:pPr>
            <a:r>
              <a:rPr lang="en-US" sz="4000" dirty="0">
                <a:solidFill>
                  <a:srgbClr val="B8321F"/>
                </a:solidFill>
                <a:latin typeface="Bahnschrift SemiBold Condensed" pitchFamily="34" charset="0"/>
                <a:ea typeface="Bahnschrift SemiBold Condensed" pitchFamily="34" charset="-122"/>
                <a:cs typeface="Bahnschrift SemiBold Condensed" pitchFamily="34" charset="-120"/>
              </a:rPr>
              <a:t>5,6 %</a:t>
            </a:r>
            <a:endParaRPr lang="en-US" sz="4000" dirty="0"/>
          </a:p>
        </p:txBody>
      </p:sp>
      <p:sp>
        <p:nvSpPr>
          <p:cNvPr id="17" name="Text 13"/>
          <p:cNvSpPr txBox="1"/>
          <p:nvPr/>
        </p:nvSpPr>
        <p:spPr>
          <a:xfrm>
            <a:off x="8293608" y="5532120"/>
            <a:ext cx="3108960" cy="457200"/>
          </a:xfrm>
          <a:prstGeom prst="rect">
            <a:avLst/>
          </a:prstGeom>
          <a:noFill/>
          <a:ln/>
        </p:spPr>
        <p:txBody>
          <a:bodyPr wrap="square" lIns="0" tIns="0" rIns="0" bIns="0" rtlCol="0" anchor="t"/>
          <a:lstStyle/>
          <a:p>
            <a:pPr marL="0" indent="0">
              <a:buNone/>
            </a:pPr>
            <a:r>
              <a:rPr lang="en-US" sz="1350" dirty="0">
                <a:solidFill>
                  <a:srgbClr val="3A372F"/>
                </a:solidFill>
                <a:latin typeface="Georgia" pitchFamily="34" charset="0"/>
                <a:ea typeface="Georgia" pitchFamily="34" charset="-122"/>
                <a:cs typeface="Georgia" pitchFamily="34" charset="-120"/>
              </a:rPr>
              <a:t>tuvieron al menos un fallecido.</a:t>
            </a:r>
            <a:endParaRPr lang="en-US" sz="13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06 · ANÁLISIS Y VISUALIZACIÓN</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MÁS SINIESTROS NO SIGNIFICA MÁS MORTALES</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Quitumbe, Iñaquito y Calderón tienen más siniestros, pero las más mortales son parroquias rurales como Pifo.</a:t>
            </a:r>
            <a:endParaRPr lang="en-US" sz="1700" dirty="0"/>
          </a:p>
        </p:txBody>
      </p:sp>
      <p:sp>
        <p:nvSpPr>
          <p:cNvPr id="6" name="tarjeta"/>
          <p:cNvSpPr/>
          <p:nvPr/>
        </p:nvSpPr>
        <p:spPr>
          <a:xfrm>
            <a:off x="548640" y="2103120"/>
            <a:ext cx="5394960" cy="4023360"/>
          </a:xfrm>
          <a:prstGeom prst="rect">
            <a:avLst/>
          </a:prstGeom>
          <a:solidFill>
            <a:srgbClr val="FBFAF6"/>
          </a:solidFill>
          <a:ln w="15875">
            <a:solidFill>
              <a:srgbClr val="16150F"/>
            </a:solidFill>
            <a:prstDash val="solid"/>
          </a:ln>
        </p:spPr>
      </p:sp>
      <p:sp>
        <p:nvSpPr>
          <p:cNvPr id="7" name="Text 4"/>
          <p:cNvSpPr txBox="1"/>
          <p:nvPr/>
        </p:nvSpPr>
        <p:spPr>
          <a:xfrm>
            <a:off x="749808" y="2249424"/>
            <a:ext cx="499262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MÁS SINIESTROS</a:t>
            </a:r>
            <a:endParaRPr lang="en-US" sz="1000" dirty="0"/>
          </a:p>
        </p:txBody>
      </p:sp>
      <p:sp>
        <p:nvSpPr>
          <p:cNvPr id="8" name="Text 5"/>
          <p:cNvSpPr txBox="1"/>
          <p:nvPr/>
        </p:nvSpPr>
        <p:spPr>
          <a:xfrm>
            <a:off x="749808" y="2249424"/>
            <a:ext cx="4992624" cy="256032"/>
          </a:xfrm>
          <a:prstGeom prst="rect">
            <a:avLst/>
          </a:prstGeom>
          <a:noFill/>
          <a:ln/>
        </p:spPr>
        <p:txBody>
          <a:bodyPr wrap="square" lIns="0" tIns="0" rIns="0" bIns="0" rtlCol="0" anchor="ctr"/>
          <a:lstStyle/>
          <a:p>
            <a:pPr marL="0" indent="0" algn="r">
              <a:buNone/>
            </a:pPr>
            <a:r>
              <a:rPr lang="en-US" sz="1000" kern="0" spc="200" dirty="0">
                <a:solidFill>
                  <a:srgbClr val="3A372F"/>
                </a:solidFill>
                <a:latin typeface="Consolas" pitchFamily="34" charset="0"/>
                <a:ea typeface="Consolas" pitchFamily="34" charset="-122"/>
                <a:cs typeface="Consolas" pitchFamily="34" charset="-120"/>
              </a:rPr>
              <a:t>2024–2026</a:t>
            </a:r>
            <a:endParaRPr lang="en-US" sz="1000" dirty="0"/>
          </a:p>
        </p:txBody>
      </p:sp>
      <p:graphicFrame>
        <p:nvGraphicFramePr>
          <p:cNvPr id="9" name="Chart 0"/>
          <p:cNvGraphicFramePr/>
          <p:nvPr/>
        </p:nvGraphicFramePr>
        <p:xfrm>
          <a:off x="685800" y="2423160"/>
          <a:ext cx="512064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arjeta"/>
          <p:cNvSpPr/>
          <p:nvPr/>
        </p:nvSpPr>
        <p:spPr>
          <a:xfrm>
            <a:off x="6172200" y="2103120"/>
            <a:ext cx="5394960" cy="4023360"/>
          </a:xfrm>
          <a:prstGeom prst="rect">
            <a:avLst/>
          </a:prstGeom>
          <a:solidFill>
            <a:srgbClr val="FBFAF6"/>
          </a:solidFill>
          <a:ln w="15875">
            <a:solidFill>
              <a:srgbClr val="16150F"/>
            </a:solidFill>
            <a:prstDash val="solid"/>
          </a:ln>
        </p:spPr>
      </p:sp>
      <p:sp>
        <p:nvSpPr>
          <p:cNvPr id="11" name="Text 7"/>
          <p:cNvSpPr txBox="1"/>
          <p:nvPr/>
        </p:nvSpPr>
        <p:spPr>
          <a:xfrm>
            <a:off x="6373368" y="2249424"/>
            <a:ext cx="499262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MÁS MORTALES</a:t>
            </a:r>
            <a:endParaRPr lang="en-US" sz="1000" dirty="0"/>
          </a:p>
        </p:txBody>
      </p:sp>
      <p:sp>
        <p:nvSpPr>
          <p:cNvPr id="12" name="Text 8"/>
          <p:cNvSpPr txBox="1"/>
          <p:nvPr/>
        </p:nvSpPr>
        <p:spPr>
          <a:xfrm>
            <a:off x="6373368" y="2249424"/>
            <a:ext cx="4992624" cy="256032"/>
          </a:xfrm>
          <a:prstGeom prst="rect">
            <a:avLst/>
          </a:prstGeom>
          <a:noFill/>
          <a:ln/>
        </p:spPr>
        <p:txBody>
          <a:bodyPr wrap="square" lIns="0" tIns="0" rIns="0" bIns="0" rtlCol="0" anchor="ctr"/>
          <a:lstStyle/>
          <a:p>
            <a:pPr marL="0" indent="0" algn="r">
              <a:buNone/>
            </a:pPr>
            <a:r>
              <a:rPr lang="en-US" sz="1000" kern="0" spc="200" dirty="0">
                <a:solidFill>
                  <a:srgbClr val="3A372F"/>
                </a:solidFill>
                <a:latin typeface="Consolas" pitchFamily="34" charset="0"/>
                <a:ea typeface="Consolas" pitchFamily="34" charset="-122"/>
                <a:cs typeface="Consolas" pitchFamily="34" charset="-120"/>
              </a:rPr>
              <a:t>FALLECIDOS POR CADA 100</a:t>
            </a:r>
            <a:endParaRPr lang="en-US" sz="1000" dirty="0"/>
          </a:p>
        </p:txBody>
      </p:sp>
      <p:graphicFrame>
        <p:nvGraphicFramePr>
          <p:cNvPr id="13" name="Chart 1"/>
          <p:cNvGraphicFramePr/>
          <p:nvPr/>
        </p:nvGraphicFramePr>
        <p:xfrm>
          <a:off x="6309360" y="2423160"/>
          <a:ext cx="5120640" cy="3611880"/>
        </p:xfrm>
        <a:graphic>
          <a:graphicData uri="http://schemas.openxmlformats.org/drawingml/2006/chart">
            <c:chart xmlns:c="http://schemas.openxmlformats.org/drawingml/2006/chart" xmlns:r="http://schemas.openxmlformats.org/officeDocument/2006/relationships" r:id="rId4"/>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06 · ANÁLISIS Y VISUALIZACIÓN</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EN LA ZONA RURAL, UN SINIESTRO ES 2,3 VECES MÁS MORTAL</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La zona rural tiene solo el 20 % de los siniestros, pero el 37 % de los fallecidos.</a:t>
            </a:r>
            <a:endParaRPr lang="en-US" sz="1700" dirty="0"/>
          </a:p>
        </p:txBody>
      </p:sp>
      <p:sp>
        <p:nvSpPr>
          <p:cNvPr id="6" name="tarjeta"/>
          <p:cNvSpPr/>
          <p:nvPr/>
        </p:nvSpPr>
        <p:spPr>
          <a:xfrm>
            <a:off x="548640" y="2103120"/>
            <a:ext cx="6766560" cy="4023360"/>
          </a:xfrm>
          <a:prstGeom prst="rect">
            <a:avLst/>
          </a:prstGeom>
          <a:solidFill>
            <a:srgbClr val="FBFAF6"/>
          </a:solidFill>
          <a:ln w="15875">
            <a:solidFill>
              <a:srgbClr val="16150F"/>
            </a:solidFill>
            <a:prstDash val="solid"/>
          </a:ln>
        </p:spPr>
      </p:sp>
      <p:sp>
        <p:nvSpPr>
          <p:cNvPr id="7" name="Text 4"/>
          <p:cNvSpPr txBox="1"/>
          <p:nvPr/>
        </p:nvSpPr>
        <p:spPr>
          <a:xfrm>
            <a:off x="749808" y="2249424"/>
            <a:ext cx="636422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 DE SINIESTROS Y % DE FALLECIDOS</a:t>
            </a:r>
            <a:endParaRPr lang="en-US" sz="1000" dirty="0"/>
          </a:p>
        </p:txBody>
      </p:sp>
      <p:graphicFrame>
        <p:nvGraphicFramePr>
          <p:cNvPr id="8" name="Chart 0"/>
          <p:cNvGraphicFramePr/>
          <p:nvPr/>
        </p:nvGraphicFramePr>
        <p:xfrm>
          <a:off x="685800" y="2468880"/>
          <a:ext cx="64922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arjeta"/>
          <p:cNvSpPr/>
          <p:nvPr/>
        </p:nvSpPr>
        <p:spPr>
          <a:xfrm>
            <a:off x="7543800" y="2103120"/>
            <a:ext cx="1920240" cy="1920240"/>
          </a:xfrm>
          <a:prstGeom prst="rect">
            <a:avLst/>
          </a:prstGeom>
          <a:solidFill>
            <a:srgbClr val="FBFAF6"/>
          </a:solidFill>
          <a:ln w="15875">
            <a:solidFill>
              <a:srgbClr val="16150F"/>
            </a:solidFill>
            <a:prstDash val="solid"/>
          </a:ln>
        </p:spPr>
      </p:sp>
      <p:sp>
        <p:nvSpPr>
          <p:cNvPr id="10" name="Text 6"/>
          <p:cNvSpPr txBox="1"/>
          <p:nvPr/>
        </p:nvSpPr>
        <p:spPr>
          <a:xfrm>
            <a:off x="7744968" y="2249424"/>
            <a:ext cx="15179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URBANA</a:t>
            </a:r>
            <a:endParaRPr lang="en-US" sz="1000" dirty="0"/>
          </a:p>
        </p:txBody>
      </p:sp>
      <p:sp>
        <p:nvSpPr>
          <p:cNvPr id="11" name="Text 7"/>
          <p:cNvSpPr txBox="1"/>
          <p:nvPr/>
        </p:nvSpPr>
        <p:spPr>
          <a:xfrm>
            <a:off x="7726680" y="2514600"/>
            <a:ext cx="1645920" cy="731520"/>
          </a:xfrm>
          <a:prstGeom prst="rect">
            <a:avLst/>
          </a:prstGeom>
          <a:noFill/>
          <a:ln/>
        </p:spPr>
        <p:txBody>
          <a:bodyPr wrap="square" lIns="0" tIns="0" rIns="0" bIns="0" rtlCol="0" anchor="ctr"/>
          <a:lstStyle/>
          <a:p>
            <a:pPr marL="0" indent="0">
              <a:buNone/>
            </a:pPr>
            <a:r>
              <a:rPr lang="en-US" sz="4800" dirty="0">
                <a:solidFill>
                  <a:srgbClr val="16150F"/>
                </a:solidFill>
                <a:latin typeface="Bahnschrift SemiBold Condensed" pitchFamily="34" charset="0"/>
                <a:ea typeface="Bahnschrift SemiBold Condensed" pitchFamily="34" charset="-122"/>
                <a:cs typeface="Bahnschrift SemiBold Condensed" pitchFamily="34" charset="-120"/>
              </a:rPr>
              <a:t>4,8</a:t>
            </a:r>
            <a:endParaRPr lang="en-US" sz="4800" dirty="0"/>
          </a:p>
        </p:txBody>
      </p:sp>
      <p:sp>
        <p:nvSpPr>
          <p:cNvPr id="12" name="tarjeta"/>
          <p:cNvSpPr/>
          <p:nvPr/>
        </p:nvSpPr>
        <p:spPr>
          <a:xfrm>
            <a:off x="9646920" y="2103120"/>
            <a:ext cx="1920240" cy="1920240"/>
          </a:xfrm>
          <a:prstGeom prst="rect">
            <a:avLst/>
          </a:prstGeom>
          <a:solidFill>
            <a:srgbClr val="FBFAF6"/>
          </a:solidFill>
          <a:ln w="15875">
            <a:solidFill>
              <a:srgbClr val="16150F"/>
            </a:solidFill>
            <a:prstDash val="solid"/>
          </a:ln>
        </p:spPr>
      </p:sp>
      <p:sp>
        <p:nvSpPr>
          <p:cNvPr id="13" name="Text 9"/>
          <p:cNvSpPr txBox="1"/>
          <p:nvPr/>
        </p:nvSpPr>
        <p:spPr>
          <a:xfrm>
            <a:off x="9848088" y="2249424"/>
            <a:ext cx="15179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RURAL</a:t>
            </a:r>
            <a:endParaRPr lang="en-US" sz="1000" dirty="0"/>
          </a:p>
        </p:txBody>
      </p:sp>
      <p:sp>
        <p:nvSpPr>
          <p:cNvPr id="14" name="Text 10"/>
          <p:cNvSpPr txBox="1"/>
          <p:nvPr/>
        </p:nvSpPr>
        <p:spPr>
          <a:xfrm>
            <a:off x="9829800" y="2514600"/>
            <a:ext cx="1645920" cy="731520"/>
          </a:xfrm>
          <a:prstGeom prst="rect">
            <a:avLst/>
          </a:prstGeom>
          <a:noFill/>
          <a:ln/>
        </p:spPr>
        <p:txBody>
          <a:bodyPr wrap="square" lIns="0" tIns="0" rIns="0" bIns="0" rtlCol="0" anchor="ctr"/>
          <a:lstStyle/>
          <a:p>
            <a:pPr marL="0" indent="0">
              <a:buNone/>
            </a:pPr>
            <a:r>
              <a:rPr lang="en-US" sz="4800" dirty="0">
                <a:solidFill>
                  <a:srgbClr val="B8321F"/>
                </a:solidFill>
                <a:latin typeface="Bahnschrift SemiBold Condensed" pitchFamily="34" charset="0"/>
                <a:ea typeface="Bahnschrift SemiBold Condensed" pitchFamily="34" charset="-122"/>
                <a:cs typeface="Bahnschrift SemiBold Condensed" pitchFamily="34" charset="-120"/>
              </a:rPr>
              <a:t>11,2</a:t>
            </a:r>
            <a:endParaRPr lang="en-US" sz="4800" dirty="0"/>
          </a:p>
        </p:txBody>
      </p:sp>
      <p:sp>
        <p:nvSpPr>
          <p:cNvPr id="15" name="Text 11"/>
          <p:cNvSpPr txBox="1"/>
          <p:nvPr/>
        </p:nvSpPr>
        <p:spPr>
          <a:xfrm>
            <a:off x="7543800" y="4160520"/>
            <a:ext cx="4023360" cy="365760"/>
          </a:xfrm>
          <a:prstGeom prst="rect">
            <a:avLst/>
          </a:prstGeom>
          <a:noFill/>
          <a:ln/>
        </p:spPr>
        <p:txBody>
          <a:bodyPr wrap="square" lIns="0" tIns="0" rIns="0" bIns="0" rtlCol="0" anchor="t"/>
          <a:lstStyle/>
          <a:p>
            <a:pPr marL="0" indent="0">
              <a:buNone/>
            </a:pPr>
            <a:r>
              <a:rPr lang="en-US" sz="1200" dirty="0">
                <a:solidFill>
                  <a:srgbClr val="6B6657"/>
                </a:solidFill>
                <a:latin typeface="Consolas" pitchFamily="34" charset="0"/>
                <a:ea typeface="Consolas" pitchFamily="34" charset="-122"/>
                <a:cs typeface="Consolas" pitchFamily="34" charset="-120"/>
              </a:rPr>
              <a:t>fallecidos por cada 100 siniestros</a:t>
            </a:r>
            <a:endParaRPr lang="en-US" sz="1200" dirty="0"/>
          </a:p>
        </p:txBody>
      </p:sp>
      <p:sp>
        <p:nvSpPr>
          <p:cNvPr id="16" name="tarjeta"/>
          <p:cNvSpPr/>
          <p:nvPr/>
        </p:nvSpPr>
        <p:spPr>
          <a:xfrm>
            <a:off x="7543800" y="4617720"/>
            <a:ext cx="4023360" cy="1508760"/>
          </a:xfrm>
          <a:prstGeom prst="rect">
            <a:avLst/>
          </a:prstGeom>
          <a:solidFill>
            <a:srgbClr val="16150F"/>
          </a:solidFill>
          <a:ln w="15875">
            <a:solidFill>
              <a:srgbClr val="16150F"/>
            </a:solidFill>
            <a:prstDash val="solid"/>
          </a:ln>
        </p:spPr>
      </p:sp>
      <p:sp>
        <p:nvSpPr>
          <p:cNvPr id="17" name="Text 13"/>
          <p:cNvSpPr txBox="1"/>
          <p:nvPr/>
        </p:nvSpPr>
        <p:spPr>
          <a:xfrm>
            <a:off x="7744968" y="4617720"/>
            <a:ext cx="3657600" cy="1508760"/>
          </a:xfrm>
          <a:prstGeom prst="rect">
            <a:avLst/>
          </a:prstGeom>
          <a:noFill/>
          <a:ln/>
        </p:spPr>
        <p:txBody>
          <a:bodyPr wrap="square" lIns="0" tIns="0" rIns="0" bIns="0" rtlCol="0" anchor="ctr"/>
          <a:lstStyle/>
          <a:p>
            <a:pPr marL="0" indent="0">
              <a:buNone/>
            </a:pPr>
            <a:r>
              <a:rPr lang="en-US" sz="4000" dirty="0">
                <a:solidFill>
                  <a:srgbClr val="E2563E"/>
                </a:solidFill>
                <a:latin typeface="Bahnschrift SemiBold Condensed" pitchFamily="34" charset="0"/>
                <a:ea typeface="Bahnschrift SemiBold Condensed" pitchFamily="34" charset="-122"/>
                <a:cs typeface="Bahnschrift SemiBold Condensed" pitchFamily="34" charset="-120"/>
              </a:rPr>
              <a:t>×2,3  </a:t>
            </a:r>
            <a:r>
              <a:rPr lang="en-US" sz="1600" dirty="0">
                <a:solidFill>
                  <a:srgbClr val="F1EEE6"/>
                </a:solidFill>
                <a:latin typeface="Georgia" pitchFamily="34" charset="0"/>
                <a:ea typeface="Georgia" pitchFamily="34" charset="-122"/>
                <a:cs typeface="Georgia" pitchFamily="34" charset="-120"/>
              </a:rPr>
              <a:t>más mortal en la zona rural</a:t>
            </a:r>
            <a:endParaRPr lang="en-US" sz="4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06 · ANÁLISIS Y VISUALIZACIÓN</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QUIÉNES ESTÁN INVOLUCRADOS</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La mayoría son hombres de 20 a 34 años, y los siniestros con motocicleta son 2,3 veces más mortales.</a:t>
            </a:r>
            <a:endParaRPr lang="en-US" sz="1700" dirty="0"/>
          </a:p>
        </p:txBody>
      </p:sp>
      <p:sp>
        <p:nvSpPr>
          <p:cNvPr id="6" name="tarjeta"/>
          <p:cNvSpPr/>
          <p:nvPr/>
        </p:nvSpPr>
        <p:spPr>
          <a:xfrm>
            <a:off x="548640" y="2103120"/>
            <a:ext cx="6035040" cy="4023360"/>
          </a:xfrm>
          <a:prstGeom prst="rect">
            <a:avLst/>
          </a:prstGeom>
          <a:solidFill>
            <a:srgbClr val="FBFAF6"/>
          </a:solidFill>
          <a:ln w="15875">
            <a:solidFill>
              <a:srgbClr val="16150F"/>
            </a:solidFill>
            <a:prstDash val="solid"/>
          </a:ln>
        </p:spPr>
      </p:sp>
      <p:sp>
        <p:nvSpPr>
          <p:cNvPr id="7" name="Text 4"/>
          <p:cNvSpPr txBox="1"/>
          <p:nvPr/>
        </p:nvSpPr>
        <p:spPr>
          <a:xfrm>
            <a:off x="749808" y="2249424"/>
            <a:ext cx="563270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PERSONAS POR GRUPO DE EDAD</a:t>
            </a:r>
            <a:endParaRPr lang="en-US" sz="1000" dirty="0"/>
          </a:p>
        </p:txBody>
      </p:sp>
      <p:sp>
        <p:nvSpPr>
          <p:cNvPr id="8" name="Text 5"/>
          <p:cNvSpPr txBox="1"/>
          <p:nvPr/>
        </p:nvSpPr>
        <p:spPr>
          <a:xfrm>
            <a:off x="749808" y="2249424"/>
            <a:ext cx="5632704" cy="256032"/>
          </a:xfrm>
          <a:prstGeom prst="rect">
            <a:avLst/>
          </a:prstGeom>
          <a:noFill/>
          <a:ln/>
        </p:spPr>
        <p:txBody>
          <a:bodyPr wrap="square" lIns="0" tIns="0" rIns="0" bIns="0" rtlCol="0" anchor="ctr"/>
          <a:lstStyle/>
          <a:p>
            <a:pPr marL="0" indent="0" algn="r">
              <a:buNone/>
            </a:pPr>
            <a:r>
              <a:rPr lang="en-US" sz="1000" kern="0" spc="200" dirty="0">
                <a:solidFill>
                  <a:srgbClr val="3A372F"/>
                </a:solidFill>
                <a:latin typeface="Consolas" pitchFamily="34" charset="0"/>
                <a:ea typeface="Consolas" pitchFamily="34" charset="-122"/>
                <a:cs typeface="Consolas" pitchFamily="34" charset="-120"/>
              </a:rPr>
              <a:t>2024–2026</a:t>
            </a:r>
            <a:endParaRPr lang="en-US" sz="1000" dirty="0"/>
          </a:p>
        </p:txBody>
      </p:sp>
      <p:graphicFrame>
        <p:nvGraphicFramePr>
          <p:cNvPr id="9" name="Chart 0"/>
          <p:cNvGraphicFramePr/>
          <p:nvPr/>
        </p:nvGraphicFramePr>
        <p:xfrm>
          <a:off x="685800" y="2423160"/>
          <a:ext cx="57607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6"/>
          <p:cNvSpPr txBox="1"/>
          <p:nvPr/>
        </p:nvSpPr>
        <p:spPr>
          <a:xfrm>
            <a:off x="777240" y="5687568"/>
            <a:ext cx="5669280" cy="365760"/>
          </a:xfrm>
          <a:prstGeom prst="rect">
            <a:avLst/>
          </a:prstGeom>
          <a:noFill/>
          <a:ln/>
        </p:spPr>
        <p:txBody>
          <a:bodyPr wrap="square" lIns="0" tIns="0" rIns="0" bIns="0" rtlCol="0" anchor="t"/>
          <a:lstStyle/>
          <a:p>
            <a:pPr marL="0" indent="0">
              <a:buNone/>
            </a:pPr>
            <a:r>
              <a:rPr lang="en-US" sz="1200" dirty="0">
                <a:solidFill>
                  <a:srgbClr val="B8321F"/>
                </a:solidFill>
                <a:latin typeface="Consolas" pitchFamily="34" charset="0"/>
                <a:ea typeface="Consolas" pitchFamily="34" charset="-122"/>
                <a:cs typeface="Consolas" pitchFamily="34" charset="-120"/>
              </a:rPr>
              <a:t>42,5 % tiene entre 20 y 34 años · 76 % son hombres</a:t>
            </a:r>
            <a:endParaRPr lang="en-US" sz="1200" dirty="0"/>
          </a:p>
        </p:txBody>
      </p:sp>
      <p:sp>
        <p:nvSpPr>
          <p:cNvPr id="11" name="tarjeta"/>
          <p:cNvSpPr/>
          <p:nvPr/>
        </p:nvSpPr>
        <p:spPr>
          <a:xfrm>
            <a:off x="6812280" y="2103120"/>
            <a:ext cx="4754880" cy="4023360"/>
          </a:xfrm>
          <a:prstGeom prst="rect">
            <a:avLst/>
          </a:prstGeom>
          <a:solidFill>
            <a:srgbClr val="FBFAF6"/>
          </a:solidFill>
          <a:ln w="15875">
            <a:solidFill>
              <a:srgbClr val="16150F"/>
            </a:solidFill>
            <a:prstDash val="solid"/>
          </a:ln>
        </p:spPr>
      </p:sp>
      <p:sp>
        <p:nvSpPr>
          <p:cNvPr id="12" name="Text 8"/>
          <p:cNvSpPr txBox="1"/>
          <p:nvPr/>
        </p:nvSpPr>
        <p:spPr>
          <a:xfrm>
            <a:off x="7013448" y="2249424"/>
            <a:ext cx="435254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VEHÍCULOS INVOLUCRADOS</a:t>
            </a:r>
            <a:endParaRPr lang="en-US" sz="1000" dirty="0"/>
          </a:p>
        </p:txBody>
      </p:sp>
      <p:sp>
        <p:nvSpPr>
          <p:cNvPr id="13" name="Text 9"/>
          <p:cNvSpPr txBox="1"/>
          <p:nvPr/>
        </p:nvSpPr>
        <p:spPr>
          <a:xfrm>
            <a:off x="7013448" y="2249424"/>
            <a:ext cx="4352544" cy="256032"/>
          </a:xfrm>
          <a:prstGeom prst="rect">
            <a:avLst/>
          </a:prstGeom>
          <a:noFill/>
          <a:ln/>
        </p:spPr>
        <p:txBody>
          <a:bodyPr wrap="square" lIns="0" tIns="0" rIns="0" bIns="0" rtlCol="0" anchor="ctr"/>
          <a:lstStyle/>
          <a:p>
            <a:pPr marL="0" indent="0" algn="r">
              <a:buNone/>
            </a:pPr>
            <a:r>
              <a:rPr lang="en-US" sz="1000" kern="0" spc="200" dirty="0">
                <a:solidFill>
                  <a:srgbClr val="3A372F"/>
                </a:solidFill>
                <a:latin typeface="Consolas" pitchFamily="34" charset="0"/>
                <a:ea typeface="Consolas" pitchFamily="34" charset="-122"/>
                <a:cs typeface="Consolas" pitchFamily="34" charset="-120"/>
              </a:rPr>
              <a:t>2024–2026</a:t>
            </a:r>
            <a:endParaRPr lang="en-US" sz="1000" dirty="0"/>
          </a:p>
        </p:txBody>
      </p:sp>
      <p:graphicFrame>
        <p:nvGraphicFramePr>
          <p:cNvPr id="14" name="Chart 1"/>
          <p:cNvGraphicFramePr/>
          <p:nvPr/>
        </p:nvGraphicFramePr>
        <p:xfrm>
          <a:off x="6949440" y="2423160"/>
          <a:ext cx="448056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 10"/>
          <p:cNvSpPr txBox="1"/>
          <p:nvPr/>
        </p:nvSpPr>
        <p:spPr>
          <a:xfrm>
            <a:off x="7040880" y="5687568"/>
            <a:ext cx="4389120" cy="365760"/>
          </a:xfrm>
          <a:prstGeom prst="rect">
            <a:avLst/>
          </a:prstGeom>
          <a:noFill/>
          <a:ln/>
        </p:spPr>
        <p:txBody>
          <a:bodyPr wrap="square" lIns="0" tIns="0" rIns="0" bIns="0" rtlCol="0" anchor="t"/>
          <a:lstStyle/>
          <a:p>
            <a:pPr marL="0" indent="0">
              <a:buNone/>
            </a:pPr>
            <a:r>
              <a:rPr lang="en-US" sz="1200" dirty="0">
                <a:solidFill>
                  <a:srgbClr val="B8321F"/>
                </a:solidFill>
                <a:latin typeface="Consolas" pitchFamily="34" charset="0"/>
                <a:ea typeface="Consolas" pitchFamily="34" charset="-122"/>
                <a:cs typeface="Consolas" pitchFamily="34" charset="-120"/>
              </a:rPr>
              <a:t>Con moto: 14,1 fallecidos por cada 100 siniestros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06 · ANÁLISIS Y VISUALIZACIÓN</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DÓNDE ESTÁ EL RIESGO EN EL MAPA</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Las parroquias más mortales están fuera de la ciudad, y sus siniestros mortales siguen las carreteras.</a:t>
            </a:r>
            <a:endParaRPr lang="en-US" sz="1700" dirty="0"/>
          </a:p>
        </p:txBody>
      </p:sp>
      <p:sp>
        <p:nvSpPr>
          <p:cNvPr id="6" name="tarjeta"/>
          <p:cNvSpPr/>
          <p:nvPr/>
        </p:nvSpPr>
        <p:spPr>
          <a:xfrm>
            <a:off x="548640" y="2103120"/>
            <a:ext cx="5440680" cy="4069080"/>
          </a:xfrm>
          <a:prstGeom prst="rect">
            <a:avLst/>
          </a:prstGeom>
          <a:solidFill>
            <a:srgbClr val="FBFAF6"/>
          </a:solidFill>
          <a:ln w="15875">
            <a:solidFill>
              <a:srgbClr val="16150F"/>
            </a:solidFill>
            <a:prstDash val="solid"/>
          </a:ln>
        </p:spPr>
      </p:sp>
      <p:sp>
        <p:nvSpPr>
          <p:cNvPr id="7" name="Text 4"/>
          <p:cNvSpPr txBox="1"/>
          <p:nvPr/>
        </p:nvSpPr>
        <p:spPr>
          <a:xfrm>
            <a:off x="749808" y="2249424"/>
            <a:ext cx="503834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PARROQUIAS POR GRUPO DE RIESGO</a:t>
            </a:r>
            <a:endParaRPr lang="en-US" sz="1000" dirty="0"/>
          </a:p>
        </p:txBody>
      </p:sp>
      <p:pic>
        <p:nvPicPr>
          <p:cNvPr id="8" name="Image 0" descr="Mapa de parroquias por grupo de riesgo"/>
          <p:cNvPicPr>
            <a:picLocks noChangeAspect="1"/>
          </p:cNvPicPr>
          <p:nvPr/>
        </p:nvPicPr>
        <p:blipFill>
          <a:blip r:embed="rId3"/>
          <a:srcRect/>
          <a:stretch/>
        </p:blipFill>
        <p:spPr>
          <a:xfrm>
            <a:off x="731520" y="2560320"/>
            <a:ext cx="5074920" cy="3474720"/>
          </a:xfrm>
          <a:prstGeom prst="rect">
            <a:avLst/>
          </a:prstGeom>
        </p:spPr>
      </p:pic>
      <p:sp>
        <p:nvSpPr>
          <p:cNvPr id="9" name="tarjeta"/>
          <p:cNvSpPr/>
          <p:nvPr/>
        </p:nvSpPr>
        <p:spPr>
          <a:xfrm>
            <a:off x="6126480" y="2103120"/>
            <a:ext cx="5440680" cy="4069080"/>
          </a:xfrm>
          <a:prstGeom prst="rect">
            <a:avLst/>
          </a:prstGeom>
          <a:solidFill>
            <a:srgbClr val="FBFAF6"/>
          </a:solidFill>
          <a:ln w="15875">
            <a:solidFill>
              <a:srgbClr val="16150F"/>
            </a:solidFill>
            <a:prstDash val="solid"/>
          </a:ln>
        </p:spPr>
      </p:sp>
      <p:sp>
        <p:nvSpPr>
          <p:cNvPr id="10" name="Text 6"/>
          <p:cNvSpPr txBox="1"/>
          <p:nvPr/>
        </p:nvSpPr>
        <p:spPr>
          <a:xfrm>
            <a:off x="6327648" y="2249424"/>
            <a:ext cx="503834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793 SINIESTROS MORTALES</a:t>
            </a:r>
            <a:endParaRPr lang="en-US" sz="1000" dirty="0"/>
          </a:p>
        </p:txBody>
      </p:sp>
      <p:pic>
        <p:nvPicPr>
          <p:cNvPr id="11" name="Image 1" descr="Mapa de siniestros mortales"/>
          <p:cNvPicPr>
            <a:picLocks noChangeAspect="1"/>
          </p:cNvPicPr>
          <p:nvPr/>
        </p:nvPicPr>
        <p:blipFill>
          <a:blip r:embed="rId4"/>
          <a:srcRect/>
          <a:stretch/>
        </p:blipFill>
        <p:spPr>
          <a:xfrm>
            <a:off x="6309360" y="2560320"/>
            <a:ext cx="5074920" cy="3474720"/>
          </a:xfrm>
          <a:prstGeom prst="rect">
            <a:avLst/>
          </a:prstGeom>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06 · ANÁLISIS Y VISUALIZACIÓN</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TODO EN UN DASHBOARD INTERACTIVO</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Programamos en Python (Streamlit) un dashboard que reúne todos los resultados y se puede filtrar por año y por zona.</a:t>
            </a:r>
            <a:endParaRPr lang="en-US" sz="1700" dirty="0"/>
          </a:p>
        </p:txBody>
      </p:sp>
      <p:pic>
        <p:nvPicPr>
          <p:cNvPr id="6" name="Image 0" descr="Captura del resumen del dashboard"/>
          <p:cNvPicPr>
            <a:picLocks noChangeAspect="1"/>
          </p:cNvPicPr>
          <p:nvPr/>
        </p:nvPicPr>
        <p:blipFill>
          <a:blip r:embed="rId3"/>
          <a:stretch>
            <a:fillRect/>
          </a:stretch>
        </p:blipFill>
        <p:spPr>
          <a:xfrm>
            <a:off x="548640" y="2103120"/>
            <a:ext cx="6903720" cy="4023360"/>
          </a:xfrm>
          <a:prstGeom prst="rect">
            <a:avLst/>
          </a:prstGeom>
        </p:spPr>
      </p:pic>
      <p:sp>
        <p:nvSpPr>
          <p:cNvPr id="7" name="Shape 3"/>
          <p:cNvSpPr/>
          <p:nvPr/>
        </p:nvSpPr>
        <p:spPr>
          <a:xfrm>
            <a:off x="548640" y="2103120"/>
            <a:ext cx="6903720" cy="4023360"/>
          </a:xfrm>
          <a:prstGeom prst="rect">
            <a:avLst/>
          </a:prstGeom>
          <a:ln w="15875">
            <a:solidFill>
              <a:srgbClr val="16150F"/>
            </a:solidFill>
            <a:prstDash val="solid"/>
          </a:ln>
        </p:spPr>
      </p:sp>
      <p:sp>
        <p:nvSpPr>
          <p:cNvPr id="8" name="tarjeta"/>
          <p:cNvSpPr/>
          <p:nvPr/>
        </p:nvSpPr>
        <p:spPr>
          <a:xfrm>
            <a:off x="7680960" y="2103120"/>
            <a:ext cx="3886200" cy="4023360"/>
          </a:xfrm>
          <a:prstGeom prst="rect">
            <a:avLst/>
          </a:prstGeom>
          <a:solidFill>
            <a:srgbClr val="16150F"/>
          </a:solidFill>
          <a:ln w="15875">
            <a:solidFill>
              <a:srgbClr val="16150F"/>
            </a:solidFill>
            <a:prstDash val="solid"/>
          </a:ln>
        </p:spPr>
      </p:sp>
      <p:sp>
        <p:nvSpPr>
          <p:cNvPr id="9" name="Text 5"/>
          <p:cNvSpPr txBox="1"/>
          <p:nvPr/>
        </p:nvSpPr>
        <p:spPr>
          <a:xfrm>
            <a:off x="7882128" y="2249424"/>
            <a:ext cx="3483864" cy="256032"/>
          </a:xfrm>
          <a:prstGeom prst="rect">
            <a:avLst/>
          </a:prstGeom>
          <a:noFill/>
          <a:ln/>
        </p:spPr>
        <p:txBody>
          <a:bodyPr wrap="square" lIns="0" tIns="0" rIns="0" bIns="0" rtlCol="0" anchor="ctr"/>
          <a:lstStyle/>
          <a:p>
            <a:pPr marL="0" indent="0">
              <a:buNone/>
            </a:pPr>
            <a:r>
              <a:rPr lang="en-US" sz="1000" kern="0" spc="200" dirty="0">
                <a:solidFill>
                  <a:srgbClr val="C9C2B0"/>
                </a:solidFill>
                <a:latin typeface="Consolas" pitchFamily="34" charset="0"/>
                <a:ea typeface="Consolas" pitchFamily="34" charset="-122"/>
                <a:cs typeface="Consolas" pitchFamily="34" charset="-120"/>
              </a:rPr>
              <a:t>7 SECCIONES</a:t>
            </a:r>
            <a:endParaRPr lang="en-US" sz="1000" dirty="0"/>
          </a:p>
        </p:txBody>
      </p:sp>
      <p:sp>
        <p:nvSpPr>
          <p:cNvPr id="10" name="Text 6"/>
          <p:cNvSpPr txBox="1"/>
          <p:nvPr/>
        </p:nvSpPr>
        <p:spPr>
          <a:xfrm>
            <a:off x="7909560" y="2487168"/>
            <a:ext cx="3474720" cy="438912"/>
          </a:xfrm>
          <a:prstGeom prst="rect">
            <a:avLst/>
          </a:prstGeom>
          <a:noFill/>
          <a:ln/>
        </p:spPr>
        <p:txBody>
          <a:bodyPr wrap="square" lIns="0" tIns="0" rIns="0" bIns="0" rtlCol="0" anchor="ctr"/>
          <a:lstStyle/>
          <a:p>
            <a:pPr marL="0" indent="0">
              <a:buNone/>
            </a:pPr>
            <a:r>
              <a:rPr lang="en-US" sz="1200" dirty="0">
                <a:solidFill>
                  <a:srgbClr val="E2563E"/>
                </a:solidFill>
                <a:latin typeface="Consolas" pitchFamily="34" charset="0"/>
                <a:ea typeface="Consolas" pitchFamily="34" charset="-122"/>
                <a:cs typeface="Consolas" pitchFamily="34" charset="-120"/>
              </a:rPr>
              <a:t>01  </a:t>
            </a:r>
            <a:r>
              <a:rPr lang="en-US" sz="2000" dirty="0">
                <a:solidFill>
                  <a:srgbClr val="F1EEE6"/>
                </a:solidFill>
                <a:latin typeface="Bahnschrift SemiBold Condensed" pitchFamily="34" charset="0"/>
                <a:ea typeface="Bahnschrift SemiBold Condensed" pitchFamily="34" charset="-122"/>
                <a:cs typeface="Bahnschrift SemiBold Condensed" pitchFamily="34" charset="-120"/>
              </a:rPr>
              <a:t>Resumen</a:t>
            </a:r>
            <a:endParaRPr lang="en-US" sz="1200" dirty="0"/>
          </a:p>
        </p:txBody>
      </p:sp>
      <p:sp>
        <p:nvSpPr>
          <p:cNvPr id="11" name="Text 7"/>
          <p:cNvSpPr txBox="1"/>
          <p:nvPr/>
        </p:nvSpPr>
        <p:spPr>
          <a:xfrm>
            <a:off x="7909560" y="2990088"/>
            <a:ext cx="3474720" cy="438912"/>
          </a:xfrm>
          <a:prstGeom prst="rect">
            <a:avLst/>
          </a:prstGeom>
          <a:noFill/>
          <a:ln/>
        </p:spPr>
        <p:txBody>
          <a:bodyPr wrap="square" lIns="0" tIns="0" rIns="0" bIns="0" rtlCol="0" anchor="ctr"/>
          <a:lstStyle/>
          <a:p>
            <a:pPr marL="0" indent="0">
              <a:buNone/>
            </a:pPr>
            <a:r>
              <a:rPr lang="en-US" sz="1200" dirty="0">
                <a:solidFill>
                  <a:srgbClr val="E2563E"/>
                </a:solidFill>
                <a:latin typeface="Consolas" pitchFamily="34" charset="0"/>
                <a:ea typeface="Consolas" pitchFamily="34" charset="-122"/>
                <a:cs typeface="Consolas" pitchFamily="34" charset="-120"/>
              </a:rPr>
              <a:t>02  </a:t>
            </a:r>
            <a:r>
              <a:rPr lang="en-US" sz="2000" dirty="0">
                <a:solidFill>
                  <a:srgbClr val="F1EEE6"/>
                </a:solidFill>
                <a:latin typeface="Bahnschrift SemiBold Condensed" pitchFamily="34" charset="0"/>
                <a:ea typeface="Bahnschrift SemiBold Condensed" pitchFamily="34" charset="-122"/>
                <a:cs typeface="Bahnschrift SemiBold Condensed" pitchFamily="34" charset="-120"/>
              </a:rPr>
              <a:t>Mapa de riesgo</a:t>
            </a:r>
            <a:endParaRPr lang="en-US" sz="1200" dirty="0"/>
          </a:p>
        </p:txBody>
      </p:sp>
      <p:sp>
        <p:nvSpPr>
          <p:cNvPr id="12" name="Text 8"/>
          <p:cNvSpPr txBox="1"/>
          <p:nvPr/>
        </p:nvSpPr>
        <p:spPr>
          <a:xfrm>
            <a:off x="7909560" y="3493008"/>
            <a:ext cx="3474720" cy="438912"/>
          </a:xfrm>
          <a:prstGeom prst="rect">
            <a:avLst/>
          </a:prstGeom>
          <a:noFill/>
          <a:ln/>
        </p:spPr>
        <p:txBody>
          <a:bodyPr wrap="square" lIns="0" tIns="0" rIns="0" bIns="0" rtlCol="0" anchor="ctr"/>
          <a:lstStyle/>
          <a:p>
            <a:pPr marL="0" indent="0">
              <a:buNone/>
            </a:pPr>
            <a:r>
              <a:rPr lang="en-US" sz="1200" dirty="0">
                <a:solidFill>
                  <a:srgbClr val="E2563E"/>
                </a:solidFill>
                <a:latin typeface="Consolas" pitchFamily="34" charset="0"/>
                <a:ea typeface="Consolas" pitchFamily="34" charset="-122"/>
                <a:cs typeface="Consolas" pitchFamily="34" charset="-120"/>
              </a:rPr>
              <a:t>03  </a:t>
            </a:r>
            <a:r>
              <a:rPr lang="en-US" sz="2000" dirty="0">
                <a:solidFill>
                  <a:srgbClr val="F1EEE6"/>
                </a:solidFill>
                <a:latin typeface="Bahnschrift SemiBold Condensed" pitchFamily="34" charset="0"/>
                <a:ea typeface="Bahnschrift SemiBold Condensed" pitchFamily="34" charset="-122"/>
                <a:cs typeface="Bahnschrift SemiBold Condensed" pitchFamily="34" charset="-120"/>
              </a:rPr>
              <a:t>Cuándo ocurren</a:t>
            </a:r>
            <a:endParaRPr lang="en-US" sz="1200" dirty="0"/>
          </a:p>
        </p:txBody>
      </p:sp>
      <p:sp>
        <p:nvSpPr>
          <p:cNvPr id="13" name="Text 9"/>
          <p:cNvSpPr txBox="1"/>
          <p:nvPr/>
        </p:nvSpPr>
        <p:spPr>
          <a:xfrm>
            <a:off x="7909560" y="3995928"/>
            <a:ext cx="3474720" cy="438912"/>
          </a:xfrm>
          <a:prstGeom prst="rect">
            <a:avLst/>
          </a:prstGeom>
          <a:noFill/>
          <a:ln/>
        </p:spPr>
        <p:txBody>
          <a:bodyPr wrap="square" lIns="0" tIns="0" rIns="0" bIns="0" rtlCol="0" anchor="ctr"/>
          <a:lstStyle/>
          <a:p>
            <a:pPr marL="0" indent="0">
              <a:buNone/>
            </a:pPr>
            <a:r>
              <a:rPr lang="en-US" sz="1200" dirty="0">
                <a:solidFill>
                  <a:srgbClr val="E2563E"/>
                </a:solidFill>
                <a:latin typeface="Consolas" pitchFamily="34" charset="0"/>
                <a:ea typeface="Consolas" pitchFamily="34" charset="-122"/>
                <a:cs typeface="Consolas" pitchFamily="34" charset="-120"/>
              </a:rPr>
              <a:t>04  </a:t>
            </a:r>
            <a:r>
              <a:rPr lang="en-US" sz="2000" dirty="0">
                <a:solidFill>
                  <a:srgbClr val="F1EEE6"/>
                </a:solidFill>
                <a:latin typeface="Bahnschrift SemiBold Condensed" pitchFamily="34" charset="0"/>
                <a:ea typeface="Bahnschrift SemiBold Condensed" pitchFamily="34" charset="-122"/>
                <a:cs typeface="Bahnschrift SemiBold Condensed" pitchFamily="34" charset="-120"/>
              </a:rPr>
              <a:t>Causas y perfil</a:t>
            </a:r>
            <a:endParaRPr lang="en-US" sz="1200" dirty="0"/>
          </a:p>
        </p:txBody>
      </p:sp>
      <p:sp>
        <p:nvSpPr>
          <p:cNvPr id="14" name="Text 10"/>
          <p:cNvSpPr txBox="1"/>
          <p:nvPr/>
        </p:nvSpPr>
        <p:spPr>
          <a:xfrm>
            <a:off x="7909560" y="4498848"/>
            <a:ext cx="3474720" cy="438912"/>
          </a:xfrm>
          <a:prstGeom prst="rect">
            <a:avLst/>
          </a:prstGeom>
          <a:noFill/>
          <a:ln/>
        </p:spPr>
        <p:txBody>
          <a:bodyPr wrap="square" lIns="0" tIns="0" rIns="0" bIns="0" rtlCol="0" anchor="ctr"/>
          <a:lstStyle/>
          <a:p>
            <a:pPr marL="0" indent="0">
              <a:buNone/>
            </a:pPr>
            <a:r>
              <a:rPr lang="en-US" sz="1200" dirty="0">
                <a:solidFill>
                  <a:srgbClr val="E2563E"/>
                </a:solidFill>
                <a:latin typeface="Consolas" pitchFamily="34" charset="0"/>
                <a:ea typeface="Consolas" pitchFamily="34" charset="-122"/>
                <a:cs typeface="Consolas" pitchFamily="34" charset="-120"/>
              </a:rPr>
              <a:t>05  </a:t>
            </a:r>
            <a:r>
              <a:rPr lang="en-US" sz="2000" dirty="0">
                <a:solidFill>
                  <a:srgbClr val="F1EEE6"/>
                </a:solidFill>
                <a:latin typeface="Bahnschrift SemiBold Condensed" pitchFamily="34" charset="0"/>
                <a:ea typeface="Bahnschrift SemiBold Condensed" pitchFamily="34" charset="-122"/>
                <a:cs typeface="Bahnschrift SemiBold Condensed" pitchFamily="34" charset="-120"/>
              </a:rPr>
              <a:t>Grupos de riesgo</a:t>
            </a:r>
            <a:endParaRPr lang="en-US" sz="1200" dirty="0"/>
          </a:p>
        </p:txBody>
      </p:sp>
      <p:sp>
        <p:nvSpPr>
          <p:cNvPr id="15" name="Text 11"/>
          <p:cNvSpPr txBox="1"/>
          <p:nvPr/>
        </p:nvSpPr>
        <p:spPr>
          <a:xfrm>
            <a:off x="7909560" y="5001768"/>
            <a:ext cx="3474720" cy="438912"/>
          </a:xfrm>
          <a:prstGeom prst="rect">
            <a:avLst/>
          </a:prstGeom>
          <a:noFill/>
          <a:ln/>
        </p:spPr>
        <p:txBody>
          <a:bodyPr wrap="square" lIns="0" tIns="0" rIns="0" bIns="0" rtlCol="0" anchor="ctr"/>
          <a:lstStyle/>
          <a:p>
            <a:pPr marL="0" indent="0">
              <a:buNone/>
            </a:pPr>
            <a:r>
              <a:rPr lang="en-US" sz="1200" dirty="0">
                <a:solidFill>
                  <a:srgbClr val="E2563E"/>
                </a:solidFill>
                <a:latin typeface="Consolas" pitchFamily="34" charset="0"/>
                <a:ea typeface="Consolas" pitchFamily="34" charset="-122"/>
                <a:cs typeface="Consolas" pitchFamily="34" charset="-120"/>
              </a:rPr>
              <a:t>06  </a:t>
            </a:r>
            <a:r>
              <a:rPr lang="en-US" sz="2000" dirty="0">
                <a:solidFill>
                  <a:srgbClr val="F1EEE6"/>
                </a:solidFill>
                <a:latin typeface="Bahnschrift SemiBold Condensed" pitchFamily="34" charset="0"/>
                <a:ea typeface="Bahnschrift SemiBold Condensed" pitchFamily="34" charset="-122"/>
                <a:cs typeface="Bahnschrift SemiBold Condensed" pitchFamily="34" charset="-120"/>
              </a:rPr>
              <a:t>Simulador</a:t>
            </a:r>
            <a:endParaRPr lang="en-US" sz="1200" dirty="0"/>
          </a:p>
        </p:txBody>
      </p:sp>
      <p:sp>
        <p:nvSpPr>
          <p:cNvPr id="16" name="Text 12"/>
          <p:cNvSpPr txBox="1"/>
          <p:nvPr/>
        </p:nvSpPr>
        <p:spPr>
          <a:xfrm>
            <a:off x="7909560" y="5504688"/>
            <a:ext cx="3474720" cy="438912"/>
          </a:xfrm>
          <a:prstGeom prst="rect">
            <a:avLst/>
          </a:prstGeom>
          <a:noFill/>
          <a:ln/>
        </p:spPr>
        <p:txBody>
          <a:bodyPr wrap="square" lIns="0" tIns="0" rIns="0" bIns="0" rtlCol="0" anchor="ctr"/>
          <a:lstStyle/>
          <a:p>
            <a:pPr marL="0" indent="0">
              <a:buNone/>
            </a:pPr>
            <a:r>
              <a:rPr lang="en-US" sz="1200" dirty="0">
                <a:solidFill>
                  <a:srgbClr val="E2563E"/>
                </a:solidFill>
                <a:latin typeface="Consolas" pitchFamily="34" charset="0"/>
                <a:ea typeface="Consolas" pitchFamily="34" charset="-122"/>
                <a:cs typeface="Consolas" pitchFamily="34" charset="-120"/>
              </a:rPr>
              <a:t>07  </a:t>
            </a:r>
            <a:r>
              <a:rPr lang="en-US" sz="2000" dirty="0">
                <a:solidFill>
                  <a:srgbClr val="F1EEE6"/>
                </a:solidFill>
                <a:latin typeface="Bahnschrift SemiBold Condensed" pitchFamily="34" charset="0"/>
                <a:ea typeface="Bahnschrift SemiBold Condensed" pitchFamily="34" charset="-122"/>
                <a:cs typeface="Bahnschrift SemiBold Condensed" pitchFamily="34" charset="-120"/>
              </a:rPr>
              <a:t>Datos y descarga</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06 · ANÁLISIS Y VISUALIZACIÓN</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SIMULADOR DE RIESGO</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Eliges un día, una hora y una zona, y el dashboard calcula un índice de riesgo de 0 a 10 según lo que ha pasado antes.</a:t>
            </a:r>
            <a:endParaRPr lang="en-US" sz="1700" dirty="0"/>
          </a:p>
        </p:txBody>
      </p:sp>
      <p:pic>
        <p:nvPicPr>
          <p:cNvPr id="6" name="Image 0" descr="Captura del simulador del dashboard"/>
          <p:cNvPicPr>
            <a:picLocks noChangeAspect="1"/>
          </p:cNvPicPr>
          <p:nvPr/>
        </p:nvPicPr>
        <p:blipFill>
          <a:blip r:embed="rId3"/>
          <a:stretch>
            <a:fillRect/>
          </a:stretch>
        </p:blipFill>
        <p:spPr>
          <a:xfrm>
            <a:off x="548640" y="2103120"/>
            <a:ext cx="6903720" cy="4023360"/>
          </a:xfrm>
          <a:prstGeom prst="rect">
            <a:avLst/>
          </a:prstGeom>
        </p:spPr>
      </p:pic>
      <p:sp>
        <p:nvSpPr>
          <p:cNvPr id="7" name="Shape 3"/>
          <p:cNvSpPr/>
          <p:nvPr/>
        </p:nvSpPr>
        <p:spPr>
          <a:xfrm>
            <a:off x="548640" y="2103120"/>
            <a:ext cx="6903720" cy="4023360"/>
          </a:xfrm>
          <a:prstGeom prst="rect">
            <a:avLst/>
          </a:prstGeom>
          <a:ln w="15875">
            <a:solidFill>
              <a:srgbClr val="16150F"/>
            </a:solidFill>
            <a:prstDash val="solid"/>
          </a:ln>
        </p:spPr>
      </p:sp>
      <p:sp>
        <p:nvSpPr>
          <p:cNvPr id="8" name="tarjeta"/>
          <p:cNvSpPr/>
          <p:nvPr/>
        </p:nvSpPr>
        <p:spPr>
          <a:xfrm>
            <a:off x="7680960" y="2103120"/>
            <a:ext cx="3886200" cy="4023360"/>
          </a:xfrm>
          <a:prstGeom prst="rect">
            <a:avLst/>
          </a:prstGeom>
          <a:solidFill>
            <a:srgbClr val="FBFAF6"/>
          </a:solidFill>
          <a:ln w="15875">
            <a:solidFill>
              <a:srgbClr val="16150F"/>
            </a:solidFill>
            <a:prstDash val="solid"/>
          </a:ln>
        </p:spPr>
      </p:sp>
      <p:sp>
        <p:nvSpPr>
          <p:cNvPr id="9" name="Text 5"/>
          <p:cNvSpPr txBox="1"/>
          <p:nvPr/>
        </p:nvSpPr>
        <p:spPr>
          <a:xfrm>
            <a:off x="7882128" y="2249424"/>
            <a:ext cx="348386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CÓMO SE LEE EL ÍNDICE</a:t>
            </a:r>
            <a:endParaRPr lang="en-US" sz="1000" dirty="0"/>
          </a:p>
        </p:txBody>
      </p:sp>
      <p:sp>
        <p:nvSpPr>
          <p:cNvPr id="10" name="Shape 6"/>
          <p:cNvSpPr/>
          <p:nvPr/>
        </p:nvSpPr>
        <p:spPr>
          <a:xfrm>
            <a:off x="7909560" y="2514600"/>
            <a:ext cx="1234440" cy="438912"/>
          </a:xfrm>
          <a:prstGeom prst="rect">
            <a:avLst/>
          </a:prstGeom>
          <a:solidFill>
            <a:srgbClr val="DDD7C8"/>
          </a:solidFill>
          <a:ln w="12700">
            <a:solidFill>
              <a:srgbClr val="DDD7C8"/>
            </a:solidFill>
            <a:prstDash val="solid"/>
          </a:ln>
        </p:spPr>
      </p:sp>
      <p:sp>
        <p:nvSpPr>
          <p:cNvPr id="11" name="Text 7"/>
          <p:cNvSpPr txBox="1"/>
          <p:nvPr/>
        </p:nvSpPr>
        <p:spPr>
          <a:xfrm>
            <a:off x="7909560" y="2514600"/>
            <a:ext cx="1234440" cy="438912"/>
          </a:xfrm>
          <a:prstGeom prst="rect">
            <a:avLst/>
          </a:prstGeom>
          <a:noFill/>
          <a:ln/>
        </p:spPr>
        <p:txBody>
          <a:bodyPr wrap="square" lIns="0" tIns="0" rIns="0" bIns="0" rtlCol="0" anchor="ctr"/>
          <a:lstStyle/>
          <a:p>
            <a:pPr marL="0" indent="0" algn="ctr">
              <a:buNone/>
            </a:pPr>
            <a:r>
              <a:rPr lang="en-US" sz="1600" dirty="0">
                <a:solidFill>
                  <a:srgbClr val="16150F"/>
                </a:solidFill>
                <a:latin typeface="Bahnschrift SemiBold Condensed" pitchFamily="34" charset="0"/>
                <a:ea typeface="Bahnschrift SemiBold Condensed" pitchFamily="34" charset="-122"/>
                <a:cs typeface="Bahnschrift SemiBold Condensed" pitchFamily="34" charset="-120"/>
              </a:rPr>
              <a:t>BAJO</a:t>
            </a:r>
            <a:endParaRPr lang="en-US" sz="1600" dirty="0"/>
          </a:p>
        </p:txBody>
      </p:sp>
      <p:sp>
        <p:nvSpPr>
          <p:cNvPr id="12" name="Text 8"/>
          <p:cNvSpPr txBox="1"/>
          <p:nvPr/>
        </p:nvSpPr>
        <p:spPr>
          <a:xfrm>
            <a:off x="9281160" y="2514600"/>
            <a:ext cx="2103120" cy="438912"/>
          </a:xfrm>
          <a:prstGeom prst="rect">
            <a:avLst/>
          </a:prstGeom>
          <a:noFill/>
          <a:ln/>
        </p:spPr>
        <p:txBody>
          <a:bodyPr wrap="square" lIns="0" tIns="0" rIns="0" bIns="0" rtlCol="0" anchor="ctr"/>
          <a:lstStyle/>
          <a:p>
            <a:pPr marL="0" indent="0">
              <a:buNone/>
            </a:pPr>
            <a:r>
              <a:rPr lang="en-US" sz="1300" dirty="0">
                <a:solidFill>
                  <a:srgbClr val="3A372F"/>
                </a:solidFill>
                <a:latin typeface="Consolas" pitchFamily="34" charset="0"/>
                <a:ea typeface="Consolas" pitchFamily="34" charset="-122"/>
                <a:cs typeface="Consolas" pitchFamily="34" charset="-120"/>
              </a:rPr>
              <a:t>0 – 3,9</a:t>
            </a:r>
            <a:endParaRPr lang="en-US" sz="1300" dirty="0"/>
          </a:p>
        </p:txBody>
      </p:sp>
      <p:sp>
        <p:nvSpPr>
          <p:cNvPr id="13" name="Shape 9"/>
          <p:cNvSpPr/>
          <p:nvPr/>
        </p:nvSpPr>
        <p:spPr>
          <a:xfrm>
            <a:off x="7909560" y="3081528"/>
            <a:ext cx="1234440" cy="438912"/>
          </a:xfrm>
          <a:prstGeom prst="rect">
            <a:avLst/>
          </a:prstGeom>
          <a:solidFill>
            <a:srgbClr val="A39D8C"/>
          </a:solidFill>
          <a:ln w="12700">
            <a:solidFill>
              <a:srgbClr val="A39D8C"/>
            </a:solidFill>
            <a:prstDash val="solid"/>
          </a:ln>
        </p:spPr>
      </p:sp>
      <p:sp>
        <p:nvSpPr>
          <p:cNvPr id="14" name="Text 10"/>
          <p:cNvSpPr txBox="1"/>
          <p:nvPr/>
        </p:nvSpPr>
        <p:spPr>
          <a:xfrm>
            <a:off x="7909560" y="3081528"/>
            <a:ext cx="1234440" cy="438912"/>
          </a:xfrm>
          <a:prstGeom prst="rect">
            <a:avLst/>
          </a:prstGeom>
          <a:noFill/>
          <a:ln/>
        </p:spPr>
        <p:txBody>
          <a:bodyPr wrap="square" lIns="0" tIns="0" rIns="0" bIns="0" rtlCol="0" anchor="ctr"/>
          <a:lstStyle/>
          <a:p>
            <a:pPr marL="0" indent="0" algn="ctr">
              <a:buNone/>
            </a:pPr>
            <a:r>
              <a:rPr lang="en-US" sz="1600" dirty="0">
                <a:solidFill>
                  <a:srgbClr val="FFFFFF"/>
                </a:solidFill>
                <a:latin typeface="Bahnschrift SemiBold Condensed" pitchFamily="34" charset="0"/>
                <a:ea typeface="Bahnschrift SemiBold Condensed" pitchFamily="34" charset="-122"/>
                <a:cs typeface="Bahnschrift SemiBold Condensed" pitchFamily="34" charset="-120"/>
              </a:rPr>
              <a:t>MEDIO</a:t>
            </a:r>
            <a:endParaRPr lang="en-US" sz="1600" dirty="0"/>
          </a:p>
        </p:txBody>
      </p:sp>
      <p:sp>
        <p:nvSpPr>
          <p:cNvPr id="15" name="Text 11"/>
          <p:cNvSpPr txBox="1"/>
          <p:nvPr/>
        </p:nvSpPr>
        <p:spPr>
          <a:xfrm>
            <a:off x="9281160" y="3081528"/>
            <a:ext cx="2103120" cy="438912"/>
          </a:xfrm>
          <a:prstGeom prst="rect">
            <a:avLst/>
          </a:prstGeom>
          <a:noFill/>
          <a:ln/>
        </p:spPr>
        <p:txBody>
          <a:bodyPr wrap="square" lIns="0" tIns="0" rIns="0" bIns="0" rtlCol="0" anchor="ctr"/>
          <a:lstStyle/>
          <a:p>
            <a:pPr marL="0" indent="0">
              <a:buNone/>
            </a:pPr>
            <a:r>
              <a:rPr lang="en-US" sz="1300" dirty="0">
                <a:solidFill>
                  <a:srgbClr val="3A372F"/>
                </a:solidFill>
                <a:latin typeface="Consolas" pitchFamily="34" charset="0"/>
                <a:ea typeface="Consolas" pitchFamily="34" charset="-122"/>
                <a:cs typeface="Consolas" pitchFamily="34" charset="-120"/>
              </a:rPr>
              <a:t>4 – 5,9</a:t>
            </a:r>
            <a:endParaRPr lang="en-US" sz="1300" dirty="0"/>
          </a:p>
        </p:txBody>
      </p:sp>
      <p:sp>
        <p:nvSpPr>
          <p:cNvPr id="16" name="Shape 12"/>
          <p:cNvSpPr/>
          <p:nvPr/>
        </p:nvSpPr>
        <p:spPr>
          <a:xfrm>
            <a:off x="7909560" y="3648456"/>
            <a:ext cx="1234440" cy="438912"/>
          </a:xfrm>
          <a:prstGeom prst="rect">
            <a:avLst/>
          </a:prstGeom>
          <a:solidFill>
            <a:srgbClr val="16150F"/>
          </a:solidFill>
          <a:ln w="12700">
            <a:solidFill>
              <a:srgbClr val="16150F"/>
            </a:solidFill>
            <a:prstDash val="solid"/>
          </a:ln>
        </p:spPr>
      </p:sp>
      <p:sp>
        <p:nvSpPr>
          <p:cNvPr id="17" name="Text 13"/>
          <p:cNvSpPr txBox="1"/>
          <p:nvPr/>
        </p:nvSpPr>
        <p:spPr>
          <a:xfrm>
            <a:off x="7909560" y="3648456"/>
            <a:ext cx="1234440" cy="438912"/>
          </a:xfrm>
          <a:prstGeom prst="rect">
            <a:avLst/>
          </a:prstGeom>
          <a:noFill/>
          <a:ln/>
        </p:spPr>
        <p:txBody>
          <a:bodyPr wrap="square" lIns="0" tIns="0" rIns="0" bIns="0" rtlCol="0" anchor="ctr"/>
          <a:lstStyle/>
          <a:p>
            <a:pPr marL="0" indent="0" algn="ctr">
              <a:buNone/>
            </a:pPr>
            <a:r>
              <a:rPr lang="en-US" sz="1600" dirty="0">
                <a:solidFill>
                  <a:srgbClr val="FFFFFF"/>
                </a:solidFill>
                <a:latin typeface="Bahnschrift SemiBold Condensed" pitchFamily="34" charset="0"/>
                <a:ea typeface="Bahnschrift SemiBold Condensed" pitchFamily="34" charset="-122"/>
                <a:cs typeface="Bahnschrift SemiBold Condensed" pitchFamily="34" charset="-120"/>
              </a:rPr>
              <a:t>ALTO</a:t>
            </a:r>
            <a:endParaRPr lang="en-US" sz="1600" dirty="0"/>
          </a:p>
        </p:txBody>
      </p:sp>
      <p:sp>
        <p:nvSpPr>
          <p:cNvPr id="18" name="Text 14"/>
          <p:cNvSpPr txBox="1"/>
          <p:nvPr/>
        </p:nvSpPr>
        <p:spPr>
          <a:xfrm>
            <a:off x="9281160" y="3648456"/>
            <a:ext cx="2103120" cy="438912"/>
          </a:xfrm>
          <a:prstGeom prst="rect">
            <a:avLst/>
          </a:prstGeom>
          <a:noFill/>
          <a:ln/>
        </p:spPr>
        <p:txBody>
          <a:bodyPr wrap="square" lIns="0" tIns="0" rIns="0" bIns="0" rtlCol="0" anchor="ctr"/>
          <a:lstStyle/>
          <a:p>
            <a:pPr marL="0" indent="0">
              <a:buNone/>
            </a:pPr>
            <a:r>
              <a:rPr lang="en-US" sz="1300" dirty="0">
                <a:solidFill>
                  <a:srgbClr val="3A372F"/>
                </a:solidFill>
                <a:latin typeface="Consolas" pitchFamily="34" charset="0"/>
                <a:ea typeface="Consolas" pitchFamily="34" charset="-122"/>
                <a:cs typeface="Consolas" pitchFamily="34" charset="-120"/>
              </a:rPr>
              <a:t>6 – 7,9</a:t>
            </a:r>
            <a:endParaRPr lang="en-US" sz="1300" dirty="0"/>
          </a:p>
        </p:txBody>
      </p:sp>
      <p:sp>
        <p:nvSpPr>
          <p:cNvPr id="19" name="Shape 15"/>
          <p:cNvSpPr/>
          <p:nvPr/>
        </p:nvSpPr>
        <p:spPr>
          <a:xfrm>
            <a:off x="7909560" y="4215384"/>
            <a:ext cx="1234440" cy="438912"/>
          </a:xfrm>
          <a:prstGeom prst="rect">
            <a:avLst/>
          </a:prstGeom>
          <a:solidFill>
            <a:srgbClr val="B8321F"/>
          </a:solidFill>
          <a:ln w="12700">
            <a:solidFill>
              <a:srgbClr val="B8321F"/>
            </a:solidFill>
            <a:prstDash val="solid"/>
          </a:ln>
        </p:spPr>
      </p:sp>
      <p:sp>
        <p:nvSpPr>
          <p:cNvPr id="20" name="Text 16"/>
          <p:cNvSpPr txBox="1"/>
          <p:nvPr/>
        </p:nvSpPr>
        <p:spPr>
          <a:xfrm>
            <a:off x="7909560" y="4215384"/>
            <a:ext cx="1234440" cy="438912"/>
          </a:xfrm>
          <a:prstGeom prst="rect">
            <a:avLst/>
          </a:prstGeom>
          <a:noFill/>
          <a:ln/>
        </p:spPr>
        <p:txBody>
          <a:bodyPr wrap="square" lIns="0" tIns="0" rIns="0" bIns="0" rtlCol="0" anchor="ctr"/>
          <a:lstStyle/>
          <a:p>
            <a:pPr marL="0" indent="0" algn="ctr">
              <a:buNone/>
            </a:pPr>
            <a:r>
              <a:rPr lang="en-US" sz="1600" dirty="0">
                <a:solidFill>
                  <a:srgbClr val="FFFFFF"/>
                </a:solidFill>
                <a:latin typeface="Bahnschrift SemiBold Condensed" pitchFamily="34" charset="0"/>
                <a:ea typeface="Bahnschrift SemiBold Condensed" pitchFamily="34" charset="-122"/>
                <a:cs typeface="Bahnschrift SemiBold Condensed" pitchFamily="34" charset="-120"/>
              </a:rPr>
              <a:t>CRÍTICO</a:t>
            </a:r>
            <a:endParaRPr lang="en-US" sz="1600" dirty="0"/>
          </a:p>
        </p:txBody>
      </p:sp>
      <p:sp>
        <p:nvSpPr>
          <p:cNvPr id="21" name="Text 17"/>
          <p:cNvSpPr txBox="1"/>
          <p:nvPr/>
        </p:nvSpPr>
        <p:spPr>
          <a:xfrm>
            <a:off x="9281160" y="4215384"/>
            <a:ext cx="2103120" cy="438912"/>
          </a:xfrm>
          <a:prstGeom prst="rect">
            <a:avLst/>
          </a:prstGeom>
          <a:noFill/>
          <a:ln/>
        </p:spPr>
        <p:txBody>
          <a:bodyPr wrap="square" lIns="0" tIns="0" rIns="0" bIns="0" rtlCol="0" anchor="ctr"/>
          <a:lstStyle/>
          <a:p>
            <a:pPr marL="0" indent="0">
              <a:buNone/>
            </a:pPr>
            <a:r>
              <a:rPr lang="en-US" sz="1300" dirty="0">
                <a:solidFill>
                  <a:srgbClr val="3A372F"/>
                </a:solidFill>
                <a:latin typeface="Consolas" pitchFamily="34" charset="0"/>
                <a:ea typeface="Consolas" pitchFamily="34" charset="-122"/>
                <a:cs typeface="Consolas" pitchFamily="34" charset="-120"/>
              </a:rPr>
              <a:t>8 – 10</a:t>
            </a:r>
            <a:endParaRPr lang="en-US" sz="1300" dirty="0"/>
          </a:p>
        </p:txBody>
      </p:sp>
      <p:sp>
        <p:nvSpPr>
          <p:cNvPr id="22" name="Text 18"/>
          <p:cNvSpPr txBox="1"/>
          <p:nvPr/>
        </p:nvSpPr>
        <p:spPr>
          <a:xfrm>
            <a:off x="7909560" y="4892040"/>
            <a:ext cx="3474720" cy="1143000"/>
          </a:xfrm>
          <a:prstGeom prst="rect">
            <a:avLst/>
          </a:prstGeom>
          <a:noFill/>
          <a:ln/>
        </p:spPr>
        <p:txBody>
          <a:bodyPr wrap="square" lIns="0" tIns="0" rIns="0" bIns="0" rtlCol="0" anchor="t"/>
          <a:lstStyle/>
          <a:p>
            <a:pPr marL="0" indent="0">
              <a:buNone/>
            </a:pPr>
            <a:r>
              <a:rPr lang="en-US" sz="1400" i="1" dirty="0">
                <a:solidFill>
                  <a:srgbClr val="3A372F"/>
                </a:solidFill>
                <a:latin typeface="Georgia" pitchFamily="34" charset="0"/>
                <a:ea typeface="Georgia" pitchFamily="34" charset="-122"/>
                <a:cs typeface="Georgia" pitchFamily="34" charset="-120"/>
              </a:rPr>
              <a:t>5 = una hora normal. Sábado 02:00 en la ciudad: 9,1 (crítico).</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07 · RESULTADOS Y HALLAZGOS</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QUÉ DESCUBRIMOS</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Estos son los seis hallazgos más importantes; el último es el que más nos llamó la atención.</a:t>
            </a:r>
            <a:endParaRPr lang="en-US" sz="1700" dirty="0"/>
          </a:p>
        </p:txBody>
      </p:sp>
      <p:sp>
        <p:nvSpPr>
          <p:cNvPr id="6" name="tarjeta"/>
          <p:cNvSpPr/>
          <p:nvPr/>
        </p:nvSpPr>
        <p:spPr>
          <a:xfrm>
            <a:off x="548640" y="2103120"/>
            <a:ext cx="3520440" cy="1874520"/>
          </a:xfrm>
          <a:prstGeom prst="rect">
            <a:avLst/>
          </a:prstGeom>
          <a:solidFill>
            <a:srgbClr val="FBFAF6"/>
          </a:solidFill>
          <a:ln w="15875">
            <a:solidFill>
              <a:srgbClr val="16150F"/>
            </a:solidFill>
            <a:prstDash val="solid"/>
          </a:ln>
        </p:spPr>
      </p:sp>
      <p:sp>
        <p:nvSpPr>
          <p:cNvPr id="7" name="Text 4"/>
          <p:cNvSpPr txBox="1"/>
          <p:nvPr/>
        </p:nvSpPr>
        <p:spPr>
          <a:xfrm>
            <a:off x="749808" y="2304288"/>
            <a:ext cx="3108960" cy="701040"/>
          </a:xfrm>
          <a:prstGeom prst="rect">
            <a:avLst/>
          </a:prstGeom>
          <a:noFill/>
          <a:ln/>
        </p:spPr>
        <p:txBody>
          <a:bodyPr wrap="square" lIns="0" tIns="0" rIns="0" bIns="0" rtlCol="0" anchor="ctr"/>
          <a:lstStyle/>
          <a:p>
            <a:pPr marL="0" indent="0">
              <a:buNone/>
            </a:pPr>
            <a:r>
              <a:rPr lang="en-US" sz="4600" dirty="0">
                <a:solidFill>
                  <a:srgbClr val="B8321F"/>
                </a:solidFill>
                <a:latin typeface="Bahnschrift SemiBold Condensed" pitchFamily="34" charset="0"/>
                <a:ea typeface="Bahnschrift SemiBold Condensed" pitchFamily="34" charset="-122"/>
                <a:cs typeface="Bahnschrift SemiBold Condensed" pitchFamily="34" charset="-120"/>
              </a:rPr>
              <a:t>×2,7</a:t>
            </a:r>
            <a:endParaRPr lang="en-US" sz="4600" dirty="0"/>
          </a:p>
        </p:txBody>
      </p:sp>
      <p:sp>
        <p:nvSpPr>
          <p:cNvPr id="8" name="Text 5"/>
          <p:cNvSpPr txBox="1"/>
          <p:nvPr/>
        </p:nvSpPr>
        <p:spPr>
          <a:xfrm>
            <a:off x="749808" y="3035808"/>
            <a:ext cx="3154680" cy="365760"/>
          </a:xfrm>
          <a:prstGeom prst="rect">
            <a:avLst/>
          </a:prstGeom>
          <a:noFill/>
          <a:ln/>
        </p:spPr>
        <p:txBody>
          <a:bodyPr wrap="square" lIns="0" tIns="0" rIns="0" bIns="0" rtlCol="0" anchor="ctr"/>
          <a:lstStyle/>
          <a:p>
            <a:pPr marL="0" indent="0">
              <a:buNone/>
            </a:pPr>
            <a:r>
              <a:rPr lang="en-US" sz="1800" dirty="0">
                <a:solidFill>
                  <a:srgbClr val="16150F"/>
                </a:solidFill>
                <a:latin typeface="Bahnschrift SemiBold Condensed" pitchFamily="34" charset="0"/>
                <a:ea typeface="Bahnschrift SemiBold Condensed" pitchFamily="34" charset="-122"/>
                <a:cs typeface="Bahnschrift SemiBold Condensed" pitchFamily="34" charset="-120"/>
              </a:rPr>
              <a:t>más mortales que en 2017</a:t>
            </a:r>
            <a:endParaRPr lang="en-US" sz="1800" dirty="0"/>
          </a:p>
        </p:txBody>
      </p:sp>
      <p:sp>
        <p:nvSpPr>
          <p:cNvPr id="9" name="Text 6"/>
          <p:cNvSpPr txBox="1"/>
          <p:nvPr/>
        </p:nvSpPr>
        <p:spPr>
          <a:xfrm>
            <a:off x="749808" y="3401568"/>
            <a:ext cx="3154680" cy="502920"/>
          </a:xfrm>
          <a:prstGeom prst="rect">
            <a:avLst/>
          </a:prstGeom>
          <a:noFill/>
          <a:ln/>
        </p:spPr>
        <p:txBody>
          <a:bodyPr wrap="square" lIns="0" tIns="0" rIns="0" bIns="0" rtlCol="0" anchor="t"/>
          <a:lstStyle/>
          <a:p>
            <a:pPr marL="0" indent="0">
              <a:buNone/>
            </a:pPr>
            <a:r>
              <a:rPr lang="en-US" sz="1300" i="1" dirty="0">
                <a:solidFill>
                  <a:srgbClr val="3A372F"/>
                </a:solidFill>
                <a:latin typeface="Georgia" pitchFamily="34" charset="0"/>
                <a:ea typeface="Georgia" pitchFamily="34" charset="-122"/>
                <a:cs typeface="Georgia" pitchFamily="34" charset="-120"/>
              </a:rPr>
              <a:t>Hay menos siniestros, pero cada uno es más grave.</a:t>
            </a:r>
            <a:endParaRPr lang="en-US" sz="1300" dirty="0"/>
          </a:p>
        </p:txBody>
      </p:sp>
      <p:sp>
        <p:nvSpPr>
          <p:cNvPr id="10" name="tarjeta"/>
          <p:cNvSpPr/>
          <p:nvPr/>
        </p:nvSpPr>
        <p:spPr>
          <a:xfrm>
            <a:off x="4297680" y="2103120"/>
            <a:ext cx="3520440" cy="1874520"/>
          </a:xfrm>
          <a:prstGeom prst="rect">
            <a:avLst/>
          </a:prstGeom>
          <a:solidFill>
            <a:srgbClr val="FBFAF6"/>
          </a:solidFill>
          <a:ln w="15875">
            <a:solidFill>
              <a:srgbClr val="16150F"/>
            </a:solidFill>
            <a:prstDash val="solid"/>
          </a:ln>
        </p:spPr>
      </p:sp>
      <p:sp>
        <p:nvSpPr>
          <p:cNvPr id="11" name="Text 8"/>
          <p:cNvSpPr txBox="1"/>
          <p:nvPr/>
        </p:nvSpPr>
        <p:spPr>
          <a:xfrm>
            <a:off x="4498848" y="2304288"/>
            <a:ext cx="3108960" cy="609600"/>
          </a:xfrm>
          <a:prstGeom prst="rect">
            <a:avLst/>
          </a:prstGeom>
          <a:noFill/>
          <a:ln/>
        </p:spPr>
        <p:txBody>
          <a:bodyPr wrap="square" lIns="0" tIns="0" rIns="0" bIns="0" rtlCol="0" anchor="ctr"/>
          <a:lstStyle/>
          <a:p>
            <a:pPr marL="0" indent="0">
              <a:buNone/>
            </a:pPr>
            <a:r>
              <a:rPr lang="en-US" sz="4000" dirty="0">
                <a:solidFill>
                  <a:srgbClr val="B8321F"/>
                </a:solidFill>
                <a:latin typeface="Bahnschrift SemiBold Condensed" pitchFamily="34" charset="0"/>
                <a:ea typeface="Bahnschrift SemiBold Condensed" pitchFamily="34" charset="-122"/>
                <a:cs typeface="Bahnschrift SemiBold Condensed" pitchFamily="34" charset="-120"/>
              </a:rPr>
              <a:t>07:00 · 19:00</a:t>
            </a:r>
            <a:endParaRPr lang="en-US" sz="4000" dirty="0"/>
          </a:p>
        </p:txBody>
      </p:sp>
      <p:sp>
        <p:nvSpPr>
          <p:cNvPr id="12" name="Text 9"/>
          <p:cNvSpPr txBox="1"/>
          <p:nvPr/>
        </p:nvSpPr>
        <p:spPr>
          <a:xfrm>
            <a:off x="4498848" y="3035808"/>
            <a:ext cx="3154680" cy="365760"/>
          </a:xfrm>
          <a:prstGeom prst="rect">
            <a:avLst/>
          </a:prstGeom>
          <a:noFill/>
          <a:ln/>
        </p:spPr>
        <p:txBody>
          <a:bodyPr wrap="square" lIns="0" tIns="0" rIns="0" bIns="0" rtlCol="0" anchor="ctr"/>
          <a:lstStyle/>
          <a:p>
            <a:pPr marL="0" indent="0">
              <a:buNone/>
            </a:pPr>
            <a:r>
              <a:rPr lang="en-US" sz="1800" dirty="0">
                <a:solidFill>
                  <a:srgbClr val="16150F"/>
                </a:solidFill>
                <a:latin typeface="Bahnschrift SemiBold Condensed" pitchFamily="34" charset="0"/>
                <a:ea typeface="Bahnschrift SemiBold Condensed" pitchFamily="34" charset="-122"/>
                <a:cs typeface="Bahnschrift SemiBold Condensed" pitchFamily="34" charset="-120"/>
              </a:rPr>
              <a:t>las dos horas pico</a:t>
            </a:r>
            <a:endParaRPr lang="en-US" sz="1800" dirty="0"/>
          </a:p>
        </p:txBody>
      </p:sp>
      <p:sp>
        <p:nvSpPr>
          <p:cNvPr id="13" name="Text 10"/>
          <p:cNvSpPr txBox="1"/>
          <p:nvPr/>
        </p:nvSpPr>
        <p:spPr>
          <a:xfrm>
            <a:off x="4498848" y="3401568"/>
            <a:ext cx="3154680" cy="502920"/>
          </a:xfrm>
          <a:prstGeom prst="rect">
            <a:avLst/>
          </a:prstGeom>
          <a:noFill/>
          <a:ln/>
        </p:spPr>
        <p:txBody>
          <a:bodyPr wrap="square" lIns="0" tIns="0" rIns="0" bIns="0" rtlCol="0" anchor="t"/>
          <a:lstStyle/>
          <a:p>
            <a:pPr marL="0" indent="0">
              <a:buNone/>
            </a:pPr>
            <a:r>
              <a:rPr lang="en-US" sz="1300" i="1" dirty="0">
                <a:solidFill>
                  <a:srgbClr val="3A372F"/>
                </a:solidFill>
                <a:latin typeface="Georgia" pitchFamily="34" charset="0"/>
                <a:ea typeface="Georgia" pitchFamily="34" charset="-122"/>
                <a:cs typeface="Georgia" pitchFamily="34" charset="-120"/>
              </a:rPr>
              <a:t>Coinciden con la ida y el regreso del trabajo.</a:t>
            </a:r>
            <a:endParaRPr lang="en-US" sz="1300" dirty="0"/>
          </a:p>
        </p:txBody>
      </p:sp>
      <p:sp>
        <p:nvSpPr>
          <p:cNvPr id="14" name="tarjeta"/>
          <p:cNvSpPr/>
          <p:nvPr/>
        </p:nvSpPr>
        <p:spPr>
          <a:xfrm>
            <a:off x="8046720" y="2103120"/>
            <a:ext cx="3520440" cy="1874520"/>
          </a:xfrm>
          <a:prstGeom prst="rect">
            <a:avLst/>
          </a:prstGeom>
          <a:solidFill>
            <a:srgbClr val="FBFAF6"/>
          </a:solidFill>
          <a:ln w="15875">
            <a:solidFill>
              <a:srgbClr val="16150F"/>
            </a:solidFill>
            <a:prstDash val="solid"/>
          </a:ln>
        </p:spPr>
      </p:sp>
      <p:sp>
        <p:nvSpPr>
          <p:cNvPr id="15" name="Text 12"/>
          <p:cNvSpPr txBox="1"/>
          <p:nvPr/>
        </p:nvSpPr>
        <p:spPr>
          <a:xfrm>
            <a:off x="8247888" y="2304288"/>
            <a:ext cx="3108960" cy="701040"/>
          </a:xfrm>
          <a:prstGeom prst="rect">
            <a:avLst/>
          </a:prstGeom>
          <a:noFill/>
          <a:ln/>
        </p:spPr>
        <p:txBody>
          <a:bodyPr wrap="square" lIns="0" tIns="0" rIns="0" bIns="0" rtlCol="0" anchor="ctr"/>
          <a:lstStyle/>
          <a:p>
            <a:pPr marL="0" indent="0">
              <a:buNone/>
            </a:pPr>
            <a:r>
              <a:rPr lang="en-US" sz="4600" dirty="0">
                <a:solidFill>
                  <a:srgbClr val="B8321F"/>
                </a:solidFill>
                <a:latin typeface="Bahnschrift SemiBold Condensed" pitchFamily="34" charset="0"/>
                <a:ea typeface="Bahnschrift SemiBold Condensed" pitchFamily="34" charset="-122"/>
                <a:cs typeface="Bahnschrift SemiBold Condensed" pitchFamily="34" charset="-120"/>
              </a:rPr>
              <a:t>34,5 %</a:t>
            </a:r>
            <a:endParaRPr lang="en-US" sz="4600" dirty="0"/>
          </a:p>
        </p:txBody>
      </p:sp>
      <p:sp>
        <p:nvSpPr>
          <p:cNvPr id="16" name="Text 13"/>
          <p:cNvSpPr txBox="1"/>
          <p:nvPr/>
        </p:nvSpPr>
        <p:spPr>
          <a:xfrm>
            <a:off x="8247888" y="3035808"/>
            <a:ext cx="3154680" cy="365760"/>
          </a:xfrm>
          <a:prstGeom prst="rect">
            <a:avLst/>
          </a:prstGeom>
          <a:noFill/>
          <a:ln/>
        </p:spPr>
        <p:txBody>
          <a:bodyPr wrap="square" lIns="0" tIns="0" rIns="0" bIns="0" rtlCol="0" anchor="ctr"/>
          <a:lstStyle/>
          <a:p>
            <a:pPr marL="0" indent="0">
              <a:buNone/>
            </a:pPr>
            <a:r>
              <a:rPr lang="en-US" sz="1800" dirty="0">
                <a:solidFill>
                  <a:srgbClr val="16150F"/>
                </a:solidFill>
                <a:latin typeface="Bahnschrift SemiBold Condensed" pitchFamily="34" charset="0"/>
                <a:ea typeface="Bahnschrift SemiBold Condensed" pitchFamily="34" charset="-122"/>
                <a:cs typeface="Bahnschrift SemiBold Condensed" pitchFamily="34" charset="-120"/>
              </a:rPr>
              <a:t>ocurre en fin de semana</a:t>
            </a:r>
            <a:endParaRPr lang="en-US" sz="1800" dirty="0"/>
          </a:p>
        </p:txBody>
      </p:sp>
      <p:sp>
        <p:nvSpPr>
          <p:cNvPr id="17" name="Text 14"/>
          <p:cNvSpPr txBox="1"/>
          <p:nvPr/>
        </p:nvSpPr>
        <p:spPr>
          <a:xfrm>
            <a:off x="8247888" y="3401568"/>
            <a:ext cx="3154680" cy="502920"/>
          </a:xfrm>
          <a:prstGeom prst="rect">
            <a:avLst/>
          </a:prstGeom>
          <a:noFill/>
          <a:ln/>
        </p:spPr>
        <p:txBody>
          <a:bodyPr wrap="square" lIns="0" tIns="0" rIns="0" bIns="0" rtlCol="0" anchor="t"/>
          <a:lstStyle/>
          <a:p>
            <a:pPr marL="0" indent="0">
              <a:buNone/>
            </a:pPr>
            <a:r>
              <a:rPr lang="en-US" sz="1300" i="1" dirty="0">
                <a:solidFill>
                  <a:srgbClr val="3A372F"/>
                </a:solidFill>
                <a:latin typeface="Georgia" pitchFamily="34" charset="0"/>
                <a:ea typeface="Georgia" pitchFamily="34" charset="-122"/>
                <a:cs typeface="Georgia" pitchFamily="34" charset="-120"/>
              </a:rPr>
              <a:t>La madrugada del sábado y domingo es lo más crítico.</a:t>
            </a:r>
            <a:endParaRPr lang="en-US" sz="1300" dirty="0"/>
          </a:p>
        </p:txBody>
      </p:sp>
      <p:sp>
        <p:nvSpPr>
          <p:cNvPr id="18" name="tarjeta"/>
          <p:cNvSpPr/>
          <p:nvPr/>
        </p:nvSpPr>
        <p:spPr>
          <a:xfrm>
            <a:off x="548640" y="4160520"/>
            <a:ext cx="3520440" cy="1874520"/>
          </a:xfrm>
          <a:prstGeom prst="rect">
            <a:avLst/>
          </a:prstGeom>
          <a:solidFill>
            <a:srgbClr val="FBFAF6"/>
          </a:solidFill>
          <a:ln w="15875">
            <a:solidFill>
              <a:srgbClr val="16150F"/>
            </a:solidFill>
            <a:prstDash val="solid"/>
          </a:ln>
        </p:spPr>
      </p:sp>
      <p:sp>
        <p:nvSpPr>
          <p:cNvPr id="19" name="Text 16"/>
          <p:cNvSpPr txBox="1"/>
          <p:nvPr/>
        </p:nvSpPr>
        <p:spPr>
          <a:xfrm>
            <a:off x="749808" y="4361688"/>
            <a:ext cx="3108960" cy="701040"/>
          </a:xfrm>
          <a:prstGeom prst="rect">
            <a:avLst/>
          </a:prstGeom>
          <a:noFill/>
          <a:ln/>
        </p:spPr>
        <p:txBody>
          <a:bodyPr wrap="square" lIns="0" tIns="0" rIns="0" bIns="0" rtlCol="0" anchor="ctr"/>
          <a:lstStyle/>
          <a:p>
            <a:pPr marL="0" indent="0">
              <a:buNone/>
            </a:pPr>
            <a:r>
              <a:rPr lang="en-US" sz="4600" dirty="0">
                <a:solidFill>
                  <a:srgbClr val="B8321F"/>
                </a:solidFill>
                <a:latin typeface="Bahnschrift SemiBold Condensed" pitchFamily="34" charset="0"/>
                <a:ea typeface="Bahnschrift SemiBold Condensed" pitchFamily="34" charset="-122"/>
                <a:cs typeface="Bahnschrift SemiBold Condensed" pitchFamily="34" charset="-120"/>
              </a:rPr>
              <a:t>×2,3</a:t>
            </a:r>
            <a:endParaRPr lang="en-US" sz="4600" dirty="0"/>
          </a:p>
        </p:txBody>
      </p:sp>
      <p:sp>
        <p:nvSpPr>
          <p:cNvPr id="20" name="Text 17"/>
          <p:cNvSpPr txBox="1"/>
          <p:nvPr/>
        </p:nvSpPr>
        <p:spPr>
          <a:xfrm>
            <a:off x="749808" y="5093208"/>
            <a:ext cx="3154680" cy="365760"/>
          </a:xfrm>
          <a:prstGeom prst="rect">
            <a:avLst/>
          </a:prstGeom>
          <a:noFill/>
          <a:ln/>
        </p:spPr>
        <p:txBody>
          <a:bodyPr wrap="square" lIns="0" tIns="0" rIns="0" bIns="0" rtlCol="0" anchor="ctr"/>
          <a:lstStyle/>
          <a:p>
            <a:pPr marL="0" indent="0">
              <a:buNone/>
            </a:pPr>
            <a:r>
              <a:rPr lang="en-US" sz="1800" dirty="0">
                <a:solidFill>
                  <a:srgbClr val="16150F"/>
                </a:solidFill>
                <a:latin typeface="Bahnschrift SemiBold Condensed" pitchFamily="34" charset="0"/>
                <a:ea typeface="Bahnschrift SemiBold Condensed" pitchFamily="34" charset="-122"/>
                <a:cs typeface="Bahnschrift SemiBold Condensed" pitchFamily="34" charset="-120"/>
              </a:rPr>
              <a:t>más mortal en la zona rural</a:t>
            </a:r>
            <a:endParaRPr lang="en-US" sz="1800" dirty="0"/>
          </a:p>
        </p:txBody>
      </p:sp>
      <p:sp>
        <p:nvSpPr>
          <p:cNvPr id="21" name="Text 18"/>
          <p:cNvSpPr txBox="1"/>
          <p:nvPr/>
        </p:nvSpPr>
        <p:spPr>
          <a:xfrm>
            <a:off x="749808" y="5458968"/>
            <a:ext cx="3154680" cy="502920"/>
          </a:xfrm>
          <a:prstGeom prst="rect">
            <a:avLst/>
          </a:prstGeom>
          <a:noFill/>
          <a:ln/>
        </p:spPr>
        <p:txBody>
          <a:bodyPr wrap="square" lIns="0" tIns="0" rIns="0" bIns="0" rtlCol="0" anchor="t"/>
          <a:lstStyle/>
          <a:p>
            <a:pPr marL="0" indent="0">
              <a:buNone/>
            </a:pPr>
            <a:r>
              <a:rPr lang="en-US" sz="1300" i="1" dirty="0">
                <a:solidFill>
                  <a:srgbClr val="3A372F"/>
                </a:solidFill>
                <a:latin typeface="Georgia" pitchFamily="34" charset="0"/>
                <a:ea typeface="Georgia" pitchFamily="34" charset="-122"/>
                <a:cs typeface="Georgia" pitchFamily="34" charset="-120"/>
              </a:rPr>
              <a:t>11,2 contra 4,8 fallecidos por cada 100 siniestros.</a:t>
            </a:r>
            <a:endParaRPr lang="en-US" sz="1300" dirty="0"/>
          </a:p>
        </p:txBody>
      </p:sp>
      <p:sp>
        <p:nvSpPr>
          <p:cNvPr id="22" name="tarjeta"/>
          <p:cNvSpPr/>
          <p:nvPr/>
        </p:nvSpPr>
        <p:spPr>
          <a:xfrm>
            <a:off x="4297680" y="4160520"/>
            <a:ext cx="3520440" cy="1874520"/>
          </a:xfrm>
          <a:prstGeom prst="rect">
            <a:avLst/>
          </a:prstGeom>
          <a:solidFill>
            <a:srgbClr val="FBFAF6"/>
          </a:solidFill>
          <a:ln w="15875">
            <a:solidFill>
              <a:srgbClr val="16150F"/>
            </a:solidFill>
            <a:prstDash val="solid"/>
          </a:ln>
        </p:spPr>
      </p:sp>
      <p:sp>
        <p:nvSpPr>
          <p:cNvPr id="23" name="Text 20"/>
          <p:cNvSpPr txBox="1"/>
          <p:nvPr/>
        </p:nvSpPr>
        <p:spPr>
          <a:xfrm>
            <a:off x="4498848" y="4361688"/>
            <a:ext cx="3108960" cy="701040"/>
          </a:xfrm>
          <a:prstGeom prst="rect">
            <a:avLst/>
          </a:prstGeom>
          <a:noFill/>
          <a:ln/>
        </p:spPr>
        <p:txBody>
          <a:bodyPr wrap="square" lIns="0" tIns="0" rIns="0" bIns="0" rtlCol="0" anchor="ctr"/>
          <a:lstStyle/>
          <a:p>
            <a:pPr marL="0" indent="0">
              <a:buNone/>
            </a:pPr>
            <a:r>
              <a:rPr lang="en-US" sz="4600" dirty="0">
                <a:solidFill>
                  <a:srgbClr val="B8321F"/>
                </a:solidFill>
                <a:latin typeface="Bahnschrift SemiBold Condensed" pitchFamily="34" charset="0"/>
                <a:ea typeface="Bahnschrift SemiBold Condensed" pitchFamily="34" charset="-122"/>
                <a:cs typeface="Bahnschrift SemiBold Condensed" pitchFamily="34" charset="-120"/>
              </a:rPr>
              <a:t>85,5 %</a:t>
            </a:r>
            <a:endParaRPr lang="en-US" sz="4600" dirty="0"/>
          </a:p>
        </p:txBody>
      </p:sp>
      <p:sp>
        <p:nvSpPr>
          <p:cNvPr id="24" name="Text 21"/>
          <p:cNvSpPr txBox="1"/>
          <p:nvPr/>
        </p:nvSpPr>
        <p:spPr>
          <a:xfrm>
            <a:off x="4498848" y="5093208"/>
            <a:ext cx="3154680" cy="365760"/>
          </a:xfrm>
          <a:prstGeom prst="rect">
            <a:avLst/>
          </a:prstGeom>
          <a:noFill/>
          <a:ln/>
        </p:spPr>
        <p:txBody>
          <a:bodyPr wrap="square" lIns="0" tIns="0" rIns="0" bIns="0" rtlCol="0" anchor="ctr"/>
          <a:lstStyle/>
          <a:p>
            <a:pPr marL="0" indent="0">
              <a:buNone/>
            </a:pPr>
            <a:r>
              <a:rPr lang="en-US" sz="1800" dirty="0">
                <a:solidFill>
                  <a:srgbClr val="16150F"/>
                </a:solidFill>
                <a:latin typeface="Bahnschrift SemiBold Condensed" pitchFamily="34" charset="0"/>
                <a:ea typeface="Bahnschrift SemiBold Condensed" pitchFamily="34" charset="-122"/>
                <a:cs typeface="Bahnschrift SemiBold Condensed" pitchFamily="34" charset="-120"/>
              </a:rPr>
              <a:t>depende del conductor</a:t>
            </a:r>
            <a:endParaRPr lang="en-US" sz="1800" dirty="0"/>
          </a:p>
        </p:txBody>
      </p:sp>
      <p:sp>
        <p:nvSpPr>
          <p:cNvPr id="25" name="Text 22"/>
          <p:cNvSpPr txBox="1"/>
          <p:nvPr/>
        </p:nvSpPr>
        <p:spPr>
          <a:xfrm>
            <a:off x="4498848" y="5458968"/>
            <a:ext cx="3154680" cy="502920"/>
          </a:xfrm>
          <a:prstGeom prst="rect">
            <a:avLst/>
          </a:prstGeom>
          <a:noFill/>
          <a:ln/>
        </p:spPr>
        <p:txBody>
          <a:bodyPr wrap="square" lIns="0" tIns="0" rIns="0" bIns="0" rtlCol="0" anchor="t"/>
          <a:lstStyle/>
          <a:p>
            <a:pPr marL="0" indent="0">
              <a:buNone/>
            </a:pPr>
            <a:r>
              <a:rPr lang="en-US" sz="1300" i="1" dirty="0">
                <a:solidFill>
                  <a:srgbClr val="3A372F"/>
                </a:solidFill>
                <a:latin typeface="Georgia" pitchFamily="34" charset="0"/>
                <a:ea typeface="Georgia" pitchFamily="34" charset="-122"/>
                <a:cs typeface="Georgia" pitchFamily="34" charset="-120"/>
              </a:rPr>
              <a:t>Imprudencia, velocidad, señales y alcohol.</a:t>
            </a:r>
            <a:endParaRPr lang="en-US" sz="1300" dirty="0"/>
          </a:p>
        </p:txBody>
      </p:sp>
      <p:sp>
        <p:nvSpPr>
          <p:cNvPr id="26" name="tarjeta"/>
          <p:cNvSpPr/>
          <p:nvPr/>
        </p:nvSpPr>
        <p:spPr>
          <a:xfrm>
            <a:off x="8046720" y="4160520"/>
            <a:ext cx="3520440" cy="1874520"/>
          </a:xfrm>
          <a:prstGeom prst="rect">
            <a:avLst/>
          </a:prstGeom>
          <a:solidFill>
            <a:srgbClr val="16150F"/>
          </a:solidFill>
          <a:ln w="15875">
            <a:solidFill>
              <a:srgbClr val="16150F"/>
            </a:solidFill>
            <a:prstDash val="solid"/>
          </a:ln>
        </p:spPr>
      </p:sp>
      <p:sp>
        <p:nvSpPr>
          <p:cNvPr id="27" name="Text 24"/>
          <p:cNvSpPr txBox="1"/>
          <p:nvPr/>
        </p:nvSpPr>
        <p:spPr>
          <a:xfrm>
            <a:off x="8247888" y="4361688"/>
            <a:ext cx="3108960" cy="701040"/>
          </a:xfrm>
          <a:prstGeom prst="rect">
            <a:avLst/>
          </a:prstGeom>
          <a:noFill/>
          <a:ln/>
        </p:spPr>
        <p:txBody>
          <a:bodyPr wrap="square" lIns="0" tIns="0" rIns="0" bIns="0" rtlCol="0" anchor="ctr"/>
          <a:lstStyle/>
          <a:p>
            <a:pPr marL="0" indent="0">
              <a:buNone/>
            </a:pPr>
            <a:r>
              <a:rPr lang="en-US" sz="4600" dirty="0">
                <a:solidFill>
                  <a:srgbClr val="E2563E"/>
                </a:solidFill>
                <a:latin typeface="Bahnschrift SemiBold Condensed" pitchFamily="34" charset="0"/>
                <a:ea typeface="Bahnschrift SemiBold Condensed" pitchFamily="34" charset="-122"/>
                <a:cs typeface="Bahnschrift SemiBold Condensed" pitchFamily="34" charset="-120"/>
              </a:rPr>
              <a:t>44,9</a:t>
            </a:r>
            <a:endParaRPr lang="en-US" sz="4600" dirty="0"/>
          </a:p>
        </p:txBody>
      </p:sp>
      <p:sp>
        <p:nvSpPr>
          <p:cNvPr id="28" name="Text 25"/>
          <p:cNvSpPr txBox="1"/>
          <p:nvPr/>
        </p:nvSpPr>
        <p:spPr>
          <a:xfrm>
            <a:off x="8247888" y="5093208"/>
            <a:ext cx="3154680" cy="365760"/>
          </a:xfrm>
          <a:prstGeom prst="rect">
            <a:avLst/>
          </a:prstGeom>
          <a:noFill/>
          <a:ln/>
        </p:spPr>
        <p:txBody>
          <a:bodyPr wrap="square" lIns="0" tIns="0" rIns="0" bIns="0" rtlCol="0" anchor="ctr"/>
          <a:lstStyle/>
          <a:p>
            <a:pPr marL="0" indent="0">
              <a:buNone/>
            </a:pPr>
            <a:r>
              <a:rPr lang="en-US" sz="1800" dirty="0">
                <a:solidFill>
                  <a:srgbClr val="F1EEE6"/>
                </a:solidFill>
                <a:latin typeface="Bahnschrift SemiBold Condensed" pitchFamily="34" charset="0"/>
                <a:ea typeface="Bahnschrift SemiBold Condensed" pitchFamily="34" charset="-122"/>
                <a:cs typeface="Bahnschrift SemiBold Condensed" pitchFamily="34" charset="-120"/>
              </a:rPr>
              <a:t>fallecidos por cada 100 en Pifo</a:t>
            </a:r>
            <a:endParaRPr lang="en-US" sz="1800" dirty="0"/>
          </a:p>
        </p:txBody>
      </p:sp>
      <p:sp>
        <p:nvSpPr>
          <p:cNvPr id="29" name="Text 26"/>
          <p:cNvSpPr txBox="1"/>
          <p:nvPr/>
        </p:nvSpPr>
        <p:spPr>
          <a:xfrm>
            <a:off x="8247888" y="5458968"/>
            <a:ext cx="3154680" cy="502920"/>
          </a:xfrm>
          <a:prstGeom prst="rect">
            <a:avLst/>
          </a:prstGeom>
          <a:noFill/>
          <a:ln/>
        </p:spPr>
        <p:txBody>
          <a:bodyPr wrap="square" lIns="0" tIns="0" rIns="0" bIns="0" rtlCol="0" anchor="t"/>
          <a:lstStyle/>
          <a:p>
            <a:pPr marL="0" indent="0">
              <a:buNone/>
            </a:pPr>
            <a:r>
              <a:rPr lang="en-US" sz="1300" i="1" dirty="0">
                <a:solidFill>
                  <a:srgbClr val="C9C2B0"/>
                </a:solidFill>
                <a:latin typeface="Georgia" pitchFamily="34" charset="0"/>
                <a:ea typeface="Georgia" pitchFamily="34" charset="-122"/>
                <a:cs typeface="Georgia" pitchFamily="34" charset="-120"/>
              </a:rPr>
              <a:t>Lo que más nos sorprendió: casi uno de cada dos.</a:t>
            </a:r>
            <a:endParaRPr lang="en-US" sz="1300" dirty="0"/>
          </a:p>
        </p:txBody>
      </p:sp>
      <p:sp>
        <p:nvSpPr>
          <p:cNvPr id="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07 · RESULTADOS Y HALLAZGOS</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¿CUMPLIMOS LOS OBJETIVOS?</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Cumplimos cuatro de los cinco objetivos; el modelo predictivo queda como la siguiente fase del proyecto.</a:t>
            </a:r>
            <a:endParaRPr lang="en-US" sz="1700" dirty="0"/>
          </a:p>
        </p:txBody>
      </p:sp>
      <p:sp>
        <p:nvSpPr>
          <p:cNvPr id="6" name="tarjeta"/>
          <p:cNvSpPr/>
          <p:nvPr/>
        </p:nvSpPr>
        <p:spPr>
          <a:xfrm>
            <a:off x="548640" y="2103120"/>
            <a:ext cx="11018520" cy="4023360"/>
          </a:xfrm>
          <a:prstGeom prst="rect">
            <a:avLst/>
          </a:prstGeom>
          <a:solidFill>
            <a:srgbClr val="FBFAF6"/>
          </a:solidFill>
          <a:ln w="15875">
            <a:solidFill>
              <a:srgbClr val="16150F"/>
            </a:solidFill>
            <a:prstDash val="solid"/>
          </a:ln>
        </p:spPr>
      </p:sp>
      <p:sp>
        <p:nvSpPr>
          <p:cNvPr id="7" name="Text 4"/>
          <p:cNvSpPr txBox="1"/>
          <p:nvPr/>
        </p:nvSpPr>
        <p:spPr>
          <a:xfrm>
            <a:off x="749808" y="2249424"/>
            <a:ext cx="10616184" cy="256032"/>
          </a:xfrm>
          <a:prstGeom prst="rect">
            <a:avLst/>
          </a:prstGeom>
          <a:noFill/>
          <a:ln/>
        </p:spPr>
        <p:txBody>
          <a:bodyPr wrap="square" lIns="0" tIns="0" rIns="0" bIns="0" rtlCol="0" anchor="ctr"/>
          <a:lstStyle/>
          <a:p>
            <a:pPr marL="0" indent="0">
              <a:buNone/>
            </a:pPr>
            <a:r>
              <a:rPr lang="en-US" sz="1000" kern="0" spc="200" dirty="0">
                <a:solidFill>
                  <a:srgbClr val="6B6657"/>
                </a:solidFill>
                <a:latin typeface="Consolas" pitchFamily="34" charset="0"/>
                <a:ea typeface="Consolas" pitchFamily="34" charset="-122"/>
                <a:cs typeface="Consolas" pitchFamily="34" charset="-120"/>
              </a:rPr>
              <a:t>OBJETIVO · ESTADO · EVIDENCIA</a:t>
            </a:r>
            <a:endParaRPr lang="en-US" sz="1000" dirty="0"/>
          </a:p>
        </p:txBody>
      </p:sp>
      <p:sp>
        <p:nvSpPr>
          <p:cNvPr id="8" name="Text 5"/>
          <p:cNvSpPr txBox="1"/>
          <p:nvPr/>
        </p:nvSpPr>
        <p:spPr>
          <a:xfrm>
            <a:off x="777240" y="2487168"/>
            <a:ext cx="365760" cy="548640"/>
          </a:xfrm>
          <a:prstGeom prst="rect">
            <a:avLst/>
          </a:prstGeom>
          <a:noFill/>
          <a:ln/>
        </p:spPr>
        <p:txBody>
          <a:bodyPr wrap="square" lIns="0" tIns="0" rIns="0" bIns="0" rtlCol="0" anchor="ctr"/>
          <a:lstStyle/>
          <a:p>
            <a:pPr marL="0" indent="0">
              <a:buNone/>
            </a:pPr>
            <a:r>
              <a:rPr lang="en-US" sz="2600" dirty="0">
                <a:solidFill>
                  <a:srgbClr val="B8321F"/>
                </a:solidFill>
                <a:latin typeface="Bahnschrift SemiBold Condensed" pitchFamily="34" charset="0"/>
                <a:ea typeface="Bahnschrift SemiBold Condensed" pitchFamily="34" charset="-122"/>
                <a:cs typeface="Bahnschrift SemiBold Condensed" pitchFamily="34" charset="-120"/>
              </a:rPr>
              <a:t>1</a:t>
            </a:r>
            <a:endParaRPr lang="en-US" sz="2600" dirty="0"/>
          </a:p>
        </p:txBody>
      </p:sp>
      <p:sp>
        <p:nvSpPr>
          <p:cNvPr id="9" name="Text 6"/>
          <p:cNvSpPr txBox="1"/>
          <p:nvPr/>
        </p:nvSpPr>
        <p:spPr>
          <a:xfrm>
            <a:off x="1188720" y="2487168"/>
            <a:ext cx="3840480" cy="548640"/>
          </a:xfrm>
          <a:prstGeom prst="rect">
            <a:avLst/>
          </a:prstGeom>
          <a:noFill/>
          <a:ln/>
        </p:spPr>
        <p:txBody>
          <a:bodyPr wrap="square" lIns="0" tIns="0" rIns="0" bIns="0" rtlCol="0" anchor="ctr"/>
          <a:lstStyle/>
          <a:p>
            <a:pPr marL="0" indent="0">
              <a:buNone/>
            </a:pPr>
            <a:r>
              <a:rPr lang="en-US" sz="1900" dirty="0">
                <a:solidFill>
                  <a:srgbClr val="16150F"/>
                </a:solidFill>
                <a:latin typeface="Bahnschrift SemiBold Condensed" pitchFamily="34" charset="0"/>
                <a:ea typeface="Bahnschrift SemiBold Condensed" pitchFamily="34" charset="-122"/>
                <a:cs typeface="Bahnschrift SemiBold Condensed" pitchFamily="34" charset="-120"/>
              </a:rPr>
              <a:t>Recopilar, limpiar y transformar</a:t>
            </a:r>
            <a:endParaRPr lang="en-US" sz="1900" dirty="0"/>
          </a:p>
        </p:txBody>
      </p:sp>
      <p:sp>
        <p:nvSpPr>
          <p:cNvPr id="10" name="Shape 7"/>
          <p:cNvSpPr/>
          <p:nvPr/>
        </p:nvSpPr>
        <p:spPr>
          <a:xfrm>
            <a:off x="5120640" y="2560320"/>
            <a:ext cx="1737360" cy="402336"/>
          </a:xfrm>
          <a:prstGeom prst="rect">
            <a:avLst/>
          </a:prstGeom>
          <a:solidFill>
            <a:srgbClr val="16150F"/>
          </a:solidFill>
          <a:ln w="15875">
            <a:solidFill>
              <a:srgbClr val="16150F"/>
            </a:solidFill>
            <a:prstDash val="solid"/>
          </a:ln>
        </p:spPr>
      </p:sp>
      <p:sp>
        <p:nvSpPr>
          <p:cNvPr id="11" name="Text 8"/>
          <p:cNvSpPr txBox="1"/>
          <p:nvPr/>
        </p:nvSpPr>
        <p:spPr>
          <a:xfrm>
            <a:off x="5120640" y="2560320"/>
            <a:ext cx="1737360" cy="402336"/>
          </a:xfrm>
          <a:prstGeom prst="rect">
            <a:avLst/>
          </a:prstGeom>
          <a:noFill/>
          <a:ln/>
        </p:spPr>
        <p:txBody>
          <a:bodyPr wrap="square" lIns="0" tIns="0" rIns="0" bIns="0" rtlCol="0" anchor="ctr"/>
          <a:lstStyle/>
          <a:p>
            <a:pPr marL="0" indent="0" algn="ctr">
              <a:buNone/>
            </a:pPr>
            <a:r>
              <a:rPr lang="en-US" sz="1000" b="1" dirty="0">
                <a:solidFill>
                  <a:srgbClr val="F1EEE6"/>
                </a:solidFill>
                <a:latin typeface="Consolas" pitchFamily="34" charset="0"/>
                <a:ea typeface="Consolas" pitchFamily="34" charset="-122"/>
                <a:cs typeface="Consolas" pitchFamily="34" charset="-120"/>
              </a:rPr>
              <a:t>CUMPLIDO</a:t>
            </a:r>
            <a:endParaRPr lang="en-US" sz="1000" dirty="0"/>
          </a:p>
        </p:txBody>
      </p:sp>
      <p:sp>
        <p:nvSpPr>
          <p:cNvPr id="12" name="Text 9"/>
          <p:cNvSpPr txBox="1"/>
          <p:nvPr/>
        </p:nvSpPr>
        <p:spPr>
          <a:xfrm>
            <a:off x="7086600" y="2487168"/>
            <a:ext cx="4343400" cy="548640"/>
          </a:xfrm>
          <a:prstGeom prst="rect">
            <a:avLst/>
          </a:prstGeom>
          <a:noFill/>
          <a:ln/>
        </p:spPr>
        <p:txBody>
          <a:bodyPr wrap="square" lIns="0" tIns="0" rIns="0" bIns="0" rtlCol="0" anchor="ctr"/>
          <a:lstStyle/>
          <a:p>
            <a:pPr marL="0" indent="0">
              <a:buNone/>
            </a:pPr>
            <a:r>
              <a:rPr lang="en-US" sz="1400" dirty="0">
                <a:solidFill>
                  <a:srgbClr val="3A372F"/>
                </a:solidFill>
                <a:latin typeface="Georgia" pitchFamily="34" charset="0"/>
                <a:ea typeface="Georgia" pitchFamily="34" charset="-122"/>
                <a:cs typeface="Georgia" pitchFamily="34" charset="-120"/>
              </a:rPr>
              <a:t>44.982 registros oficiales, sin duplicados.</a:t>
            </a:r>
            <a:endParaRPr lang="en-US" sz="1400" dirty="0"/>
          </a:p>
        </p:txBody>
      </p:sp>
      <p:sp>
        <p:nvSpPr>
          <p:cNvPr id="13" name="Text 10"/>
          <p:cNvSpPr txBox="1"/>
          <p:nvPr/>
        </p:nvSpPr>
        <p:spPr>
          <a:xfrm>
            <a:off x="777240" y="3200400"/>
            <a:ext cx="365760" cy="548640"/>
          </a:xfrm>
          <a:prstGeom prst="rect">
            <a:avLst/>
          </a:prstGeom>
          <a:noFill/>
          <a:ln/>
        </p:spPr>
        <p:txBody>
          <a:bodyPr wrap="square" lIns="0" tIns="0" rIns="0" bIns="0" rtlCol="0" anchor="ctr"/>
          <a:lstStyle/>
          <a:p>
            <a:pPr marL="0" indent="0">
              <a:buNone/>
            </a:pPr>
            <a:r>
              <a:rPr lang="en-US" sz="2600" dirty="0">
                <a:solidFill>
                  <a:srgbClr val="B8321F"/>
                </a:solidFill>
                <a:latin typeface="Bahnschrift SemiBold Condensed" pitchFamily="34" charset="0"/>
                <a:ea typeface="Bahnschrift SemiBold Condensed" pitchFamily="34" charset="-122"/>
                <a:cs typeface="Bahnschrift SemiBold Condensed" pitchFamily="34" charset="-120"/>
              </a:rPr>
              <a:t>2</a:t>
            </a:r>
            <a:endParaRPr lang="en-US" sz="2600" dirty="0"/>
          </a:p>
        </p:txBody>
      </p:sp>
      <p:sp>
        <p:nvSpPr>
          <p:cNvPr id="14" name="Text 11"/>
          <p:cNvSpPr txBox="1"/>
          <p:nvPr/>
        </p:nvSpPr>
        <p:spPr>
          <a:xfrm>
            <a:off x="1188720" y="3200400"/>
            <a:ext cx="3840480" cy="548640"/>
          </a:xfrm>
          <a:prstGeom prst="rect">
            <a:avLst/>
          </a:prstGeom>
          <a:noFill/>
          <a:ln/>
        </p:spPr>
        <p:txBody>
          <a:bodyPr wrap="square" lIns="0" tIns="0" rIns="0" bIns="0" rtlCol="0" anchor="ctr"/>
          <a:lstStyle/>
          <a:p>
            <a:pPr marL="0" indent="0">
              <a:buNone/>
            </a:pPr>
            <a:r>
              <a:rPr lang="en-US" sz="1900" dirty="0">
                <a:solidFill>
                  <a:srgbClr val="16150F"/>
                </a:solidFill>
                <a:latin typeface="Bahnschrift SemiBold Condensed" pitchFamily="34" charset="0"/>
                <a:ea typeface="Bahnschrift SemiBold Condensed" pitchFamily="34" charset="-122"/>
                <a:cs typeface="Bahnschrift SemiBold Condensed" pitchFamily="34" charset="-120"/>
              </a:rPr>
              <a:t>Patrones de tiempo y lugar</a:t>
            </a:r>
            <a:endParaRPr lang="en-US" sz="1900" dirty="0"/>
          </a:p>
        </p:txBody>
      </p:sp>
      <p:sp>
        <p:nvSpPr>
          <p:cNvPr id="15" name="Shape 12"/>
          <p:cNvSpPr/>
          <p:nvPr/>
        </p:nvSpPr>
        <p:spPr>
          <a:xfrm>
            <a:off x="5120640" y="3273552"/>
            <a:ext cx="1737360" cy="402336"/>
          </a:xfrm>
          <a:prstGeom prst="rect">
            <a:avLst/>
          </a:prstGeom>
          <a:solidFill>
            <a:srgbClr val="16150F"/>
          </a:solidFill>
          <a:ln w="15875">
            <a:solidFill>
              <a:srgbClr val="16150F"/>
            </a:solidFill>
            <a:prstDash val="solid"/>
          </a:ln>
        </p:spPr>
      </p:sp>
      <p:sp>
        <p:nvSpPr>
          <p:cNvPr id="16" name="Text 13"/>
          <p:cNvSpPr txBox="1"/>
          <p:nvPr/>
        </p:nvSpPr>
        <p:spPr>
          <a:xfrm>
            <a:off x="5120640" y="3273552"/>
            <a:ext cx="1737360" cy="402336"/>
          </a:xfrm>
          <a:prstGeom prst="rect">
            <a:avLst/>
          </a:prstGeom>
          <a:noFill/>
          <a:ln/>
        </p:spPr>
        <p:txBody>
          <a:bodyPr wrap="square" lIns="0" tIns="0" rIns="0" bIns="0" rtlCol="0" anchor="ctr"/>
          <a:lstStyle/>
          <a:p>
            <a:pPr marL="0" indent="0" algn="ctr">
              <a:buNone/>
            </a:pPr>
            <a:r>
              <a:rPr lang="en-US" sz="1000" b="1" dirty="0">
                <a:solidFill>
                  <a:srgbClr val="F1EEE6"/>
                </a:solidFill>
                <a:latin typeface="Consolas" pitchFamily="34" charset="0"/>
                <a:ea typeface="Consolas" pitchFamily="34" charset="-122"/>
                <a:cs typeface="Consolas" pitchFamily="34" charset="-120"/>
              </a:rPr>
              <a:t>CUMPLIDO</a:t>
            </a:r>
            <a:endParaRPr lang="en-US" sz="1000" dirty="0"/>
          </a:p>
        </p:txBody>
      </p:sp>
      <p:sp>
        <p:nvSpPr>
          <p:cNvPr id="17" name="Text 14"/>
          <p:cNvSpPr txBox="1"/>
          <p:nvPr/>
        </p:nvSpPr>
        <p:spPr>
          <a:xfrm>
            <a:off x="7086600" y="3200400"/>
            <a:ext cx="4343400" cy="548640"/>
          </a:xfrm>
          <a:prstGeom prst="rect">
            <a:avLst/>
          </a:prstGeom>
          <a:noFill/>
          <a:ln/>
        </p:spPr>
        <p:txBody>
          <a:bodyPr wrap="square" lIns="0" tIns="0" rIns="0" bIns="0" rtlCol="0" anchor="ctr"/>
          <a:lstStyle/>
          <a:p>
            <a:pPr marL="0" indent="0">
              <a:buNone/>
            </a:pPr>
            <a:r>
              <a:rPr lang="en-US" sz="1400" dirty="0">
                <a:solidFill>
                  <a:srgbClr val="3A372F"/>
                </a:solidFill>
                <a:latin typeface="Georgia" pitchFamily="34" charset="0"/>
                <a:ea typeface="Georgia" pitchFamily="34" charset="-122"/>
                <a:cs typeface="Georgia" pitchFamily="34" charset="-120"/>
              </a:rPr>
              <a:t>Horas pico, fin de semana y 3 grupos de parroquias.</a:t>
            </a:r>
            <a:endParaRPr lang="en-US" sz="1400" dirty="0"/>
          </a:p>
        </p:txBody>
      </p:sp>
      <p:sp>
        <p:nvSpPr>
          <p:cNvPr id="18" name="Text 15"/>
          <p:cNvSpPr txBox="1"/>
          <p:nvPr/>
        </p:nvSpPr>
        <p:spPr>
          <a:xfrm>
            <a:off x="777240" y="3913632"/>
            <a:ext cx="365760" cy="548640"/>
          </a:xfrm>
          <a:prstGeom prst="rect">
            <a:avLst/>
          </a:prstGeom>
          <a:noFill/>
          <a:ln/>
        </p:spPr>
        <p:txBody>
          <a:bodyPr wrap="square" lIns="0" tIns="0" rIns="0" bIns="0" rtlCol="0" anchor="ctr"/>
          <a:lstStyle/>
          <a:p>
            <a:pPr marL="0" indent="0">
              <a:buNone/>
            </a:pPr>
            <a:r>
              <a:rPr lang="en-US" sz="2600" dirty="0">
                <a:solidFill>
                  <a:srgbClr val="B8321F"/>
                </a:solidFill>
                <a:latin typeface="Bahnschrift SemiBold Condensed" pitchFamily="34" charset="0"/>
                <a:ea typeface="Bahnschrift SemiBold Condensed" pitchFamily="34" charset="-122"/>
                <a:cs typeface="Bahnschrift SemiBold Condensed" pitchFamily="34" charset="-120"/>
              </a:rPr>
              <a:t>3</a:t>
            </a:r>
            <a:endParaRPr lang="en-US" sz="2600" dirty="0"/>
          </a:p>
        </p:txBody>
      </p:sp>
      <p:sp>
        <p:nvSpPr>
          <p:cNvPr id="19" name="Text 16"/>
          <p:cNvSpPr txBox="1"/>
          <p:nvPr/>
        </p:nvSpPr>
        <p:spPr>
          <a:xfrm>
            <a:off x="1188720" y="3913632"/>
            <a:ext cx="3840480" cy="548640"/>
          </a:xfrm>
          <a:prstGeom prst="rect">
            <a:avLst/>
          </a:prstGeom>
          <a:noFill/>
          <a:ln/>
        </p:spPr>
        <p:txBody>
          <a:bodyPr wrap="square" lIns="0" tIns="0" rIns="0" bIns="0" rtlCol="0" anchor="ctr"/>
          <a:lstStyle/>
          <a:p>
            <a:pPr marL="0" indent="0">
              <a:buNone/>
            </a:pPr>
            <a:r>
              <a:rPr lang="en-US" sz="1900" dirty="0">
                <a:solidFill>
                  <a:srgbClr val="16150F"/>
                </a:solidFill>
                <a:latin typeface="Bahnschrift SemiBold Condensed" pitchFamily="34" charset="0"/>
                <a:ea typeface="Bahnschrift SemiBold Condensed" pitchFamily="34" charset="-122"/>
                <a:cs typeface="Bahnschrift SemiBold Condensed" pitchFamily="34" charset="-120"/>
              </a:rPr>
              <a:t>Relación con el clima</a:t>
            </a:r>
            <a:endParaRPr lang="en-US" sz="1900" dirty="0"/>
          </a:p>
        </p:txBody>
      </p:sp>
      <p:sp>
        <p:nvSpPr>
          <p:cNvPr id="20" name="Shape 17"/>
          <p:cNvSpPr/>
          <p:nvPr/>
        </p:nvSpPr>
        <p:spPr>
          <a:xfrm>
            <a:off x="5120640" y="3986784"/>
            <a:ext cx="1737360" cy="402336"/>
          </a:xfrm>
          <a:prstGeom prst="rect">
            <a:avLst/>
          </a:prstGeom>
          <a:solidFill>
            <a:srgbClr val="16150F"/>
          </a:solidFill>
          <a:ln w="15875">
            <a:solidFill>
              <a:srgbClr val="16150F"/>
            </a:solidFill>
            <a:prstDash val="solid"/>
          </a:ln>
        </p:spPr>
      </p:sp>
      <p:sp>
        <p:nvSpPr>
          <p:cNvPr id="21" name="Text 18"/>
          <p:cNvSpPr txBox="1"/>
          <p:nvPr/>
        </p:nvSpPr>
        <p:spPr>
          <a:xfrm>
            <a:off x="5120640" y="3986784"/>
            <a:ext cx="1737360" cy="402336"/>
          </a:xfrm>
          <a:prstGeom prst="rect">
            <a:avLst/>
          </a:prstGeom>
          <a:noFill/>
          <a:ln/>
        </p:spPr>
        <p:txBody>
          <a:bodyPr wrap="square" lIns="0" tIns="0" rIns="0" bIns="0" rtlCol="0" anchor="ctr"/>
          <a:lstStyle/>
          <a:p>
            <a:pPr marL="0" indent="0" algn="ctr">
              <a:buNone/>
            </a:pPr>
            <a:r>
              <a:rPr lang="en-US" sz="1000" b="1" dirty="0">
                <a:solidFill>
                  <a:srgbClr val="F1EEE6"/>
                </a:solidFill>
                <a:latin typeface="Consolas" pitchFamily="34" charset="0"/>
                <a:ea typeface="Consolas" pitchFamily="34" charset="-122"/>
                <a:cs typeface="Consolas" pitchFamily="34" charset="-120"/>
              </a:rPr>
              <a:t>CUMPLIDO</a:t>
            </a:r>
            <a:endParaRPr lang="en-US" sz="1000" dirty="0"/>
          </a:p>
        </p:txBody>
      </p:sp>
      <p:sp>
        <p:nvSpPr>
          <p:cNvPr id="22" name="Text 19"/>
          <p:cNvSpPr txBox="1"/>
          <p:nvPr/>
        </p:nvSpPr>
        <p:spPr>
          <a:xfrm>
            <a:off x="7086600" y="3913632"/>
            <a:ext cx="4343400" cy="548640"/>
          </a:xfrm>
          <a:prstGeom prst="rect">
            <a:avLst/>
          </a:prstGeom>
          <a:noFill/>
          <a:ln/>
        </p:spPr>
        <p:txBody>
          <a:bodyPr wrap="square" lIns="0" tIns="0" rIns="0" bIns="0" rtlCol="0" anchor="ctr"/>
          <a:lstStyle/>
          <a:p>
            <a:pPr marL="0" indent="0">
              <a:buNone/>
            </a:pPr>
            <a:r>
              <a:rPr lang="en-US" sz="1400" dirty="0">
                <a:solidFill>
                  <a:srgbClr val="3A372F"/>
                </a:solidFill>
                <a:latin typeface="Georgia" pitchFamily="34" charset="0"/>
                <a:ea typeface="Georgia" pitchFamily="34" charset="-122"/>
                <a:cs typeface="Georgia" pitchFamily="34" charset="-120"/>
              </a:rPr>
              <a:t>El 88,9 % ocurrió sin lluvia; la lluvia no aumentó la gravedad.</a:t>
            </a:r>
            <a:endParaRPr lang="en-US" sz="1400" dirty="0"/>
          </a:p>
        </p:txBody>
      </p:sp>
      <p:sp>
        <p:nvSpPr>
          <p:cNvPr id="23" name="Text 20"/>
          <p:cNvSpPr txBox="1"/>
          <p:nvPr/>
        </p:nvSpPr>
        <p:spPr>
          <a:xfrm>
            <a:off x="777240" y="4626864"/>
            <a:ext cx="365760" cy="548640"/>
          </a:xfrm>
          <a:prstGeom prst="rect">
            <a:avLst/>
          </a:prstGeom>
          <a:noFill/>
          <a:ln/>
        </p:spPr>
        <p:txBody>
          <a:bodyPr wrap="square" lIns="0" tIns="0" rIns="0" bIns="0" rtlCol="0" anchor="ctr"/>
          <a:lstStyle/>
          <a:p>
            <a:pPr marL="0" indent="0">
              <a:buNone/>
            </a:pPr>
            <a:r>
              <a:rPr lang="en-US" sz="2600" dirty="0">
                <a:solidFill>
                  <a:srgbClr val="B8321F"/>
                </a:solidFill>
                <a:latin typeface="Bahnschrift SemiBold Condensed" pitchFamily="34" charset="0"/>
                <a:ea typeface="Bahnschrift SemiBold Condensed" pitchFamily="34" charset="-122"/>
                <a:cs typeface="Bahnschrift SemiBold Condensed" pitchFamily="34" charset="-120"/>
              </a:rPr>
              <a:t>4</a:t>
            </a:r>
            <a:endParaRPr lang="en-US" sz="2600" dirty="0"/>
          </a:p>
        </p:txBody>
      </p:sp>
      <p:sp>
        <p:nvSpPr>
          <p:cNvPr id="24" name="Text 21"/>
          <p:cNvSpPr txBox="1"/>
          <p:nvPr/>
        </p:nvSpPr>
        <p:spPr>
          <a:xfrm>
            <a:off x="1188720" y="4626864"/>
            <a:ext cx="3840480" cy="548640"/>
          </a:xfrm>
          <a:prstGeom prst="rect">
            <a:avLst/>
          </a:prstGeom>
          <a:noFill/>
          <a:ln/>
        </p:spPr>
        <p:txBody>
          <a:bodyPr wrap="square" lIns="0" tIns="0" rIns="0" bIns="0" rtlCol="0" anchor="ctr"/>
          <a:lstStyle/>
          <a:p>
            <a:pPr marL="0" indent="0">
              <a:buNone/>
            </a:pPr>
            <a:r>
              <a:rPr lang="en-US" sz="1900" dirty="0">
                <a:solidFill>
                  <a:srgbClr val="16150F"/>
                </a:solidFill>
                <a:latin typeface="Bahnschrift SemiBold Condensed" pitchFamily="34" charset="0"/>
                <a:ea typeface="Bahnschrift SemiBold Condensed" pitchFamily="34" charset="-122"/>
                <a:cs typeface="Bahnschrift SemiBold Condensed" pitchFamily="34" charset="-120"/>
              </a:rPr>
              <a:t>Modelo predictivo</a:t>
            </a:r>
            <a:endParaRPr lang="en-US" sz="1900" dirty="0"/>
          </a:p>
        </p:txBody>
      </p:sp>
      <p:sp>
        <p:nvSpPr>
          <p:cNvPr id="25" name="Shape 22"/>
          <p:cNvSpPr/>
          <p:nvPr/>
        </p:nvSpPr>
        <p:spPr>
          <a:xfrm>
            <a:off x="5120640" y="4700016"/>
            <a:ext cx="1737360" cy="402336"/>
          </a:xfrm>
          <a:prstGeom prst="rect">
            <a:avLst/>
          </a:prstGeom>
          <a:solidFill>
            <a:srgbClr val="FBFAF6"/>
          </a:solidFill>
          <a:ln w="15875">
            <a:solidFill>
              <a:srgbClr val="B8321F"/>
            </a:solidFill>
            <a:prstDash val="solid"/>
          </a:ln>
        </p:spPr>
      </p:sp>
      <p:sp>
        <p:nvSpPr>
          <p:cNvPr id="26" name="Text 23"/>
          <p:cNvSpPr txBox="1"/>
          <p:nvPr/>
        </p:nvSpPr>
        <p:spPr>
          <a:xfrm>
            <a:off x="5120640" y="4700016"/>
            <a:ext cx="1737360" cy="402336"/>
          </a:xfrm>
          <a:prstGeom prst="rect">
            <a:avLst/>
          </a:prstGeom>
          <a:noFill/>
          <a:ln/>
        </p:spPr>
        <p:txBody>
          <a:bodyPr wrap="square" lIns="0" tIns="0" rIns="0" bIns="0" rtlCol="0" anchor="ctr"/>
          <a:lstStyle/>
          <a:p>
            <a:pPr marL="0" indent="0" algn="ctr">
              <a:buNone/>
            </a:pPr>
            <a:r>
              <a:rPr lang="en-US" sz="1000" b="1" dirty="0">
                <a:solidFill>
                  <a:srgbClr val="B8321F"/>
                </a:solidFill>
                <a:latin typeface="Consolas" pitchFamily="34" charset="0"/>
                <a:ea typeface="Consolas" pitchFamily="34" charset="-122"/>
                <a:cs typeface="Consolas" pitchFamily="34" charset="-120"/>
              </a:rPr>
              <a:t>SIGUIENTE FASE</a:t>
            </a:r>
            <a:endParaRPr lang="en-US" sz="1000" dirty="0"/>
          </a:p>
        </p:txBody>
      </p:sp>
      <p:sp>
        <p:nvSpPr>
          <p:cNvPr id="27" name="Text 24"/>
          <p:cNvSpPr txBox="1"/>
          <p:nvPr/>
        </p:nvSpPr>
        <p:spPr>
          <a:xfrm>
            <a:off x="7086600" y="4626864"/>
            <a:ext cx="4343400" cy="548640"/>
          </a:xfrm>
          <a:prstGeom prst="rect">
            <a:avLst/>
          </a:prstGeom>
          <a:noFill/>
          <a:ln/>
        </p:spPr>
        <p:txBody>
          <a:bodyPr wrap="square" lIns="0" tIns="0" rIns="0" bIns="0" rtlCol="0" anchor="ctr"/>
          <a:lstStyle/>
          <a:p>
            <a:pPr marL="0" indent="0">
              <a:buNone/>
            </a:pPr>
            <a:r>
              <a:rPr lang="en-US" sz="1400" dirty="0">
                <a:solidFill>
                  <a:srgbClr val="3A372F"/>
                </a:solidFill>
                <a:latin typeface="Georgia" pitchFamily="34" charset="0"/>
                <a:ea typeface="Georgia" pitchFamily="34" charset="-122"/>
                <a:cs typeface="Georgia" pitchFamily="34" charset="-120"/>
              </a:rPr>
              <a:t>Por ahora, el simulador usa un índice histórico.</a:t>
            </a:r>
            <a:endParaRPr lang="en-US" sz="1400" dirty="0"/>
          </a:p>
        </p:txBody>
      </p:sp>
      <p:sp>
        <p:nvSpPr>
          <p:cNvPr id="28" name="Text 25"/>
          <p:cNvSpPr txBox="1"/>
          <p:nvPr/>
        </p:nvSpPr>
        <p:spPr>
          <a:xfrm>
            <a:off x="777240" y="5340096"/>
            <a:ext cx="365760" cy="548640"/>
          </a:xfrm>
          <a:prstGeom prst="rect">
            <a:avLst/>
          </a:prstGeom>
          <a:noFill/>
          <a:ln/>
        </p:spPr>
        <p:txBody>
          <a:bodyPr wrap="square" lIns="0" tIns="0" rIns="0" bIns="0" rtlCol="0" anchor="ctr"/>
          <a:lstStyle/>
          <a:p>
            <a:pPr marL="0" indent="0">
              <a:buNone/>
            </a:pPr>
            <a:r>
              <a:rPr lang="en-US" sz="2600" dirty="0">
                <a:solidFill>
                  <a:srgbClr val="B8321F"/>
                </a:solidFill>
                <a:latin typeface="Bahnschrift SemiBold Condensed" pitchFamily="34" charset="0"/>
                <a:ea typeface="Bahnschrift SemiBold Condensed" pitchFamily="34" charset="-122"/>
                <a:cs typeface="Bahnschrift SemiBold Condensed" pitchFamily="34" charset="-120"/>
              </a:rPr>
              <a:t>5</a:t>
            </a:r>
            <a:endParaRPr lang="en-US" sz="2600" dirty="0"/>
          </a:p>
        </p:txBody>
      </p:sp>
      <p:sp>
        <p:nvSpPr>
          <p:cNvPr id="29" name="Text 26"/>
          <p:cNvSpPr txBox="1"/>
          <p:nvPr/>
        </p:nvSpPr>
        <p:spPr>
          <a:xfrm>
            <a:off x="1188720" y="5340096"/>
            <a:ext cx="3840480" cy="548640"/>
          </a:xfrm>
          <a:prstGeom prst="rect">
            <a:avLst/>
          </a:prstGeom>
          <a:noFill/>
          <a:ln/>
        </p:spPr>
        <p:txBody>
          <a:bodyPr wrap="square" lIns="0" tIns="0" rIns="0" bIns="0" rtlCol="0" anchor="ctr"/>
          <a:lstStyle/>
          <a:p>
            <a:pPr marL="0" indent="0">
              <a:buNone/>
            </a:pPr>
            <a:r>
              <a:rPr lang="en-US" sz="1900" dirty="0">
                <a:solidFill>
                  <a:srgbClr val="16150F"/>
                </a:solidFill>
                <a:latin typeface="Bahnschrift SemiBold Condensed" pitchFamily="34" charset="0"/>
                <a:ea typeface="Bahnschrift SemiBold Condensed" pitchFamily="34" charset="-122"/>
                <a:cs typeface="Bahnschrift SemiBold Condensed" pitchFamily="34" charset="-120"/>
              </a:rPr>
              <a:t>Dashboard y caso Simón Bolívar</a:t>
            </a:r>
            <a:endParaRPr lang="en-US" sz="1900" dirty="0"/>
          </a:p>
        </p:txBody>
      </p:sp>
      <p:sp>
        <p:nvSpPr>
          <p:cNvPr id="30" name="Shape 27"/>
          <p:cNvSpPr/>
          <p:nvPr/>
        </p:nvSpPr>
        <p:spPr>
          <a:xfrm>
            <a:off x="5120640" y="5413248"/>
            <a:ext cx="1737360" cy="402336"/>
          </a:xfrm>
          <a:prstGeom prst="rect">
            <a:avLst/>
          </a:prstGeom>
          <a:solidFill>
            <a:srgbClr val="16150F"/>
          </a:solidFill>
          <a:ln w="15875">
            <a:solidFill>
              <a:srgbClr val="16150F"/>
            </a:solidFill>
            <a:prstDash val="solid"/>
          </a:ln>
        </p:spPr>
      </p:sp>
      <p:sp>
        <p:nvSpPr>
          <p:cNvPr id="31" name="Text 28"/>
          <p:cNvSpPr txBox="1"/>
          <p:nvPr/>
        </p:nvSpPr>
        <p:spPr>
          <a:xfrm>
            <a:off x="5120640" y="5413248"/>
            <a:ext cx="1737360" cy="402336"/>
          </a:xfrm>
          <a:prstGeom prst="rect">
            <a:avLst/>
          </a:prstGeom>
          <a:noFill/>
          <a:ln/>
        </p:spPr>
        <p:txBody>
          <a:bodyPr wrap="square" lIns="0" tIns="0" rIns="0" bIns="0" rtlCol="0" anchor="ctr"/>
          <a:lstStyle/>
          <a:p>
            <a:pPr marL="0" indent="0" algn="ctr">
              <a:buNone/>
            </a:pPr>
            <a:r>
              <a:rPr lang="en-US" sz="1000" b="1" dirty="0">
                <a:solidFill>
                  <a:srgbClr val="F1EEE6"/>
                </a:solidFill>
                <a:latin typeface="Consolas" pitchFamily="34" charset="0"/>
                <a:ea typeface="Consolas" pitchFamily="34" charset="-122"/>
                <a:cs typeface="Consolas" pitchFamily="34" charset="-120"/>
              </a:rPr>
              <a:t>CUMPLIDO</a:t>
            </a:r>
            <a:endParaRPr lang="en-US" sz="1000" dirty="0"/>
          </a:p>
        </p:txBody>
      </p:sp>
      <p:sp>
        <p:nvSpPr>
          <p:cNvPr id="32" name="Text 29"/>
          <p:cNvSpPr txBox="1"/>
          <p:nvPr/>
        </p:nvSpPr>
        <p:spPr>
          <a:xfrm>
            <a:off x="7086600" y="5340096"/>
            <a:ext cx="4343400" cy="548640"/>
          </a:xfrm>
          <a:prstGeom prst="rect">
            <a:avLst/>
          </a:prstGeom>
          <a:noFill/>
          <a:ln/>
        </p:spPr>
        <p:txBody>
          <a:bodyPr wrap="square" lIns="0" tIns="0" rIns="0" bIns="0" rtlCol="0" anchor="ctr"/>
          <a:lstStyle/>
          <a:p>
            <a:pPr marL="0" indent="0">
              <a:buNone/>
            </a:pPr>
            <a:r>
              <a:rPr lang="en-US" sz="1400" dirty="0">
                <a:solidFill>
                  <a:srgbClr val="3A372F"/>
                </a:solidFill>
                <a:latin typeface="Georgia" pitchFamily="34" charset="0"/>
                <a:ea typeface="Georgia" pitchFamily="34" charset="-122"/>
                <a:cs typeface="Georgia" pitchFamily="34" charset="-120"/>
              </a:rPr>
              <a:t>Su hora pico (07:00) coincide con riesgo alto.</a:t>
            </a:r>
            <a:endParaRPr lang="en-US" sz="1400" dirty="0"/>
          </a:p>
        </p:txBody>
      </p:sp>
      <p:sp>
        <p:nvSpPr>
          <p:cNvPr id="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eccion"/>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B8321F"/>
                </a:solidFill>
                <a:latin typeface="Consolas" pitchFamily="34" charset="0"/>
                <a:ea typeface="Consolas" pitchFamily="34" charset="-122"/>
                <a:cs typeface="Consolas" pitchFamily="34" charset="-120"/>
              </a:rPr>
              <a:t>08 · CONCLUSIONES Y RECOMENDACIONES</a:t>
            </a:r>
            <a:endParaRPr lang="en-US" sz="1050" dirty="0"/>
          </a:p>
        </p:txBody>
      </p:sp>
      <p:sp>
        <p:nvSpPr>
          <p:cNvPr id="3" name="titulo"/>
          <p:cNvSpPr txBox="1"/>
          <p:nvPr/>
        </p:nvSpPr>
        <p:spPr>
          <a:xfrm>
            <a:off x="548640" y="621792"/>
            <a:ext cx="11064240" cy="658368"/>
          </a:xfrm>
          <a:prstGeom prst="rect">
            <a:avLst/>
          </a:prstGeom>
          <a:noFill/>
          <a:ln/>
        </p:spPr>
        <p:txBody>
          <a:bodyPr wrap="square" lIns="0" tIns="0" rIns="0" bIns="0" rtlCol="0" anchor="ctr"/>
          <a:lstStyle/>
          <a:p>
            <a:pPr marL="0" indent="0">
              <a:buNone/>
            </a:pPr>
            <a:r>
              <a:rPr lang="en-US" sz="3800" dirty="0">
                <a:solidFill>
                  <a:srgbClr val="16150F"/>
                </a:solidFill>
                <a:latin typeface="Bahnschrift SemiBold Condensed" pitchFamily="34" charset="0"/>
                <a:ea typeface="Bahnschrift SemiBold Condensed" pitchFamily="34" charset="-122"/>
                <a:cs typeface="Bahnschrift SemiBold Condensed" pitchFamily="34" charset="-120"/>
              </a:rPr>
              <a:t>CONCLUSIONES</a:t>
            </a:r>
            <a:endParaRPr lang="en-US" sz="3800" dirty="0"/>
          </a:p>
        </p:txBody>
      </p:sp>
      <p:sp>
        <p:nvSpPr>
          <p:cNvPr id="4" name="frase"/>
          <p:cNvSpPr txBox="1"/>
          <p:nvPr/>
        </p:nvSpPr>
        <p:spPr>
          <a:xfrm>
            <a:off x="548640" y="1298448"/>
            <a:ext cx="11064240" cy="640080"/>
          </a:xfrm>
          <a:prstGeom prst="rect">
            <a:avLst/>
          </a:prstGeom>
          <a:noFill/>
          <a:ln/>
        </p:spPr>
        <p:txBody>
          <a:bodyPr wrap="square" lIns="0" tIns="0" rIns="0" bIns="0" rtlCol="0" anchor="t"/>
          <a:lstStyle/>
          <a:p>
            <a:pPr marL="0" indent="0">
              <a:buNone/>
            </a:pPr>
            <a:r>
              <a:rPr lang="en-US" sz="1700" i="1" dirty="0">
                <a:solidFill>
                  <a:srgbClr val="3A372F"/>
                </a:solidFill>
                <a:latin typeface="Georgia" pitchFamily="34" charset="0"/>
                <a:ea typeface="Georgia" pitchFamily="34" charset="-122"/>
                <a:cs typeface="Georgia" pitchFamily="34" charset="-120"/>
              </a:rPr>
              <a:t>El problema de Quito no es cuántos siniestros hay, sino qué tan graves son, cuándo y dónde ocurren.</a:t>
            </a:r>
            <a:endParaRPr lang="en-US" sz="1700" dirty="0"/>
          </a:p>
        </p:txBody>
      </p:sp>
      <p:sp>
        <p:nvSpPr>
          <p:cNvPr id="6" name="tarjeta"/>
          <p:cNvSpPr/>
          <p:nvPr/>
        </p:nvSpPr>
        <p:spPr>
          <a:xfrm>
            <a:off x="548640" y="2103120"/>
            <a:ext cx="5440680" cy="1874520"/>
          </a:xfrm>
          <a:prstGeom prst="rect">
            <a:avLst/>
          </a:prstGeom>
          <a:solidFill>
            <a:srgbClr val="FBFAF6"/>
          </a:solidFill>
          <a:ln w="15875">
            <a:solidFill>
              <a:srgbClr val="16150F"/>
            </a:solidFill>
            <a:prstDash val="solid"/>
          </a:ln>
        </p:spPr>
      </p:sp>
      <p:sp>
        <p:nvSpPr>
          <p:cNvPr id="7" name="Text 4"/>
          <p:cNvSpPr txBox="1"/>
          <p:nvPr/>
        </p:nvSpPr>
        <p:spPr>
          <a:xfrm>
            <a:off x="749808" y="2331720"/>
            <a:ext cx="914400" cy="822960"/>
          </a:xfrm>
          <a:prstGeom prst="rect">
            <a:avLst/>
          </a:prstGeom>
          <a:noFill/>
          <a:ln/>
        </p:spPr>
        <p:txBody>
          <a:bodyPr wrap="square" lIns="0" tIns="0" rIns="0" bIns="0" rtlCol="0" anchor="t"/>
          <a:lstStyle/>
          <a:p>
            <a:pPr marL="0" indent="0">
              <a:buNone/>
            </a:pPr>
            <a:r>
              <a:rPr lang="en-US" sz="5400" dirty="0">
                <a:solidFill>
                  <a:srgbClr val="B8321F"/>
                </a:solidFill>
                <a:latin typeface="Bahnschrift SemiBold Condensed" pitchFamily="34" charset="0"/>
                <a:ea typeface="Bahnschrift SemiBold Condensed" pitchFamily="34" charset="-122"/>
                <a:cs typeface="Bahnschrift SemiBold Condensed" pitchFamily="34" charset="-120"/>
              </a:rPr>
              <a:t>01</a:t>
            </a:r>
            <a:endParaRPr lang="en-US" sz="5400" dirty="0"/>
          </a:p>
        </p:txBody>
      </p:sp>
      <p:sp>
        <p:nvSpPr>
          <p:cNvPr id="8" name="Text 5"/>
          <p:cNvSpPr txBox="1"/>
          <p:nvPr/>
        </p:nvSpPr>
        <p:spPr>
          <a:xfrm>
            <a:off x="1737360" y="2377440"/>
            <a:ext cx="3977640" cy="457200"/>
          </a:xfrm>
          <a:prstGeom prst="rect">
            <a:avLst/>
          </a:prstGeom>
          <a:noFill/>
          <a:ln/>
        </p:spPr>
        <p:txBody>
          <a:bodyPr wrap="square" lIns="0" tIns="0" rIns="0" bIns="0" rtlCol="0" anchor="ctr"/>
          <a:lstStyle/>
          <a:p>
            <a:pPr marL="0" indent="0">
              <a:buNone/>
            </a:pPr>
            <a:r>
              <a:rPr lang="en-US" sz="2400" dirty="0">
                <a:solidFill>
                  <a:srgbClr val="16150F"/>
                </a:solidFill>
                <a:latin typeface="Bahnschrift SemiBold Condensed" pitchFamily="34" charset="0"/>
                <a:ea typeface="Bahnschrift SemiBold Condensed" pitchFamily="34" charset="-122"/>
                <a:cs typeface="Bahnschrift SemiBold Condensed" pitchFamily="34" charset="-120"/>
              </a:rPr>
              <a:t>LA GRAVEDAD ES EL PROBLEMA</a:t>
            </a:r>
            <a:endParaRPr lang="en-US" sz="2400" dirty="0"/>
          </a:p>
        </p:txBody>
      </p:sp>
      <p:sp>
        <p:nvSpPr>
          <p:cNvPr id="9" name="Text 6"/>
          <p:cNvSpPr txBox="1"/>
          <p:nvPr/>
        </p:nvSpPr>
        <p:spPr>
          <a:xfrm>
            <a:off x="1737360" y="2907792"/>
            <a:ext cx="3977640" cy="960120"/>
          </a:xfrm>
          <a:prstGeom prst="rect">
            <a:avLst/>
          </a:prstGeom>
          <a:noFill/>
          <a:ln/>
        </p:spPr>
        <p:txBody>
          <a:bodyPr wrap="square" lIns="0" tIns="0" rIns="0" bIns="0" rtlCol="0" anchor="t"/>
          <a:lstStyle/>
          <a:p>
            <a:pPr marL="0" indent="0">
              <a:buNone/>
            </a:pPr>
            <a:r>
              <a:rPr lang="en-US" sz="1500" dirty="0">
                <a:solidFill>
                  <a:srgbClr val="3A372F"/>
                </a:solidFill>
                <a:latin typeface="Georgia" pitchFamily="34" charset="0"/>
                <a:ea typeface="Georgia" pitchFamily="34" charset="-122"/>
                <a:cs typeface="Georgia" pitchFamily="34" charset="-120"/>
              </a:rPr>
              <a:t>Hay menos siniestros que en 2017, pero más fallecidos: 337 en 2025.</a:t>
            </a:r>
            <a:endParaRPr lang="en-US" sz="1500" dirty="0"/>
          </a:p>
        </p:txBody>
      </p:sp>
      <p:sp>
        <p:nvSpPr>
          <p:cNvPr id="10" name="tarjeta"/>
          <p:cNvSpPr/>
          <p:nvPr/>
        </p:nvSpPr>
        <p:spPr>
          <a:xfrm>
            <a:off x="6126480" y="2103120"/>
            <a:ext cx="5440680" cy="1874520"/>
          </a:xfrm>
          <a:prstGeom prst="rect">
            <a:avLst/>
          </a:prstGeom>
          <a:solidFill>
            <a:srgbClr val="FBFAF6"/>
          </a:solidFill>
          <a:ln w="15875">
            <a:solidFill>
              <a:srgbClr val="16150F"/>
            </a:solidFill>
            <a:prstDash val="solid"/>
          </a:ln>
        </p:spPr>
      </p:sp>
      <p:sp>
        <p:nvSpPr>
          <p:cNvPr id="11" name="Text 8"/>
          <p:cNvSpPr txBox="1"/>
          <p:nvPr/>
        </p:nvSpPr>
        <p:spPr>
          <a:xfrm>
            <a:off x="6327648" y="2331720"/>
            <a:ext cx="914400" cy="822960"/>
          </a:xfrm>
          <a:prstGeom prst="rect">
            <a:avLst/>
          </a:prstGeom>
          <a:noFill/>
          <a:ln/>
        </p:spPr>
        <p:txBody>
          <a:bodyPr wrap="square" lIns="0" tIns="0" rIns="0" bIns="0" rtlCol="0" anchor="t"/>
          <a:lstStyle/>
          <a:p>
            <a:pPr marL="0" indent="0">
              <a:buNone/>
            </a:pPr>
            <a:r>
              <a:rPr lang="en-US" sz="5400" dirty="0">
                <a:solidFill>
                  <a:srgbClr val="B8321F"/>
                </a:solidFill>
                <a:latin typeface="Bahnschrift SemiBold Condensed" pitchFamily="34" charset="0"/>
                <a:ea typeface="Bahnschrift SemiBold Condensed" pitchFamily="34" charset="-122"/>
                <a:cs typeface="Bahnschrift SemiBold Condensed" pitchFamily="34" charset="-120"/>
              </a:rPr>
              <a:t>02</a:t>
            </a:r>
            <a:endParaRPr lang="en-US" sz="5400" dirty="0"/>
          </a:p>
        </p:txBody>
      </p:sp>
      <p:sp>
        <p:nvSpPr>
          <p:cNvPr id="12" name="Text 9"/>
          <p:cNvSpPr txBox="1"/>
          <p:nvPr/>
        </p:nvSpPr>
        <p:spPr>
          <a:xfrm>
            <a:off x="7315200" y="2377440"/>
            <a:ext cx="3977640" cy="457200"/>
          </a:xfrm>
          <a:prstGeom prst="rect">
            <a:avLst/>
          </a:prstGeom>
          <a:noFill/>
          <a:ln/>
        </p:spPr>
        <p:txBody>
          <a:bodyPr wrap="square" lIns="0" tIns="0" rIns="0" bIns="0" rtlCol="0" anchor="ctr"/>
          <a:lstStyle/>
          <a:p>
            <a:pPr marL="0" indent="0">
              <a:buNone/>
            </a:pPr>
            <a:r>
              <a:rPr lang="en-US" sz="2400" dirty="0">
                <a:solidFill>
                  <a:srgbClr val="16150F"/>
                </a:solidFill>
                <a:latin typeface="Bahnschrift SemiBold Condensed" pitchFamily="34" charset="0"/>
                <a:ea typeface="Bahnschrift SemiBold Condensed" pitchFamily="34" charset="-122"/>
                <a:cs typeface="Bahnschrift SemiBold Condensed" pitchFamily="34" charset="-120"/>
              </a:rPr>
              <a:t>EL RIESGO TIENE HORARIO</a:t>
            </a:r>
            <a:endParaRPr lang="en-US" sz="2400" dirty="0"/>
          </a:p>
        </p:txBody>
      </p:sp>
      <p:sp>
        <p:nvSpPr>
          <p:cNvPr id="13" name="Text 10"/>
          <p:cNvSpPr txBox="1"/>
          <p:nvPr/>
        </p:nvSpPr>
        <p:spPr>
          <a:xfrm>
            <a:off x="7315200" y="2907792"/>
            <a:ext cx="3977640" cy="960120"/>
          </a:xfrm>
          <a:prstGeom prst="rect">
            <a:avLst/>
          </a:prstGeom>
          <a:noFill/>
          <a:ln/>
        </p:spPr>
        <p:txBody>
          <a:bodyPr wrap="square" lIns="0" tIns="0" rIns="0" bIns="0" rtlCol="0" anchor="t"/>
          <a:lstStyle/>
          <a:p>
            <a:pPr marL="0" indent="0">
              <a:buNone/>
            </a:pPr>
            <a:r>
              <a:rPr lang="en-US" sz="1500" dirty="0">
                <a:solidFill>
                  <a:srgbClr val="3A372F"/>
                </a:solidFill>
                <a:latin typeface="Georgia" pitchFamily="34" charset="0"/>
                <a:ea typeface="Georgia" pitchFamily="34" charset="-122"/>
                <a:cs typeface="Georgia" pitchFamily="34" charset="-120"/>
              </a:rPr>
              <a:t>Horas pico a las 07:00 y 19:00, y madrugadas del fin de semana.</a:t>
            </a:r>
            <a:endParaRPr lang="en-US" sz="1500" dirty="0"/>
          </a:p>
        </p:txBody>
      </p:sp>
      <p:sp>
        <p:nvSpPr>
          <p:cNvPr id="14" name="tarjeta"/>
          <p:cNvSpPr/>
          <p:nvPr/>
        </p:nvSpPr>
        <p:spPr>
          <a:xfrm>
            <a:off x="548640" y="4160520"/>
            <a:ext cx="5440680" cy="1874520"/>
          </a:xfrm>
          <a:prstGeom prst="rect">
            <a:avLst/>
          </a:prstGeom>
          <a:solidFill>
            <a:srgbClr val="FBFAF6"/>
          </a:solidFill>
          <a:ln w="15875">
            <a:solidFill>
              <a:srgbClr val="16150F"/>
            </a:solidFill>
            <a:prstDash val="solid"/>
          </a:ln>
        </p:spPr>
      </p:sp>
      <p:sp>
        <p:nvSpPr>
          <p:cNvPr id="15" name="Text 12"/>
          <p:cNvSpPr txBox="1"/>
          <p:nvPr/>
        </p:nvSpPr>
        <p:spPr>
          <a:xfrm>
            <a:off x="749808" y="4389120"/>
            <a:ext cx="914400" cy="822960"/>
          </a:xfrm>
          <a:prstGeom prst="rect">
            <a:avLst/>
          </a:prstGeom>
          <a:noFill/>
          <a:ln/>
        </p:spPr>
        <p:txBody>
          <a:bodyPr wrap="square" lIns="0" tIns="0" rIns="0" bIns="0" rtlCol="0" anchor="t"/>
          <a:lstStyle/>
          <a:p>
            <a:pPr marL="0" indent="0">
              <a:buNone/>
            </a:pPr>
            <a:r>
              <a:rPr lang="en-US" sz="5400" dirty="0">
                <a:solidFill>
                  <a:srgbClr val="B8321F"/>
                </a:solidFill>
                <a:latin typeface="Bahnschrift SemiBold Condensed" pitchFamily="34" charset="0"/>
                <a:ea typeface="Bahnschrift SemiBold Condensed" pitchFamily="34" charset="-122"/>
                <a:cs typeface="Bahnschrift SemiBold Condensed" pitchFamily="34" charset="-120"/>
              </a:rPr>
              <a:t>03</a:t>
            </a:r>
            <a:endParaRPr lang="en-US" sz="5400" dirty="0"/>
          </a:p>
        </p:txBody>
      </p:sp>
      <p:sp>
        <p:nvSpPr>
          <p:cNvPr id="16" name="Text 13"/>
          <p:cNvSpPr txBox="1"/>
          <p:nvPr/>
        </p:nvSpPr>
        <p:spPr>
          <a:xfrm>
            <a:off x="1737360" y="4434840"/>
            <a:ext cx="3977640" cy="457200"/>
          </a:xfrm>
          <a:prstGeom prst="rect">
            <a:avLst/>
          </a:prstGeom>
          <a:noFill/>
          <a:ln/>
        </p:spPr>
        <p:txBody>
          <a:bodyPr wrap="square" lIns="0" tIns="0" rIns="0" bIns="0" rtlCol="0" anchor="ctr"/>
          <a:lstStyle/>
          <a:p>
            <a:pPr marL="0" indent="0">
              <a:buNone/>
            </a:pPr>
            <a:r>
              <a:rPr lang="en-US" sz="2400" dirty="0">
                <a:solidFill>
                  <a:srgbClr val="16150F"/>
                </a:solidFill>
                <a:latin typeface="Bahnschrift SemiBold Condensed" pitchFamily="34" charset="0"/>
                <a:ea typeface="Bahnschrift SemiBold Condensed" pitchFamily="34" charset="-122"/>
                <a:cs typeface="Bahnschrift SemiBold Condensed" pitchFamily="34" charset="-120"/>
              </a:rPr>
              <a:t>EL RIESGO TIENE LUGAR</a:t>
            </a:r>
            <a:endParaRPr lang="en-US" sz="2400" dirty="0"/>
          </a:p>
        </p:txBody>
      </p:sp>
      <p:sp>
        <p:nvSpPr>
          <p:cNvPr id="17" name="Text 14"/>
          <p:cNvSpPr txBox="1"/>
          <p:nvPr/>
        </p:nvSpPr>
        <p:spPr>
          <a:xfrm>
            <a:off x="1737360" y="4965192"/>
            <a:ext cx="3977640" cy="960120"/>
          </a:xfrm>
          <a:prstGeom prst="rect">
            <a:avLst/>
          </a:prstGeom>
          <a:noFill/>
          <a:ln/>
        </p:spPr>
        <p:txBody>
          <a:bodyPr wrap="square" lIns="0" tIns="0" rIns="0" bIns="0" rtlCol="0" anchor="t"/>
          <a:lstStyle/>
          <a:p>
            <a:pPr marL="0" indent="0">
              <a:buNone/>
            </a:pPr>
            <a:r>
              <a:rPr lang="en-US" sz="1500" dirty="0">
                <a:solidFill>
                  <a:srgbClr val="3A372F"/>
                </a:solidFill>
                <a:latin typeface="Georgia" pitchFamily="34" charset="0"/>
                <a:ea typeface="Georgia" pitchFamily="34" charset="-122"/>
                <a:cs typeface="Georgia" pitchFamily="34" charset="-120"/>
              </a:rPr>
              <a:t>Cantidad en Quitumbe, Iñaquito y Calderón; gravedad en parroquias rurales como Pifo.</a:t>
            </a:r>
            <a:endParaRPr lang="en-US" sz="1500" dirty="0"/>
          </a:p>
        </p:txBody>
      </p:sp>
      <p:sp>
        <p:nvSpPr>
          <p:cNvPr id="18" name="tarjeta"/>
          <p:cNvSpPr/>
          <p:nvPr/>
        </p:nvSpPr>
        <p:spPr>
          <a:xfrm>
            <a:off x="6126480" y="4160520"/>
            <a:ext cx="5440680" cy="1874520"/>
          </a:xfrm>
          <a:prstGeom prst="rect">
            <a:avLst/>
          </a:prstGeom>
          <a:solidFill>
            <a:srgbClr val="FBFAF6"/>
          </a:solidFill>
          <a:ln w="15875">
            <a:solidFill>
              <a:srgbClr val="16150F"/>
            </a:solidFill>
            <a:prstDash val="solid"/>
          </a:ln>
        </p:spPr>
      </p:sp>
      <p:sp>
        <p:nvSpPr>
          <p:cNvPr id="19" name="Text 16"/>
          <p:cNvSpPr txBox="1"/>
          <p:nvPr/>
        </p:nvSpPr>
        <p:spPr>
          <a:xfrm>
            <a:off x="6327648" y="4389120"/>
            <a:ext cx="914400" cy="822960"/>
          </a:xfrm>
          <a:prstGeom prst="rect">
            <a:avLst/>
          </a:prstGeom>
          <a:noFill/>
          <a:ln/>
        </p:spPr>
        <p:txBody>
          <a:bodyPr wrap="square" lIns="0" tIns="0" rIns="0" bIns="0" rtlCol="0" anchor="t"/>
          <a:lstStyle/>
          <a:p>
            <a:pPr marL="0" indent="0">
              <a:buNone/>
            </a:pPr>
            <a:r>
              <a:rPr lang="en-US" sz="5400" dirty="0">
                <a:solidFill>
                  <a:srgbClr val="B8321F"/>
                </a:solidFill>
                <a:latin typeface="Bahnschrift SemiBold Condensed" pitchFamily="34" charset="0"/>
                <a:ea typeface="Bahnschrift SemiBold Condensed" pitchFamily="34" charset="-122"/>
                <a:cs typeface="Bahnschrift SemiBold Condensed" pitchFamily="34" charset="-120"/>
              </a:rPr>
              <a:t>04</a:t>
            </a:r>
            <a:endParaRPr lang="en-US" sz="5400" dirty="0"/>
          </a:p>
        </p:txBody>
      </p:sp>
      <p:sp>
        <p:nvSpPr>
          <p:cNvPr id="20" name="Text 17"/>
          <p:cNvSpPr txBox="1"/>
          <p:nvPr/>
        </p:nvSpPr>
        <p:spPr>
          <a:xfrm>
            <a:off x="7315200" y="4434840"/>
            <a:ext cx="3977640" cy="457200"/>
          </a:xfrm>
          <a:prstGeom prst="rect">
            <a:avLst/>
          </a:prstGeom>
          <a:noFill/>
          <a:ln/>
        </p:spPr>
        <p:txBody>
          <a:bodyPr wrap="square" lIns="0" tIns="0" rIns="0" bIns="0" rtlCol="0" anchor="ctr"/>
          <a:lstStyle/>
          <a:p>
            <a:pPr marL="0" indent="0">
              <a:buNone/>
            </a:pPr>
            <a:r>
              <a:rPr lang="en-US" sz="2400" dirty="0">
                <a:solidFill>
                  <a:srgbClr val="16150F"/>
                </a:solidFill>
                <a:latin typeface="Bahnschrift SemiBold Condensed" pitchFamily="34" charset="0"/>
                <a:ea typeface="Bahnschrift SemiBold Condensed" pitchFamily="34" charset="-122"/>
                <a:cs typeface="Bahnschrift SemiBold Condensed" pitchFamily="34" charset="-120"/>
              </a:rPr>
              <a:t>DEPENDE DEL CONDUCTOR</a:t>
            </a:r>
            <a:endParaRPr lang="en-US" sz="2400" dirty="0"/>
          </a:p>
        </p:txBody>
      </p:sp>
      <p:sp>
        <p:nvSpPr>
          <p:cNvPr id="21" name="Text 18"/>
          <p:cNvSpPr txBox="1"/>
          <p:nvPr/>
        </p:nvSpPr>
        <p:spPr>
          <a:xfrm>
            <a:off x="7315200" y="4965192"/>
            <a:ext cx="3977640" cy="960120"/>
          </a:xfrm>
          <a:prstGeom prst="rect">
            <a:avLst/>
          </a:prstGeom>
          <a:noFill/>
          <a:ln/>
        </p:spPr>
        <p:txBody>
          <a:bodyPr wrap="square" lIns="0" tIns="0" rIns="0" bIns="0" rtlCol="0" anchor="t"/>
          <a:lstStyle/>
          <a:p>
            <a:pPr marL="0" indent="0">
              <a:buNone/>
            </a:pPr>
            <a:r>
              <a:rPr lang="en-US" sz="1500" dirty="0">
                <a:solidFill>
                  <a:srgbClr val="3A372F"/>
                </a:solidFill>
                <a:latin typeface="Georgia" pitchFamily="34" charset="0"/>
                <a:ea typeface="Georgia" pitchFamily="34" charset="-122"/>
                <a:cs typeface="Georgia" pitchFamily="34" charset="-120"/>
              </a:rPr>
              <a:t>El 85,5 % se debe a su comportamiento; la lluvia no aumenta la gravedad.</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6657"/>
                </a:solidFill>
                <a:latin typeface="Consolas"/>
                <a:ea typeface="Consolas"/>
                <a:cs typeface="Consolas"/>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050" kern="0" spc="300" dirty="0">
                <a:solidFill>
                  <a:srgbClr val="E2563E"/>
                </a:solidFill>
                <a:latin typeface="Consolas" pitchFamily="34" charset="0"/>
                <a:ea typeface="Consolas" pitchFamily="34" charset="-122"/>
                <a:cs typeface="Consolas" pitchFamily="34" charset="-120"/>
              </a:rPr>
              <a:t>08 · CONCLUSIONES Y RECOMENDACIONES</a:t>
            </a:r>
            <a:endParaRPr lang="en-US" sz="1050" dirty="0"/>
          </a:p>
        </p:txBody>
      </p:sp>
      <p:sp>
        <p:nvSpPr>
          <p:cNvPr id="3" name="titulo"/>
          <p:cNvSpPr txBox="1"/>
          <p:nvPr/>
        </p:nvSpPr>
        <p:spPr>
          <a:xfrm>
            <a:off x="548640" y="621792"/>
            <a:ext cx="10972800" cy="658368"/>
          </a:xfrm>
          <a:prstGeom prst="rect">
            <a:avLst/>
          </a:prstGeom>
          <a:noFill/>
          <a:ln/>
        </p:spPr>
        <p:txBody>
          <a:bodyPr wrap="square" lIns="0" tIns="0" rIns="0" bIns="0" rtlCol="0" anchor="ctr"/>
          <a:lstStyle/>
          <a:p>
            <a:pPr marL="0" indent="0">
              <a:buNone/>
            </a:pPr>
            <a:r>
              <a:rPr lang="en-US" sz="3800" dirty="0">
                <a:solidFill>
                  <a:srgbClr val="F1EEE6"/>
                </a:solidFill>
                <a:latin typeface="Bahnschrift SemiBold Condensed" pitchFamily="34" charset="0"/>
                <a:ea typeface="Bahnschrift SemiBold Condensed" pitchFamily="34" charset="-122"/>
                <a:cs typeface="Bahnschrift SemiBold Condensed" pitchFamily="34" charset="-120"/>
              </a:rPr>
              <a:t>RECOMENDACIONES</a:t>
            </a:r>
            <a:endParaRPr lang="en-US" sz="3800" dirty="0"/>
          </a:p>
        </p:txBody>
      </p:sp>
      <p:sp>
        <p:nvSpPr>
          <p:cNvPr id="4" name="Text 2"/>
          <p:cNvSpPr txBox="1"/>
          <p:nvPr/>
        </p:nvSpPr>
        <p:spPr>
          <a:xfrm>
            <a:off x="548640" y="1298448"/>
            <a:ext cx="10972800" cy="548640"/>
          </a:xfrm>
          <a:prstGeom prst="rect">
            <a:avLst/>
          </a:prstGeom>
          <a:noFill/>
          <a:ln/>
        </p:spPr>
        <p:txBody>
          <a:bodyPr wrap="square" lIns="0" tIns="0" rIns="0" bIns="0" rtlCol="0" anchor="ctr"/>
          <a:lstStyle/>
          <a:p>
            <a:pPr marL="0" indent="0">
              <a:buNone/>
            </a:pPr>
            <a:r>
              <a:rPr lang="en-US" sz="1700" i="1" dirty="0">
                <a:solidFill>
                  <a:srgbClr val="C9C2B0"/>
                </a:solidFill>
                <a:latin typeface="Georgia" pitchFamily="34" charset="0"/>
                <a:ea typeface="Georgia" pitchFamily="34" charset="-122"/>
                <a:cs typeface="Georgia" pitchFamily="34" charset="-120"/>
              </a:rPr>
              <a:t>Con estos resultados, las acciones pueden concentrarse donde y cuando más se necesitan.</a:t>
            </a:r>
            <a:endParaRPr lang="en-US" sz="1700" dirty="0"/>
          </a:p>
        </p:txBody>
      </p:sp>
      <p:sp>
        <p:nvSpPr>
          <p:cNvPr id="5" name="Shape 3"/>
          <p:cNvSpPr/>
          <p:nvPr/>
        </p:nvSpPr>
        <p:spPr>
          <a:xfrm>
            <a:off x="548640" y="2148840"/>
            <a:ext cx="2606040" cy="2743200"/>
          </a:xfrm>
          <a:prstGeom prst="rect">
            <a:avLst/>
          </a:prstGeom>
          <a:solidFill>
            <a:srgbClr val="24221B"/>
          </a:solidFill>
          <a:ln w="12700">
            <a:solidFill>
              <a:srgbClr val="4A473D"/>
            </a:solidFill>
            <a:prstDash val="solid"/>
          </a:ln>
        </p:spPr>
      </p:sp>
      <p:sp>
        <p:nvSpPr>
          <p:cNvPr id="6" name="Text 4"/>
          <p:cNvSpPr txBox="1"/>
          <p:nvPr/>
        </p:nvSpPr>
        <p:spPr>
          <a:xfrm>
            <a:off x="749808" y="2331720"/>
            <a:ext cx="1097280" cy="731520"/>
          </a:xfrm>
          <a:prstGeom prst="rect">
            <a:avLst/>
          </a:prstGeom>
          <a:noFill/>
          <a:ln/>
        </p:spPr>
        <p:txBody>
          <a:bodyPr wrap="square" lIns="0" tIns="0" rIns="0" bIns="0" rtlCol="0" anchor="ctr"/>
          <a:lstStyle/>
          <a:p>
            <a:pPr marL="0" indent="0">
              <a:buNone/>
            </a:pPr>
            <a:r>
              <a:rPr lang="en-US" sz="4400" dirty="0">
                <a:solidFill>
                  <a:srgbClr val="E2563E"/>
                </a:solidFill>
                <a:latin typeface="Bahnschrift SemiBold Condensed" pitchFamily="34" charset="0"/>
                <a:ea typeface="Bahnschrift SemiBold Condensed" pitchFamily="34" charset="-122"/>
                <a:cs typeface="Bahnschrift SemiBold Condensed" pitchFamily="34" charset="-120"/>
              </a:rPr>
              <a:t>01</a:t>
            </a:r>
            <a:endParaRPr lang="en-US" sz="4400" dirty="0"/>
          </a:p>
        </p:txBody>
      </p:sp>
      <p:sp>
        <p:nvSpPr>
          <p:cNvPr id="7" name="Text 5"/>
          <p:cNvSpPr txBox="1"/>
          <p:nvPr/>
        </p:nvSpPr>
        <p:spPr>
          <a:xfrm>
            <a:off x="749808" y="3108960"/>
            <a:ext cx="2240280" cy="685800"/>
          </a:xfrm>
          <a:prstGeom prst="rect">
            <a:avLst/>
          </a:prstGeom>
          <a:noFill/>
          <a:ln/>
        </p:spPr>
        <p:txBody>
          <a:bodyPr wrap="square" lIns="0" tIns="0" rIns="0" bIns="0" rtlCol="0" anchor="t"/>
          <a:lstStyle/>
          <a:p>
            <a:pPr marL="0" indent="0">
              <a:buNone/>
            </a:pPr>
            <a:r>
              <a:rPr lang="en-US" sz="2100" dirty="0">
                <a:solidFill>
                  <a:srgbClr val="F1EEE6"/>
                </a:solidFill>
                <a:latin typeface="Bahnschrift SemiBold Condensed" pitchFamily="34" charset="0"/>
                <a:ea typeface="Bahnschrift SemiBold Condensed" pitchFamily="34" charset="-122"/>
                <a:cs typeface="Bahnschrift SemiBold Condensed" pitchFamily="34" charset="-120"/>
              </a:rPr>
              <a:t>CONTROL EN VÍAS RURALES</a:t>
            </a:r>
            <a:endParaRPr lang="en-US" sz="2100" dirty="0"/>
          </a:p>
        </p:txBody>
      </p:sp>
      <p:sp>
        <p:nvSpPr>
          <p:cNvPr id="8" name="Text 6"/>
          <p:cNvSpPr txBox="1"/>
          <p:nvPr/>
        </p:nvSpPr>
        <p:spPr>
          <a:xfrm>
            <a:off x="749808" y="3840480"/>
            <a:ext cx="2240280" cy="960120"/>
          </a:xfrm>
          <a:prstGeom prst="rect">
            <a:avLst/>
          </a:prstGeom>
          <a:noFill/>
          <a:ln/>
        </p:spPr>
        <p:txBody>
          <a:bodyPr wrap="square" lIns="0" tIns="0" rIns="0" bIns="0" rtlCol="0" anchor="t"/>
          <a:lstStyle/>
          <a:p>
            <a:pPr marL="0" indent="0">
              <a:buNone/>
            </a:pPr>
            <a:r>
              <a:rPr lang="en-US" sz="1400" dirty="0">
                <a:solidFill>
                  <a:srgbClr val="C9C2B0"/>
                </a:solidFill>
                <a:latin typeface="Georgia" pitchFamily="34" charset="0"/>
                <a:ea typeface="Georgia" pitchFamily="34" charset="-122"/>
                <a:cs typeface="Georgia" pitchFamily="34" charset="-120"/>
              </a:rPr>
              <a:t>Más controles de velocidad en Pifo, Tababela, Yaruquí y Píntag.</a:t>
            </a:r>
            <a:endParaRPr lang="en-US" sz="1400" dirty="0"/>
          </a:p>
        </p:txBody>
      </p:sp>
      <p:sp>
        <p:nvSpPr>
          <p:cNvPr id="9" name="Shape 7"/>
          <p:cNvSpPr/>
          <p:nvPr/>
        </p:nvSpPr>
        <p:spPr>
          <a:xfrm>
            <a:off x="3346704" y="2148840"/>
            <a:ext cx="2606040" cy="2743200"/>
          </a:xfrm>
          <a:prstGeom prst="rect">
            <a:avLst/>
          </a:prstGeom>
          <a:solidFill>
            <a:srgbClr val="24221B"/>
          </a:solidFill>
          <a:ln w="12700">
            <a:solidFill>
              <a:srgbClr val="4A473D"/>
            </a:solidFill>
            <a:prstDash val="solid"/>
          </a:ln>
        </p:spPr>
      </p:sp>
      <p:sp>
        <p:nvSpPr>
          <p:cNvPr id="10" name="Text 8"/>
          <p:cNvSpPr txBox="1"/>
          <p:nvPr/>
        </p:nvSpPr>
        <p:spPr>
          <a:xfrm>
            <a:off x="3547872" y="2331720"/>
            <a:ext cx="1097280" cy="731520"/>
          </a:xfrm>
          <a:prstGeom prst="rect">
            <a:avLst/>
          </a:prstGeom>
          <a:noFill/>
          <a:ln/>
        </p:spPr>
        <p:txBody>
          <a:bodyPr wrap="square" lIns="0" tIns="0" rIns="0" bIns="0" rtlCol="0" anchor="ctr"/>
          <a:lstStyle/>
          <a:p>
            <a:pPr marL="0" indent="0">
              <a:buNone/>
            </a:pPr>
            <a:r>
              <a:rPr lang="en-US" sz="4400" dirty="0">
                <a:solidFill>
                  <a:srgbClr val="E2563E"/>
                </a:solidFill>
                <a:latin typeface="Bahnschrift SemiBold Condensed" pitchFamily="34" charset="0"/>
                <a:ea typeface="Bahnschrift SemiBold Condensed" pitchFamily="34" charset="-122"/>
                <a:cs typeface="Bahnschrift SemiBold Condensed" pitchFamily="34" charset="-120"/>
              </a:rPr>
              <a:t>02</a:t>
            </a:r>
            <a:endParaRPr lang="en-US" sz="4400" dirty="0"/>
          </a:p>
        </p:txBody>
      </p:sp>
      <p:sp>
        <p:nvSpPr>
          <p:cNvPr id="11" name="Text 9"/>
          <p:cNvSpPr txBox="1"/>
          <p:nvPr/>
        </p:nvSpPr>
        <p:spPr>
          <a:xfrm>
            <a:off x="3547872" y="3108960"/>
            <a:ext cx="2240280" cy="685800"/>
          </a:xfrm>
          <a:prstGeom prst="rect">
            <a:avLst/>
          </a:prstGeom>
          <a:noFill/>
          <a:ln/>
        </p:spPr>
        <p:txBody>
          <a:bodyPr wrap="square" lIns="0" tIns="0" rIns="0" bIns="0" rtlCol="0" anchor="t"/>
          <a:lstStyle/>
          <a:p>
            <a:pPr marL="0" indent="0">
              <a:buNone/>
            </a:pPr>
            <a:r>
              <a:rPr lang="en-US" sz="2100" dirty="0">
                <a:solidFill>
                  <a:srgbClr val="F1EEE6"/>
                </a:solidFill>
                <a:latin typeface="Bahnschrift SemiBold Condensed" pitchFamily="34" charset="0"/>
                <a:ea typeface="Bahnschrift SemiBold Condensed" pitchFamily="34" charset="-122"/>
                <a:cs typeface="Bahnschrift SemiBold Condensed" pitchFamily="34" charset="-120"/>
              </a:rPr>
              <a:t>OPERATIVOS EN LA MADRUGADA</a:t>
            </a:r>
            <a:endParaRPr lang="en-US" sz="2100" dirty="0"/>
          </a:p>
        </p:txBody>
      </p:sp>
      <p:sp>
        <p:nvSpPr>
          <p:cNvPr id="12" name="Text 10"/>
          <p:cNvSpPr txBox="1"/>
          <p:nvPr/>
        </p:nvSpPr>
        <p:spPr>
          <a:xfrm>
            <a:off x="3547872" y="3840480"/>
            <a:ext cx="2240280" cy="960120"/>
          </a:xfrm>
          <a:prstGeom prst="rect">
            <a:avLst/>
          </a:prstGeom>
          <a:noFill/>
          <a:ln/>
        </p:spPr>
        <p:txBody>
          <a:bodyPr wrap="square" lIns="0" tIns="0" rIns="0" bIns="0" rtlCol="0" anchor="t"/>
          <a:lstStyle/>
          <a:p>
            <a:pPr marL="0" indent="0">
              <a:buNone/>
            </a:pPr>
            <a:r>
              <a:rPr lang="en-US" sz="1400" dirty="0">
                <a:solidFill>
                  <a:srgbClr val="C9C2B0"/>
                </a:solidFill>
                <a:latin typeface="Georgia" pitchFamily="34" charset="0"/>
                <a:ea typeface="Georgia" pitchFamily="34" charset="-122"/>
                <a:cs typeface="Georgia" pitchFamily="34" charset="-120"/>
              </a:rPr>
              <a:t>Controles de alcohol y velocidad la madrugada del sábado y el domingo.</a:t>
            </a:r>
            <a:endParaRPr lang="en-US" sz="1400" dirty="0"/>
          </a:p>
        </p:txBody>
      </p:sp>
      <p:sp>
        <p:nvSpPr>
          <p:cNvPr id="13" name="Shape 11"/>
          <p:cNvSpPr/>
          <p:nvPr/>
        </p:nvSpPr>
        <p:spPr>
          <a:xfrm>
            <a:off x="6144768" y="2148840"/>
            <a:ext cx="2606040" cy="2743200"/>
          </a:xfrm>
          <a:prstGeom prst="rect">
            <a:avLst/>
          </a:prstGeom>
          <a:solidFill>
            <a:srgbClr val="24221B"/>
          </a:solidFill>
          <a:ln w="12700">
            <a:solidFill>
              <a:srgbClr val="4A473D"/>
            </a:solidFill>
            <a:prstDash val="solid"/>
          </a:ln>
        </p:spPr>
      </p:sp>
      <p:sp>
        <p:nvSpPr>
          <p:cNvPr id="14" name="Text 12"/>
          <p:cNvSpPr txBox="1"/>
          <p:nvPr/>
        </p:nvSpPr>
        <p:spPr>
          <a:xfrm>
            <a:off x="6345936" y="2331720"/>
            <a:ext cx="1097280" cy="731520"/>
          </a:xfrm>
          <a:prstGeom prst="rect">
            <a:avLst/>
          </a:prstGeom>
          <a:noFill/>
          <a:ln/>
        </p:spPr>
        <p:txBody>
          <a:bodyPr wrap="square" lIns="0" tIns="0" rIns="0" bIns="0" rtlCol="0" anchor="ctr"/>
          <a:lstStyle/>
          <a:p>
            <a:pPr marL="0" indent="0">
              <a:buNone/>
            </a:pPr>
            <a:r>
              <a:rPr lang="en-US" sz="4400" dirty="0">
                <a:solidFill>
                  <a:srgbClr val="E2563E"/>
                </a:solidFill>
                <a:latin typeface="Bahnschrift SemiBold Condensed" pitchFamily="34" charset="0"/>
                <a:ea typeface="Bahnschrift SemiBold Condensed" pitchFamily="34" charset="-122"/>
                <a:cs typeface="Bahnschrift SemiBold Condensed" pitchFamily="34" charset="-120"/>
              </a:rPr>
              <a:t>03</a:t>
            </a:r>
            <a:endParaRPr lang="en-US" sz="4400" dirty="0"/>
          </a:p>
        </p:txBody>
      </p:sp>
      <p:sp>
        <p:nvSpPr>
          <p:cNvPr id="15" name="Text 13"/>
          <p:cNvSpPr txBox="1"/>
          <p:nvPr/>
        </p:nvSpPr>
        <p:spPr>
          <a:xfrm>
            <a:off x="6345936" y="3108960"/>
            <a:ext cx="2240280" cy="685800"/>
          </a:xfrm>
          <a:prstGeom prst="rect">
            <a:avLst/>
          </a:prstGeom>
          <a:noFill/>
          <a:ln/>
        </p:spPr>
        <p:txBody>
          <a:bodyPr wrap="square" lIns="0" tIns="0" rIns="0" bIns="0" rtlCol="0" anchor="t"/>
          <a:lstStyle/>
          <a:p>
            <a:pPr marL="0" indent="0">
              <a:buNone/>
            </a:pPr>
            <a:r>
              <a:rPr lang="en-US" sz="2100" dirty="0">
                <a:solidFill>
                  <a:srgbClr val="F1EEE6"/>
                </a:solidFill>
                <a:latin typeface="Bahnschrift SemiBold Condensed" pitchFamily="34" charset="0"/>
                <a:ea typeface="Bahnschrift SemiBold Condensed" pitchFamily="34" charset="-122"/>
                <a:cs typeface="Bahnschrift SemiBold Condensed" pitchFamily="34" charset="-120"/>
              </a:rPr>
              <a:t>PROTEGER A LOS VULNERABLES</a:t>
            </a:r>
            <a:endParaRPr lang="en-US" sz="2100" dirty="0"/>
          </a:p>
        </p:txBody>
      </p:sp>
      <p:sp>
        <p:nvSpPr>
          <p:cNvPr id="16" name="Text 14"/>
          <p:cNvSpPr txBox="1"/>
          <p:nvPr/>
        </p:nvSpPr>
        <p:spPr>
          <a:xfrm>
            <a:off x="6345936" y="3840480"/>
            <a:ext cx="2240280" cy="960120"/>
          </a:xfrm>
          <a:prstGeom prst="rect">
            <a:avLst/>
          </a:prstGeom>
          <a:noFill/>
          <a:ln/>
        </p:spPr>
        <p:txBody>
          <a:bodyPr wrap="square" lIns="0" tIns="0" rIns="0" bIns="0" rtlCol="0" anchor="t"/>
          <a:lstStyle/>
          <a:p>
            <a:pPr marL="0" indent="0">
              <a:buNone/>
            </a:pPr>
            <a:r>
              <a:rPr lang="en-US" sz="1400" dirty="0">
                <a:solidFill>
                  <a:srgbClr val="C9C2B0"/>
                </a:solidFill>
                <a:latin typeface="Georgia" pitchFamily="34" charset="0"/>
                <a:ea typeface="Georgia" pitchFamily="34" charset="-122"/>
                <a:cs typeface="Georgia" pitchFamily="34" charset="-120"/>
              </a:rPr>
              <a:t>Campañas para motociclistas y peatones, los que más mueren.</a:t>
            </a:r>
            <a:endParaRPr lang="en-US" sz="1400" dirty="0"/>
          </a:p>
        </p:txBody>
      </p:sp>
      <p:sp>
        <p:nvSpPr>
          <p:cNvPr id="17" name="Shape 15"/>
          <p:cNvSpPr/>
          <p:nvPr/>
        </p:nvSpPr>
        <p:spPr>
          <a:xfrm>
            <a:off x="8942832" y="2148840"/>
            <a:ext cx="2606040" cy="2743200"/>
          </a:xfrm>
          <a:prstGeom prst="rect">
            <a:avLst/>
          </a:prstGeom>
          <a:solidFill>
            <a:srgbClr val="24221B"/>
          </a:solidFill>
          <a:ln w="12700">
            <a:solidFill>
              <a:srgbClr val="4A473D"/>
            </a:solidFill>
            <a:prstDash val="solid"/>
          </a:ln>
        </p:spPr>
      </p:sp>
      <p:sp>
        <p:nvSpPr>
          <p:cNvPr id="18" name="Text 16"/>
          <p:cNvSpPr txBox="1"/>
          <p:nvPr/>
        </p:nvSpPr>
        <p:spPr>
          <a:xfrm>
            <a:off x="9144000" y="2331720"/>
            <a:ext cx="1097280" cy="731520"/>
          </a:xfrm>
          <a:prstGeom prst="rect">
            <a:avLst/>
          </a:prstGeom>
          <a:noFill/>
          <a:ln/>
        </p:spPr>
        <p:txBody>
          <a:bodyPr wrap="square" lIns="0" tIns="0" rIns="0" bIns="0" rtlCol="0" anchor="ctr"/>
          <a:lstStyle/>
          <a:p>
            <a:pPr marL="0" indent="0">
              <a:buNone/>
            </a:pPr>
            <a:r>
              <a:rPr lang="en-US" sz="4400" dirty="0">
                <a:solidFill>
                  <a:srgbClr val="E2563E"/>
                </a:solidFill>
                <a:latin typeface="Bahnschrift SemiBold Condensed" pitchFamily="34" charset="0"/>
                <a:ea typeface="Bahnschrift SemiBold Condensed" pitchFamily="34" charset="-122"/>
                <a:cs typeface="Bahnschrift SemiBold Condensed" pitchFamily="34" charset="-120"/>
              </a:rPr>
              <a:t>04</a:t>
            </a:r>
            <a:endParaRPr lang="en-US" sz="4400" dirty="0"/>
          </a:p>
        </p:txBody>
      </p:sp>
      <p:sp>
        <p:nvSpPr>
          <p:cNvPr id="19" name="Text 17"/>
          <p:cNvSpPr txBox="1"/>
          <p:nvPr/>
        </p:nvSpPr>
        <p:spPr>
          <a:xfrm>
            <a:off x="9144000" y="3108960"/>
            <a:ext cx="2240280" cy="685800"/>
          </a:xfrm>
          <a:prstGeom prst="rect">
            <a:avLst/>
          </a:prstGeom>
          <a:noFill/>
          <a:ln/>
        </p:spPr>
        <p:txBody>
          <a:bodyPr wrap="square" lIns="0" tIns="0" rIns="0" bIns="0" rtlCol="0" anchor="t"/>
          <a:lstStyle/>
          <a:p>
            <a:pPr marL="0" indent="0">
              <a:buNone/>
            </a:pPr>
            <a:r>
              <a:rPr lang="en-US" sz="2100" dirty="0">
                <a:solidFill>
                  <a:srgbClr val="F1EEE6"/>
                </a:solidFill>
                <a:latin typeface="Bahnschrift SemiBold Condensed" pitchFamily="34" charset="0"/>
                <a:ea typeface="Bahnschrift SemiBold Condensed" pitchFamily="34" charset="-122"/>
                <a:cs typeface="Bahnschrift SemiBold Condensed" pitchFamily="34" charset="-120"/>
              </a:rPr>
              <a:t>COMPLETAR EL MODELO</a:t>
            </a:r>
            <a:endParaRPr lang="en-US" sz="2100" dirty="0"/>
          </a:p>
        </p:txBody>
      </p:sp>
      <p:sp>
        <p:nvSpPr>
          <p:cNvPr id="20" name="Text 18"/>
          <p:cNvSpPr txBox="1"/>
          <p:nvPr/>
        </p:nvSpPr>
        <p:spPr>
          <a:xfrm>
            <a:off x="9144000" y="3840480"/>
            <a:ext cx="2240280" cy="960120"/>
          </a:xfrm>
          <a:prstGeom prst="rect">
            <a:avLst/>
          </a:prstGeom>
          <a:noFill/>
          <a:ln/>
        </p:spPr>
        <p:txBody>
          <a:bodyPr wrap="square" lIns="0" tIns="0" rIns="0" bIns="0" rtlCol="0" anchor="t"/>
          <a:lstStyle/>
          <a:p>
            <a:pPr marL="0" indent="0">
              <a:buNone/>
            </a:pPr>
            <a:r>
              <a:rPr lang="en-US" sz="1400" dirty="0">
                <a:solidFill>
                  <a:srgbClr val="C9C2B0"/>
                </a:solidFill>
                <a:latin typeface="Georgia" pitchFamily="34" charset="0"/>
                <a:ea typeface="Georgia" pitchFamily="34" charset="-122"/>
                <a:cs typeface="Georgia" pitchFamily="34" charset="-120"/>
              </a:rPr>
              <a:t>Entrenar el Random Forest y usar el dashboard para dar seguimiento.</a:t>
            </a:r>
            <a:endParaRPr lang="en-US" sz="1400" dirty="0"/>
          </a:p>
        </p:txBody>
      </p:sp>
      <p:sp>
        <p:nvSpPr>
          <p:cNvPr id="21" name="Text 19"/>
          <p:cNvSpPr txBox="1"/>
          <p:nvPr/>
        </p:nvSpPr>
        <p:spPr>
          <a:xfrm>
            <a:off x="548640" y="5257800"/>
            <a:ext cx="8229600" cy="914400"/>
          </a:xfrm>
          <a:prstGeom prst="rect">
            <a:avLst/>
          </a:prstGeom>
          <a:noFill/>
          <a:ln/>
        </p:spPr>
        <p:txBody>
          <a:bodyPr wrap="square" lIns="0" tIns="0" rIns="0" bIns="0" rtlCol="0" anchor="ctr"/>
          <a:lstStyle/>
          <a:p>
            <a:pPr marL="0" indent="0">
              <a:buNone/>
            </a:pPr>
            <a:r>
              <a:rPr lang="en-US" sz="5400" dirty="0">
                <a:solidFill>
                  <a:srgbClr val="F1EEE6"/>
                </a:solidFill>
                <a:latin typeface="Bahnschrift SemiBold Condensed" pitchFamily="34" charset="0"/>
                <a:ea typeface="Bahnschrift SemiBold Condensed" pitchFamily="34" charset="-122"/>
                <a:cs typeface="Bahnschrift SemiBold Condensed" pitchFamily="34" charset="-120"/>
              </a:rPr>
              <a:t>GRACIAS</a:t>
            </a:r>
            <a:r>
              <a:rPr lang="en-US" sz="2200" i="1" dirty="0">
                <a:solidFill>
                  <a:srgbClr val="E2563E"/>
                </a:solidFill>
                <a:latin typeface="Georgia" pitchFamily="34" charset="0"/>
                <a:ea typeface="Georgia" pitchFamily="34" charset="-122"/>
                <a:cs typeface="Georgia" pitchFamily="34" charset="-120"/>
              </a:rPr>
              <a:t>   ¿Preguntas?</a:t>
            </a:r>
            <a:endParaRPr lang="en-US" sz="5400" dirty="0"/>
          </a:p>
        </p:txBody>
      </p:sp>
      <p:sp>
        <p:nvSpPr>
          <p:cNvPr id="22" name="Text 20"/>
          <p:cNvSpPr txBox="1"/>
          <p:nvPr/>
        </p:nvSpPr>
        <p:spPr>
          <a:xfrm>
            <a:off x="6766560" y="5532120"/>
            <a:ext cx="4846320" cy="457200"/>
          </a:xfrm>
          <a:prstGeom prst="rect">
            <a:avLst/>
          </a:prstGeom>
          <a:noFill/>
          <a:ln/>
        </p:spPr>
        <p:txBody>
          <a:bodyPr wrap="square" lIns="0" tIns="0" rIns="0" bIns="0" rtlCol="0" anchor="ctr"/>
          <a:lstStyle/>
          <a:p>
            <a:pPr marL="0" indent="0" algn="r">
              <a:buNone/>
            </a:pPr>
            <a:r>
              <a:rPr lang="en-US" sz="1100" dirty="0">
                <a:solidFill>
                  <a:srgbClr val="9E978A"/>
                </a:solidFill>
                <a:latin typeface="Consolas" pitchFamily="34" charset="0"/>
                <a:ea typeface="Consolas" pitchFamily="34" charset="-122"/>
                <a:cs typeface="Consolas" pitchFamily="34" charset="-120"/>
              </a:rPr>
              <a:t>Maximiliano Parra · Jonathan Larraga · Ariel Pilliza</a:t>
            </a:r>
            <a:endParaRPr lang="en-US" sz="1100" dirty="0"/>
          </a:p>
        </p:txBody>
      </p:sp>
    </p:spTree>
  </p:cSld>
  <p:clrMapOvr>
    <a:masterClrMapping/>
  </p:clrMapOvr>
</p:sld>
</file>

<file path=ppt/theme/theme1.xml><?xml version="1.0" encoding="utf-8"?>
<a:theme xmlns:a="http://schemas.openxmlformats.org/drawingml/2006/main" name="Siniestros Quito">
  <a:themeElements>
    <a:clrScheme name="Siniestros Quito">
      <a:dk1>
        <a:srgbClr val="16150F"/>
      </a:dk1>
      <a:lt1>
        <a:srgbClr val="FBFAF6"/>
      </a:lt1>
      <a:dk2>
        <a:srgbClr val="3A372F"/>
      </a:dk2>
      <a:lt2>
        <a:srgbClr val="F1EEE6"/>
      </a:lt2>
      <a:accent1>
        <a:srgbClr val="B8321F"/>
      </a:accent1>
      <a:accent2>
        <a:srgbClr val="16150F"/>
      </a:accent2>
      <a:accent3>
        <a:srgbClr val="6B6657"/>
      </a:accent3>
      <a:accent4>
        <a:srgbClr val="DDD7C8"/>
      </a:accent4>
      <a:accent5>
        <a:srgbClr val="1F4E8C"/>
      </a:accent5>
      <a:accent6>
        <a:srgbClr val="C9C2B0"/>
      </a:accent6>
      <a:hlink>
        <a:srgbClr val="B8321F"/>
      </a:hlink>
      <a:folHlink>
        <a:srgbClr val="6B6657"/>
      </a:folHlink>
    </a:clrScheme>
    <a:fontScheme name="Siniestros Quito">
      <a:majorFont>
        <a:latin typeface="Bahnschrift SemiBold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554</TotalTime>
  <Words>3991</Words>
  <Application>Microsoft Office PowerPoint</Application>
  <PresentationFormat>Panorámica</PresentationFormat>
  <Paragraphs>442</Paragraphs>
  <Slides>25</Slides>
  <Notes>25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25</vt:i4>
      </vt:variant>
    </vt:vector>
  </HeadingPairs>
  <TitlesOfParts>
    <vt:vector size="30" baseType="lpstr">
      <vt:lpstr>Arial</vt:lpstr>
      <vt:lpstr>Bahnschrift SemiBold Condensed</vt:lpstr>
      <vt:lpstr>Consolas</vt:lpstr>
      <vt:lpstr>Georgia</vt:lpstr>
      <vt:lpstr>Siniestros Quito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predictivo de accidentes de tránsito en Quito</dc:title>
  <dc:subject>PptxGenJS Presentation</dc:subject>
  <dc:creator>Maximiliano Parra, Jonathan Larraga, Ariel Pilliza</dc:creator>
  <cp:lastModifiedBy>Maximiliano Parra</cp:lastModifiedBy>
  <cp:revision>2</cp:revision>
  <dcterms:created xsi:type="dcterms:W3CDTF">2026-10-15T19:41:18Z</dcterms:created>
  <dcterms:modified xsi:type="dcterms:W3CDTF">2026-10-16T05:15:09Z</dcterms:modified>
</cp:coreProperties>
</file>