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4818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vez pasada les contamos el problema y la idea. Hoy les mostramos qué hicimos con los datos y qué encontramos. Partimos de 44.982 siniestros reales de Quito, los limpiamos, los transformamos hasta tener 39 variables y los analizamos con 26 gráficos. Al final les contamos las conclusiones a las que llegamos.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organizarnos usamos CRISP-DM, que es la metodología más usada en proyectos de datos. Tiene seis fases. Las tres primeras ya están hechas: entender el problema, entender los datos y prepararlos. Lo que sigue es el modelado, la evaluación y el dashboard. Algo importante: estas fases no son en línea recta. Nosotros tuvimos que regresar varias veces, por ejemplo cuando descubrimos que la base del INEC no tenía ubicación y tuvimos que buscar la de la ANT. Todo lo hicimos en Python con pandas.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sacar una sola conclusión teníamos que saber si los datos eran confiables. Los evaluamos con seis criterios. No hay ningún duplicado. Todo es de Quito. El total de víctimas siempre cuadra. Y algo que nos dio mucha confianza: las cifras de la ANT coinciden exactamente con las del INEC, por ejemplo 3.889 siniestros en 2024 en las dos fuentes. El único punto débil es la completitud: solo el 22,8% tiene coordenadas, porque antes de 2024 la fuente no publica la ubicación. Eso no es un error nuestro, es una limitación de la fuente, y por eso el mapa usa solo 2024 a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los datos sean oficiales no significa que estén perfectos. Encontramos cuatro problemas. El más curioso: 312 siniestros de diciembre de 2024 tenían direcciones de Quito, como la Ruta Viva, pero sus coordenadas caían en Guayaquil. Era un error de registro de la fuente, así que los conservamos pero sin coordenada. También había 3 siniestros etiquetados como Quito que en realidad ocurrieron en Imbabura, y esos los eliminamos. Más de 8 mil decían solo QUITO sin decir la parroquia, así que la asignamos con las coordenadas. Y había causas mal escritas. Nuestra regla fue no inventar nada: lo que no estaba, quedó como no disponible.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lo que hicimos con los datos, en tres pasos, y por qué. Preparación: teníamos dos fuentes distintas y de todo el país, así que las unimos en un solo archivo y dejamos solo Quito. Limpieza: necesitábamos saber si había duplicados o datos faltantes, y no había ninguno duplicado; además convertimos la fecha, que venía como texto. Transformación: un modelo no entiende la palabra sábado ni enero, entiende números, así que creamos 7 variables nuevas, como la hora en número, si es fin de semana, o la gravedad del siniestro. En cada tarjeta ven una línea real de nuestro código. Y algo importante: cada paso genera un archivo nuevo, el original nunca se modifica. Empezamos con 32 variables y terminamos con 39.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sí, la parte central: el análisis exploratorio. Generamos 26 gráficos, y los organizamos alrededor de cinco preguntas: cuántos siniestros hay, cuándo ocurren, dónde, por qué y quiénes están involucrados. De cada gráfico les vamos a decir qué muestra y qué concluimos.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pregunta: cuántos. El gráfico muestra los siniestros por año. En 2017 hubo 8.810 y en 2025 menos de 4 mil. La caída fuerte de 2020 coincide con la pandemia, y desde ahí se mantienen entre 3.400 y 4.000. Parecería una buena noticia, pero los fallecidos no bajaron, subieron de 273 a 337. Es decir, pasamos de 31 a 85 fallecidos por cada mil siniestros. Hay menos siniestros, pero son casi tres veces más mortales. Por eso concluimos que no basta con contarlos.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pregunta: cuándo. A la izquierda, por día de la semana: de lunes a miércoles se mantiene parejo, sube desde el jueves y el sábado es el pico, con 57% más siniestros que el lunes. A la derecha, por hora: se ven clarísimos dos picos, a las 7 de la mañana y a las 7 de la noche, justo la entrada y la salida del trabajo. Esto no es casualidad: el sábado fue el día con más siniestros en los nueve años que analizamos, sin excepción.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agrupamos por franja horaria, mañana, tarde y noche tienen casi lo mismo, 27% cada una, y la madrugada 19%. Pero ojo: en la madrugada casi no hay carros, así que 19% es bastante. Y es la franja más mortal: casi 9 fallecidos por cada 100 siniestros, más del doble que en la tarde. A la derecha está la gravedad: casi la mitad de los siniestros deja al menos una víctima, y 2.497 tuvieron al menos un fallecido.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Tercera pregunta: dónde. Esto solo lo pudimos hacer porque ubicamos cada siniestro en su parroquia real con las coordenadas. En siniestros y en víctimas mandan las mismas tres: Quitumbe, Iñaquito y Calderón. Diez parroquias concentran el 41% de los siniestros. Pero miren el tercer gráfico, el de fallecidos: aparece Pifo en tercer lugar, y Pifo ni siquiera está entre las diez con más siniestros. Tiene solo 98 siniestros, pero 44 fallecidos.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dos gráficos comparan la gravedad entre las diez parroquias con más siniestros. Calderón y Tumbaco tienen más de 11 fallecidos por cada 100 siniestros. En cambio Iñaquito, que es la segunda con más siniestros, tiene la letalidad más baja: 3,5. ¿Por qué? Iñaquito es zona de tráfico denso y lento: muchos choques, pero leves. Calderón, Tumbaco o Pifo están atravesadas por vías rápidas: menos siniestros, pero mucho más graves. Esta es una de las conclusiones más importantes del proyecto.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Cuarta pregunta: por qué. Las diez causas principales concentran el 83% de los siniestros, y casi todas dependen del conductor. La primera es la impericia e imprudencia, uno de cada cuatro. Algo que notarán: algunas causas parecen repetidas, porque el INEC y la ANT las nombran distinto. Si las sumamos, la velocidad, no respetar las señales y el alcohol explican cerca del 45%. A la derecha, los vehículos: más de la mitad son automóviles, y en segundo lugar las motos, cuyos ocupantes son muy vulnerables.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Quinta pregunta: quiénes. Entre 2024 y 2026 hubo más de 23 mil personas involucradas. De las que fueron identificadas, tres de cada cuatro son hombres. Y por edad, el gráfico tiene forma de montaña: sube rápido a los 20 años, llega al pico entre 25 y 29, y luego baja poco a poco. Las personas de 20 a 34 años son el 42% de los involucrados. Esto nos dice a quién deberían dirigirse primero las campañas.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de la izquierda compara zona urbana y rural. La urbana tiene el 80% de los siniestros, pero la rural es más del doble de mortal: 11 fallecidos por cada 100 siniestros contra menos de 5. De hecho, la zona rural tiene una quinta parte de los siniestros pero más de un tercio de los fallecidos. Coincide con lo que vimos en las parroquias. A la derecha, por mes: diciembre es el más alto, y los demás son bastante parejos.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miramos la estacionalidad, es decir, si hay patrones que se repiten cada año. En siniestros, diciembre sobresale claramente, seguramente por las fiestas. En fallecidos también manda diciembre, pero el segundo es agosto, y agosto es curioso porque es de los meses con menos siniestros. Pensamos que puede relacionarse con los viajes de vacaciones. Y el tercer gráfico muestra que el promedio de víctimas por siniestro casi no cambia en el año.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trimestre, el cuarto es el más alto, pero la diferencia con el más bajo es de menos de 8%. En el gráfico de la derecha pintamos de rojo los meses sobre el promedio y de azul los que están debajo. Solo diciembre, octubre y abril se alejan de verdad; los demás están pegados a la línea. La conclusión es que el mes importa poco. En la hora pico hay casi el doble de siniestros que en la hora más tranquila; entre el sábado y el lunes, 1,57 veces; pero entre el mejor y el peor mes, solo 1,2. Para predecir, la hora y el día son mucho más útiles que el 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último, las correlaciones, que miden si dos variables se mueven juntas. Van de menos uno a uno. Como cada fila de nuestra base es un solo siniestro, lo calculamos por parroquia, con las 47 que tienen al menos 30 siniestros. En la matriz, el rojo es correlación positiva y el azul negativa. Se ven dos grupos: las variables de cantidad van juntas, y las de gravedad van por su lado. A la derecha, qué se relaciona con los fallecidos: sobre todo los lesionados y los siniestros.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estos tres gráficos cada punto es una parroquia. El del centro es casi una línea recta: 0,97, donde hay más siniestros hay más lesionados, sin excepción. El de la izquierda, siniestros contra fallecidos, es fuerte pero no perfecto, porque hay parroquias como Pifo que se salen. Y el de la derecha es el más interesante: la correlación es negativa. Los puntos más altos, los de mayor letalidad, están a la izquierda, en las parroquias con pocos siniestros. Esto confirma con un número lo que ya habíamos visto. Y una aclaración: correlación no significa causa; que dos cosas se muevan juntas no prueba que una provoque la otra.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 todo el análisis, estas son nuestras seis conclusiones. Uno: hay menos siniestros pero son más mortales. Dos: tienen horario, las 7 de la mañana, las 7 de la noche y el sábado, y se repite todos los años. Tres: tienen lugar, diez parroquias concentran el 41%. Cuatro, la más importante: cantidad no es gravedad. Iñaquito tiene muchísimos siniestros y casi no muere nadie; Pifo tiene pocos y mueren casi la mitad. Cinco: tienen causa y perfil, el conductor imprudente, joven y hombre. Y seis: lo más grave ocurre en la madrugada del fin de semana, en la zona rural y en los atropellos. En una frase: los siniestros no ocurren al azar, y por eso se pueden predecir.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estos hallazgos ya sabemos qué variables importan: la hora, el día de la semana, la parroquia y la zona. Lo que sigue es construir el modelo que estime el nivel de riesgo, evaluarlo entrenando con 2024 y 2025 y probándolo con 2026, y mostrarlo en un dashboard con mapa, validado con la Avenida Simón Bolívar. Muchas gracias. ¿Tienen alguna pregunta?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F"/>
        </a:solidFill>
        <a:effectLst/>
      </p:bgPr>
    </p:bg>
    <p:spTree>
      <p:nvGrpSpPr>
        <p:cNvPr id="1" name=""/>
        <p:cNvGrpSpPr/>
        <p:nvPr/>
      </p:nvGrpSpPr>
      <p:grpSpPr>
        <a:xfrm>
          <a:off x="0" y="0"/>
          <a:ext cx="0" cy="0"/>
          <a:chOff x="0" y="0"/>
          <a:chExt cx="0" cy="0"/>
        </a:xfrm>
      </p:grpSpPr>
      <p:pic>
        <p:nvPicPr>
          <p:cNvPr id="2" name="Image 0" descr="mapa_portada.png"/>
          <p:cNvPicPr>
            <a:picLocks noChangeAspect="1"/>
          </p:cNvPicPr>
          <p:nvPr/>
        </p:nvPicPr>
        <p:blipFill>
          <a:blip r:embed="rId3"/>
          <a:srcRect/>
          <a:stretch/>
        </p:blipFill>
        <p:spPr>
          <a:xfrm>
            <a:off x="6400800" y="0"/>
            <a:ext cx="5788152" cy="6858000"/>
          </a:xfrm>
          <a:prstGeom prst="rect">
            <a:avLst/>
          </a:prstGeom>
        </p:spPr>
      </p:pic>
      <p:sp>
        <p:nvSpPr>
          <p:cNvPr id="3" name="Text 0"/>
          <p:cNvSpPr txBox="1"/>
          <p:nvPr/>
        </p:nvSpPr>
        <p:spPr>
          <a:xfrm>
            <a:off x="548640" y="548640"/>
            <a:ext cx="5760720" cy="320040"/>
          </a:xfrm>
          <a:prstGeom prst="rect">
            <a:avLst/>
          </a:prstGeom>
          <a:noFill/>
          <a:ln/>
        </p:spPr>
        <p:txBody>
          <a:bodyPr wrap="square" lIns="0" tIns="0" rIns="0" bIns="0" rtlCol="0" anchor="ctr"/>
          <a:lstStyle/>
          <a:p>
            <a:pPr marL="0" indent="0">
              <a:buNone/>
            </a:pPr>
            <a:r>
              <a:rPr lang="en-US" sz="1300" b="1" kern="0" spc="200" dirty="0">
                <a:solidFill>
                  <a:srgbClr val="F5B700"/>
                </a:solidFill>
                <a:latin typeface="Calibri" pitchFamily="34" charset="0"/>
                <a:ea typeface="Calibri" pitchFamily="34" charset="-122"/>
                <a:cs typeface="Calibri" pitchFamily="34" charset="-120"/>
              </a:rPr>
              <a:t>SEGUNDA EXPOSICIÓN  ·  CIENCIA Y ANÁLISIS DE DATOS</a:t>
            </a:r>
            <a:endParaRPr lang="en-US" sz="1300" dirty="0"/>
          </a:p>
        </p:txBody>
      </p:sp>
      <p:sp>
        <p:nvSpPr>
          <p:cNvPr id="4" name="Text 1"/>
          <p:cNvSpPr txBox="1"/>
          <p:nvPr/>
        </p:nvSpPr>
        <p:spPr>
          <a:xfrm>
            <a:off x="548640" y="960120"/>
            <a:ext cx="5669280" cy="137160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De los datos a los hallazgos</a:t>
            </a:r>
            <a:endParaRPr lang="en-US" sz="4000" dirty="0"/>
          </a:p>
        </p:txBody>
      </p:sp>
      <p:sp>
        <p:nvSpPr>
          <p:cNvPr id="5" name="Text 2"/>
          <p:cNvSpPr txBox="1"/>
          <p:nvPr/>
        </p:nvSpPr>
        <p:spPr>
          <a:xfrm>
            <a:off x="548640" y="2514600"/>
            <a:ext cx="5486400" cy="868680"/>
          </a:xfrm>
          <a:prstGeom prst="rect">
            <a:avLst/>
          </a:prstGeom>
          <a:noFill/>
          <a:ln/>
        </p:spPr>
        <p:txBody>
          <a:bodyPr wrap="square" lIns="0" tIns="0" rIns="0" bIns="0" rtlCol="0" anchor="t"/>
          <a:lstStyle/>
          <a:p>
            <a:pPr marL="0" indent="0">
              <a:buNone/>
            </a:pPr>
            <a:r>
              <a:rPr lang="en-US" sz="1700" dirty="0">
                <a:solidFill>
                  <a:srgbClr val="A7B0C0"/>
                </a:solidFill>
                <a:latin typeface="Calibri" pitchFamily="34" charset="0"/>
                <a:ea typeface="Calibri" pitchFamily="34" charset="-122"/>
                <a:cs typeface="Calibri" pitchFamily="34" charset="-120"/>
              </a:rPr>
              <a:t>Análisis Predictivo de Accidentes de Tránsito en Quito para la Identificación de Zonas de Mayor Riesgo</a:t>
            </a:r>
            <a:endParaRPr lang="en-US" sz="1700" dirty="0"/>
          </a:p>
        </p:txBody>
      </p:sp>
      <p:sp>
        <p:nvSpPr>
          <p:cNvPr id="6" name="Text 3"/>
          <p:cNvSpPr txBox="1"/>
          <p:nvPr/>
        </p:nvSpPr>
        <p:spPr>
          <a:xfrm>
            <a:off x="548640" y="3703320"/>
            <a:ext cx="1783080" cy="502920"/>
          </a:xfrm>
          <a:prstGeom prst="rect">
            <a:avLst/>
          </a:prstGeom>
          <a:noFill/>
          <a:ln/>
        </p:spPr>
        <p:txBody>
          <a:bodyPr wrap="square" lIns="0" tIns="0" rIns="0" bIns="0" rtlCol="0" anchor="ctr"/>
          <a:lstStyle/>
          <a:p>
            <a:pPr marL="0" indent="0">
              <a:buNone/>
            </a:pPr>
            <a:r>
              <a:rPr lang="en-US" sz="2600" b="1" dirty="0">
                <a:solidFill>
                  <a:srgbClr val="F5B700"/>
                </a:solidFill>
                <a:latin typeface="Arial" pitchFamily="34" charset="0"/>
                <a:ea typeface="Arial" pitchFamily="34" charset="-122"/>
                <a:cs typeface="Arial" pitchFamily="34" charset="-120"/>
              </a:rPr>
              <a:t>44.982</a:t>
            </a:r>
            <a:endParaRPr lang="en-US" sz="2600" dirty="0"/>
          </a:p>
        </p:txBody>
      </p:sp>
      <p:sp>
        <p:nvSpPr>
          <p:cNvPr id="7" name="Text 4"/>
          <p:cNvSpPr txBox="1"/>
          <p:nvPr/>
        </p:nvSpPr>
        <p:spPr>
          <a:xfrm>
            <a:off x="548640" y="4206240"/>
            <a:ext cx="1783080" cy="54864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siniestros</a:t>
            </a:r>
            <a:endParaRPr lang="en-US" sz="1200" dirty="0"/>
          </a:p>
          <a:p>
            <a:pPr marL="0" indent="0">
              <a:buNone/>
            </a:pPr>
            <a:r>
              <a:rPr lang="en-US" sz="1200" dirty="0">
                <a:solidFill>
                  <a:srgbClr val="A7B0C0"/>
                </a:solidFill>
                <a:latin typeface="Calibri" pitchFamily="34" charset="0"/>
                <a:ea typeface="Calibri" pitchFamily="34" charset="-122"/>
                <a:cs typeface="Calibri" pitchFamily="34" charset="-120"/>
              </a:rPr>
              <a:t>limpios y validados</a:t>
            </a:r>
            <a:endParaRPr lang="en-US" sz="1200" dirty="0"/>
          </a:p>
        </p:txBody>
      </p:sp>
      <p:sp>
        <p:nvSpPr>
          <p:cNvPr id="8" name="Text 5"/>
          <p:cNvSpPr txBox="1"/>
          <p:nvPr/>
        </p:nvSpPr>
        <p:spPr>
          <a:xfrm>
            <a:off x="2423160" y="3703320"/>
            <a:ext cx="1783080" cy="502920"/>
          </a:xfrm>
          <a:prstGeom prst="rect">
            <a:avLst/>
          </a:prstGeom>
          <a:noFill/>
          <a:ln/>
        </p:spPr>
        <p:txBody>
          <a:bodyPr wrap="square" lIns="0" tIns="0" rIns="0" bIns="0" rtlCol="0" anchor="ctr"/>
          <a:lstStyle/>
          <a:p>
            <a:pPr marL="0" indent="0">
              <a:buNone/>
            </a:pPr>
            <a:r>
              <a:rPr lang="en-US" sz="2600" b="1" dirty="0">
                <a:solidFill>
                  <a:srgbClr val="F5B700"/>
                </a:solidFill>
                <a:latin typeface="Arial" pitchFamily="34" charset="0"/>
                <a:ea typeface="Arial" pitchFamily="34" charset="-122"/>
                <a:cs typeface="Arial" pitchFamily="34" charset="-120"/>
              </a:rPr>
              <a:t>39</a:t>
            </a:r>
            <a:endParaRPr lang="en-US" sz="2600" dirty="0"/>
          </a:p>
        </p:txBody>
      </p:sp>
      <p:sp>
        <p:nvSpPr>
          <p:cNvPr id="9" name="Text 6"/>
          <p:cNvSpPr txBox="1"/>
          <p:nvPr/>
        </p:nvSpPr>
        <p:spPr>
          <a:xfrm>
            <a:off x="2423160" y="4206240"/>
            <a:ext cx="1783080" cy="54864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variables listas</a:t>
            </a:r>
            <a:endParaRPr lang="en-US" sz="1200" dirty="0"/>
          </a:p>
          <a:p>
            <a:pPr marL="0" indent="0">
              <a:buNone/>
            </a:pPr>
            <a:r>
              <a:rPr lang="en-US" sz="1200" dirty="0">
                <a:solidFill>
                  <a:srgbClr val="A7B0C0"/>
                </a:solidFill>
                <a:latin typeface="Calibri" pitchFamily="34" charset="0"/>
                <a:ea typeface="Calibri" pitchFamily="34" charset="-122"/>
                <a:cs typeface="Calibri" pitchFamily="34" charset="-120"/>
              </a:rPr>
              <a:t>para el modelo</a:t>
            </a:r>
            <a:endParaRPr lang="en-US" sz="1200" dirty="0"/>
          </a:p>
        </p:txBody>
      </p:sp>
      <p:sp>
        <p:nvSpPr>
          <p:cNvPr id="10" name="Text 7"/>
          <p:cNvSpPr txBox="1"/>
          <p:nvPr/>
        </p:nvSpPr>
        <p:spPr>
          <a:xfrm>
            <a:off x="4297680" y="3703320"/>
            <a:ext cx="1783080" cy="502920"/>
          </a:xfrm>
          <a:prstGeom prst="rect">
            <a:avLst/>
          </a:prstGeom>
          <a:noFill/>
          <a:ln/>
        </p:spPr>
        <p:txBody>
          <a:bodyPr wrap="square" lIns="0" tIns="0" rIns="0" bIns="0" rtlCol="0" anchor="ctr"/>
          <a:lstStyle/>
          <a:p>
            <a:pPr marL="0" indent="0">
              <a:buNone/>
            </a:pPr>
            <a:r>
              <a:rPr lang="en-US" sz="2600" b="1" dirty="0">
                <a:solidFill>
                  <a:srgbClr val="F5B700"/>
                </a:solidFill>
                <a:latin typeface="Arial" pitchFamily="34" charset="0"/>
                <a:ea typeface="Arial" pitchFamily="34" charset="-122"/>
                <a:cs typeface="Arial" pitchFamily="34" charset="-120"/>
              </a:rPr>
              <a:t>26</a:t>
            </a:r>
            <a:endParaRPr lang="en-US" sz="2600" dirty="0"/>
          </a:p>
        </p:txBody>
      </p:sp>
      <p:sp>
        <p:nvSpPr>
          <p:cNvPr id="11" name="Text 8"/>
          <p:cNvSpPr txBox="1"/>
          <p:nvPr/>
        </p:nvSpPr>
        <p:spPr>
          <a:xfrm>
            <a:off x="4297680" y="4206240"/>
            <a:ext cx="1783080" cy="54864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gráficos</a:t>
            </a:r>
            <a:endParaRPr lang="en-US" sz="1200" dirty="0"/>
          </a:p>
          <a:p>
            <a:pPr marL="0" indent="0">
              <a:buNone/>
            </a:pPr>
            <a:r>
              <a:rPr lang="en-US" sz="1200" dirty="0">
                <a:solidFill>
                  <a:srgbClr val="A7B0C0"/>
                </a:solidFill>
                <a:latin typeface="Calibri" pitchFamily="34" charset="0"/>
                <a:ea typeface="Calibri" pitchFamily="34" charset="-122"/>
                <a:cs typeface="Calibri" pitchFamily="34" charset="-120"/>
              </a:rPr>
              <a:t>analizados</a:t>
            </a:r>
            <a:endParaRPr lang="en-US" sz="1200" dirty="0"/>
          </a:p>
        </p:txBody>
      </p:sp>
      <p:sp>
        <p:nvSpPr>
          <p:cNvPr id="12" name="Shape 9"/>
          <p:cNvSpPr/>
          <p:nvPr/>
        </p:nvSpPr>
        <p:spPr>
          <a:xfrm>
            <a:off x="548640" y="5257800"/>
            <a:ext cx="566928" cy="566928"/>
          </a:xfrm>
          <a:prstGeom prst="ellipse">
            <a:avLst/>
          </a:prstGeom>
          <a:solidFill>
            <a:srgbClr val="F5B700"/>
          </a:solidFill>
          <a:ln w="12700">
            <a:solidFill>
              <a:srgbClr val="F5B700"/>
            </a:solidFill>
            <a:prstDash val="solid"/>
          </a:ln>
        </p:spPr>
      </p:sp>
      <p:pic>
        <p:nvPicPr>
          <p:cNvPr id="13" name="Image 1" descr="preencoded.png"/>
          <p:cNvPicPr>
            <a:picLocks noChangeAspect="1"/>
          </p:cNvPicPr>
          <p:nvPr/>
        </p:nvPicPr>
        <p:blipFill>
          <a:blip r:embed="rId4"/>
          <a:stretch>
            <a:fillRect/>
          </a:stretch>
        </p:blipFill>
        <p:spPr>
          <a:xfrm>
            <a:off x="696041" y="5405201"/>
            <a:ext cx="272125" cy="272125"/>
          </a:xfrm>
          <a:prstGeom prst="rect">
            <a:avLst/>
          </a:prstGeom>
        </p:spPr>
      </p:pic>
      <p:sp>
        <p:nvSpPr>
          <p:cNvPr id="14" name="Text 10"/>
          <p:cNvSpPr txBox="1"/>
          <p:nvPr/>
        </p:nvSpPr>
        <p:spPr>
          <a:xfrm>
            <a:off x="1280160" y="5193792"/>
            <a:ext cx="4572000" cy="320040"/>
          </a:xfrm>
          <a:prstGeom prst="rect">
            <a:avLst/>
          </a:prstGeom>
          <a:noFill/>
          <a:ln/>
        </p:spPr>
        <p:txBody>
          <a:bodyPr wrap="square" lIns="0" tIns="0" rIns="0" bIns="0" rtlCol="0" anchor="ctr"/>
          <a:lstStyle/>
          <a:p>
            <a:pPr marL="0" indent="0">
              <a:buNone/>
            </a:pPr>
            <a:r>
              <a:rPr lang="en-US" sz="1200" dirty="0">
                <a:solidFill>
                  <a:srgbClr val="A7B0C0"/>
                </a:solidFill>
                <a:latin typeface="Calibri" pitchFamily="34" charset="0"/>
                <a:ea typeface="Calibri" pitchFamily="34" charset="-122"/>
                <a:cs typeface="Calibri" pitchFamily="34" charset="-120"/>
              </a:rPr>
              <a:t>Integrantes</a:t>
            </a:r>
            <a:endParaRPr lang="en-US" sz="1200" dirty="0"/>
          </a:p>
        </p:txBody>
      </p:sp>
      <p:sp>
        <p:nvSpPr>
          <p:cNvPr id="15" name="Text 11"/>
          <p:cNvSpPr txBox="1"/>
          <p:nvPr/>
        </p:nvSpPr>
        <p:spPr>
          <a:xfrm>
            <a:off x="1280160" y="5504688"/>
            <a:ext cx="5029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Maximiliano Parra  ·  Jonathan Larraga  ·  Ariel Pilliza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01 · METODOLOGÍA</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Seguimos CRISP-DM: seis fases, y ya recorrimos la mitad</a:t>
            </a:r>
            <a:endParaRPr lang="en-US" sz="2600" dirty="0"/>
          </a:p>
        </p:txBody>
      </p:sp>
      <p:sp>
        <p:nvSpPr>
          <p:cNvPr id="4" name="Text 2"/>
          <p:cNvSpPr txBox="1"/>
          <p:nvPr/>
        </p:nvSpPr>
        <p:spPr>
          <a:xfrm>
            <a:off x="548640" y="1371600"/>
            <a:ext cx="11064240" cy="594360"/>
          </a:xfrm>
          <a:prstGeom prst="rect">
            <a:avLst/>
          </a:prstGeom>
          <a:noFill/>
          <a:ln/>
        </p:spPr>
        <p:txBody>
          <a:bodyPr wrap="square" lIns="0" tIns="0" rIns="0" bIns="0" rtlCol="0" anchor="t"/>
          <a:lstStyle/>
          <a:p>
            <a:r>
              <a:rPr lang="en-US" sz="1500" dirty="0">
                <a:solidFill>
                  <a:schemeClr val="bg1">
                    <a:lumMod val="85000"/>
                  </a:schemeClr>
                </a:solidFill>
                <a:latin typeface="Calibri" pitchFamily="34" charset="0"/>
                <a:ea typeface="Calibri" pitchFamily="34" charset="-122"/>
                <a:cs typeface="Calibri" pitchFamily="34" charset="-120"/>
              </a:rPr>
              <a:t>Estudio cuantitativo, descriptivo y predictivo: primero describimos cómo son los siniestros y luego construimos un modelo para estimar el </a:t>
            </a:r>
            <a:r>
              <a:rPr lang="en-US" sz="1500" dirty="0" err="1">
                <a:solidFill>
                  <a:schemeClr val="bg1">
                    <a:lumMod val="85000"/>
                  </a:schemeClr>
                </a:solidFill>
                <a:latin typeface="Calibri" pitchFamily="34" charset="0"/>
                <a:ea typeface="Calibri" pitchFamily="34" charset="-122"/>
                <a:cs typeface="Calibri" pitchFamily="34" charset="-120"/>
              </a:rPr>
              <a:t>riesgo</a:t>
            </a:r>
            <a:r>
              <a:rPr lang="en-US" sz="1500" dirty="0">
                <a:solidFill>
                  <a:schemeClr val="bg1">
                    <a:lumMod val="85000"/>
                  </a:schemeClr>
                </a:solidFill>
                <a:latin typeface="Calibri" pitchFamily="34" charset="0"/>
                <a:ea typeface="Calibri" pitchFamily="34" charset="-122"/>
                <a:cs typeface="Calibri" pitchFamily="34" charset="-120"/>
              </a:rPr>
              <a:t>. </a:t>
            </a:r>
            <a:r>
              <a:rPr lang="es-MX" sz="1600" dirty="0">
                <a:solidFill>
                  <a:schemeClr val="bg1">
                    <a:lumMod val="85000"/>
                  </a:schemeClr>
                </a:solidFill>
              </a:rPr>
              <a:t>Proceso Estándar Interindustrial para la Minería de Datos</a:t>
            </a:r>
            <a:endParaRPr lang="en-US" sz="1500" dirty="0">
              <a:solidFill>
                <a:schemeClr val="bg1">
                  <a:lumMod val="85000"/>
                </a:schemeClr>
              </a:solidFill>
            </a:endParaRPr>
          </a:p>
        </p:txBody>
      </p:sp>
      <p:sp>
        <p:nvSpPr>
          <p:cNvPr id="5" name="Shape 3"/>
          <p:cNvSpPr/>
          <p:nvPr/>
        </p:nvSpPr>
        <p:spPr>
          <a:xfrm>
            <a:off x="548640" y="2194560"/>
            <a:ext cx="3520440" cy="1371600"/>
          </a:xfrm>
          <a:prstGeom prst="roundRect">
            <a:avLst>
              <a:gd name="adj" fmla="val 6667"/>
            </a:avLst>
          </a:prstGeom>
          <a:solidFill>
            <a:srgbClr val="262C3B"/>
          </a:solidFill>
          <a:ln w="12700">
            <a:solidFill>
              <a:srgbClr val="262C3B"/>
            </a:solidFill>
            <a:prstDash val="solid"/>
          </a:ln>
        </p:spPr>
      </p:sp>
      <p:sp>
        <p:nvSpPr>
          <p:cNvPr id="6" name="Shape 4"/>
          <p:cNvSpPr/>
          <p:nvPr/>
        </p:nvSpPr>
        <p:spPr>
          <a:xfrm>
            <a:off x="777240" y="2468880"/>
            <a:ext cx="731520" cy="731520"/>
          </a:xfrm>
          <a:prstGeom prst="ellipse">
            <a:avLst/>
          </a:prstGeom>
          <a:solidFill>
            <a:srgbClr val="F5B700"/>
          </a:solidFill>
          <a:ln w="25400">
            <a:solidFill>
              <a:srgbClr val="F5B700"/>
            </a:solidFill>
            <a:prstDash val="solid"/>
          </a:ln>
        </p:spPr>
      </p:sp>
      <p:sp>
        <p:nvSpPr>
          <p:cNvPr id="7" name="Text 5"/>
          <p:cNvSpPr txBox="1"/>
          <p:nvPr/>
        </p:nvSpPr>
        <p:spPr>
          <a:xfrm>
            <a:off x="777240" y="2468880"/>
            <a:ext cx="731520" cy="731520"/>
          </a:xfrm>
          <a:prstGeom prst="rect">
            <a:avLst/>
          </a:prstGeom>
          <a:noFill/>
          <a:ln/>
        </p:spPr>
        <p:txBody>
          <a:bodyPr wrap="square" lIns="0" tIns="0" rIns="0" bIns="0" rtlCol="0" anchor="ctr"/>
          <a:lstStyle/>
          <a:p>
            <a:pPr marL="0" indent="0" algn="ctr">
              <a:buNone/>
            </a:pPr>
            <a:r>
              <a:rPr lang="en-US" sz="2200" b="1" dirty="0">
                <a:solidFill>
                  <a:srgbClr val="14171F"/>
                </a:solidFill>
                <a:latin typeface="Arial" pitchFamily="34" charset="0"/>
                <a:ea typeface="Arial" pitchFamily="34" charset="-122"/>
                <a:cs typeface="Arial" pitchFamily="34" charset="-120"/>
              </a:rPr>
              <a:t>1</a:t>
            </a:r>
            <a:endParaRPr lang="en-US" sz="2200" dirty="0"/>
          </a:p>
        </p:txBody>
      </p:sp>
      <p:sp>
        <p:nvSpPr>
          <p:cNvPr id="8" name="Text 6"/>
          <p:cNvSpPr txBox="1"/>
          <p:nvPr/>
        </p:nvSpPr>
        <p:spPr>
          <a:xfrm>
            <a:off x="1691640" y="2395728"/>
            <a:ext cx="2286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Comprensión del problema</a:t>
            </a:r>
            <a:endParaRPr lang="en-US" sz="1400" dirty="0"/>
          </a:p>
        </p:txBody>
      </p:sp>
      <p:sp>
        <p:nvSpPr>
          <p:cNvPr id="9" name="Text 7"/>
          <p:cNvSpPr txBox="1"/>
          <p:nvPr/>
        </p:nvSpPr>
        <p:spPr>
          <a:xfrm>
            <a:off x="1691640" y="2770632"/>
            <a:ext cx="2240280" cy="64008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La letalidad sube y nadie predice dónde ni cuándo</a:t>
            </a:r>
            <a:endParaRPr lang="en-US" sz="1200" dirty="0"/>
          </a:p>
        </p:txBody>
      </p:sp>
      <p:sp>
        <p:nvSpPr>
          <p:cNvPr id="10" name="Text 8"/>
          <p:cNvSpPr txBox="1"/>
          <p:nvPr/>
        </p:nvSpPr>
        <p:spPr>
          <a:xfrm>
            <a:off x="1691640" y="3264408"/>
            <a:ext cx="2240280" cy="228600"/>
          </a:xfrm>
          <a:prstGeom prst="rect">
            <a:avLst/>
          </a:prstGeom>
          <a:noFill/>
          <a:ln/>
        </p:spPr>
        <p:txBody>
          <a:bodyPr wrap="square" lIns="0" tIns="0" rIns="0" bIns="0" rtlCol="0" anchor="ctr"/>
          <a:lstStyle/>
          <a:p>
            <a:pPr marL="0" indent="0">
              <a:buNone/>
            </a:pPr>
            <a:r>
              <a:rPr lang="en-US" sz="900" b="1" kern="0" spc="100" dirty="0">
                <a:solidFill>
                  <a:srgbClr val="3DDC97"/>
                </a:solidFill>
                <a:latin typeface="Calibri" pitchFamily="34" charset="0"/>
                <a:ea typeface="Calibri" pitchFamily="34" charset="-122"/>
                <a:cs typeface="Calibri" pitchFamily="34" charset="-120"/>
              </a:rPr>
              <a:t>HECHO</a:t>
            </a:r>
            <a:endParaRPr lang="en-US" sz="900" dirty="0"/>
          </a:p>
        </p:txBody>
      </p:sp>
      <p:sp>
        <p:nvSpPr>
          <p:cNvPr id="11" name="Shape 9"/>
          <p:cNvSpPr/>
          <p:nvPr/>
        </p:nvSpPr>
        <p:spPr>
          <a:xfrm>
            <a:off x="4297680" y="2194560"/>
            <a:ext cx="3520440" cy="1371600"/>
          </a:xfrm>
          <a:prstGeom prst="roundRect">
            <a:avLst>
              <a:gd name="adj" fmla="val 6667"/>
            </a:avLst>
          </a:prstGeom>
          <a:solidFill>
            <a:srgbClr val="262C3B"/>
          </a:solidFill>
          <a:ln w="12700">
            <a:solidFill>
              <a:srgbClr val="262C3B"/>
            </a:solidFill>
            <a:prstDash val="solid"/>
          </a:ln>
        </p:spPr>
      </p:sp>
      <p:sp>
        <p:nvSpPr>
          <p:cNvPr id="12" name="Shape 10"/>
          <p:cNvSpPr/>
          <p:nvPr/>
        </p:nvSpPr>
        <p:spPr>
          <a:xfrm>
            <a:off x="4526280" y="2468880"/>
            <a:ext cx="731520" cy="731520"/>
          </a:xfrm>
          <a:prstGeom prst="ellipse">
            <a:avLst/>
          </a:prstGeom>
          <a:solidFill>
            <a:srgbClr val="F5B700"/>
          </a:solidFill>
          <a:ln w="25400">
            <a:solidFill>
              <a:srgbClr val="F5B700"/>
            </a:solidFill>
            <a:prstDash val="solid"/>
          </a:ln>
        </p:spPr>
      </p:sp>
      <p:sp>
        <p:nvSpPr>
          <p:cNvPr id="13" name="Text 11"/>
          <p:cNvSpPr txBox="1"/>
          <p:nvPr/>
        </p:nvSpPr>
        <p:spPr>
          <a:xfrm>
            <a:off x="4526280" y="2468880"/>
            <a:ext cx="731520" cy="731520"/>
          </a:xfrm>
          <a:prstGeom prst="rect">
            <a:avLst/>
          </a:prstGeom>
          <a:noFill/>
          <a:ln/>
        </p:spPr>
        <p:txBody>
          <a:bodyPr wrap="square" lIns="0" tIns="0" rIns="0" bIns="0" rtlCol="0" anchor="ctr"/>
          <a:lstStyle/>
          <a:p>
            <a:pPr marL="0" indent="0" algn="ctr">
              <a:buNone/>
            </a:pPr>
            <a:r>
              <a:rPr lang="en-US" sz="2200" b="1" dirty="0">
                <a:solidFill>
                  <a:srgbClr val="14171F"/>
                </a:solidFill>
                <a:latin typeface="Arial" pitchFamily="34" charset="0"/>
                <a:ea typeface="Arial" pitchFamily="34" charset="-122"/>
                <a:cs typeface="Arial" pitchFamily="34" charset="-120"/>
              </a:rPr>
              <a:t>2</a:t>
            </a:r>
            <a:endParaRPr lang="en-US" sz="2200" dirty="0"/>
          </a:p>
        </p:txBody>
      </p:sp>
      <p:sp>
        <p:nvSpPr>
          <p:cNvPr id="14" name="Text 12"/>
          <p:cNvSpPr txBox="1"/>
          <p:nvPr/>
        </p:nvSpPr>
        <p:spPr>
          <a:xfrm>
            <a:off x="5440680" y="2395728"/>
            <a:ext cx="2286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Comprensión de los datos</a:t>
            </a:r>
            <a:endParaRPr lang="en-US" sz="1400" dirty="0"/>
          </a:p>
        </p:txBody>
      </p:sp>
      <p:sp>
        <p:nvSpPr>
          <p:cNvPr id="15" name="Text 13"/>
          <p:cNvSpPr txBox="1"/>
          <p:nvPr/>
        </p:nvSpPr>
        <p:spPr>
          <a:xfrm>
            <a:off x="5440680" y="2770632"/>
            <a:ext cx="2240280" cy="64008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INEC, ANT, Municipio de Quito y clima</a:t>
            </a:r>
            <a:endParaRPr lang="en-US" sz="1200" dirty="0"/>
          </a:p>
        </p:txBody>
      </p:sp>
      <p:sp>
        <p:nvSpPr>
          <p:cNvPr id="16" name="Text 14"/>
          <p:cNvSpPr txBox="1"/>
          <p:nvPr/>
        </p:nvSpPr>
        <p:spPr>
          <a:xfrm>
            <a:off x="5440680" y="3264408"/>
            <a:ext cx="2240280" cy="228600"/>
          </a:xfrm>
          <a:prstGeom prst="rect">
            <a:avLst/>
          </a:prstGeom>
          <a:noFill/>
          <a:ln/>
        </p:spPr>
        <p:txBody>
          <a:bodyPr wrap="square" lIns="0" tIns="0" rIns="0" bIns="0" rtlCol="0" anchor="ctr"/>
          <a:lstStyle/>
          <a:p>
            <a:pPr marL="0" indent="0">
              <a:buNone/>
            </a:pPr>
            <a:r>
              <a:rPr lang="en-US" sz="900" b="1" kern="0" spc="100" dirty="0">
                <a:solidFill>
                  <a:srgbClr val="3DDC97"/>
                </a:solidFill>
                <a:latin typeface="Calibri" pitchFamily="34" charset="0"/>
                <a:ea typeface="Calibri" pitchFamily="34" charset="-122"/>
                <a:cs typeface="Calibri" pitchFamily="34" charset="-120"/>
              </a:rPr>
              <a:t>HECHO</a:t>
            </a:r>
            <a:endParaRPr lang="en-US" sz="900" dirty="0"/>
          </a:p>
        </p:txBody>
      </p:sp>
      <p:sp>
        <p:nvSpPr>
          <p:cNvPr id="17" name="Shape 15"/>
          <p:cNvSpPr/>
          <p:nvPr/>
        </p:nvSpPr>
        <p:spPr>
          <a:xfrm>
            <a:off x="8046720" y="2194560"/>
            <a:ext cx="3520440" cy="1371600"/>
          </a:xfrm>
          <a:prstGeom prst="roundRect">
            <a:avLst>
              <a:gd name="adj" fmla="val 6667"/>
            </a:avLst>
          </a:prstGeom>
          <a:solidFill>
            <a:srgbClr val="262C3B"/>
          </a:solidFill>
          <a:ln w="12700">
            <a:solidFill>
              <a:srgbClr val="262C3B"/>
            </a:solidFill>
            <a:prstDash val="solid"/>
          </a:ln>
        </p:spPr>
      </p:sp>
      <p:sp>
        <p:nvSpPr>
          <p:cNvPr id="18" name="Shape 16"/>
          <p:cNvSpPr/>
          <p:nvPr/>
        </p:nvSpPr>
        <p:spPr>
          <a:xfrm>
            <a:off x="8275320" y="2468880"/>
            <a:ext cx="731520" cy="731520"/>
          </a:xfrm>
          <a:prstGeom prst="ellipse">
            <a:avLst/>
          </a:prstGeom>
          <a:solidFill>
            <a:srgbClr val="F5B700"/>
          </a:solidFill>
          <a:ln w="25400">
            <a:solidFill>
              <a:srgbClr val="F5B700"/>
            </a:solidFill>
            <a:prstDash val="solid"/>
          </a:ln>
        </p:spPr>
      </p:sp>
      <p:sp>
        <p:nvSpPr>
          <p:cNvPr id="19" name="Text 17"/>
          <p:cNvSpPr txBox="1"/>
          <p:nvPr/>
        </p:nvSpPr>
        <p:spPr>
          <a:xfrm>
            <a:off x="8275320" y="2468880"/>
            <a:ext cx="731520" cy="731520"/>
          </a:xfrm>
          <a:prstGeom prst="rect">
            <a:avLst/>
          </a:prstGeom>
          <a:noFill/>
          <a:ln/>
        </p:spPr>
        <p:txBody>
          <a:bodyPr wrap="square" lIns="0" tIns="0" rIns="0" bIns="0" rtlCol="0" anchor="ctr"/>
          <a:lstStyle/>
          <a:p>
            <a:pPr marL="0" indent="0" algn="ctr">
              <a:buNone/>
            </a:pPr>
            <a:r>
              <a:rPr lang="en-US" sz="2200" b="1" dirty="0">
                <a:solidFill>
                  <a:srgbClr val="14171F"/>
                </a:solidFill>
                <a:latin typeface="Arial" pitchFamily="34" charset="0"/>
                <a:ea typeface="Arial" pitchFamily="34" charset="-122"/>
                <a:cs typeface="Arial" pitchFamily="34" charset="-120"/>
              </a:rPr>
              <a:t>3</a:t>
            </a:r>
            <a:endParaRPr lang="en-US" sz="2200" dirty="0"/>
          </a:p>
        </p:txBody>
      </p:sp>
      <p:sp>
        <p:nvSpPr>
          <p:cNvPr id="20" name="Text 18"/>
          <p:cNvSpPr txBox="1"/>
          <p:nvPr/>
        </p:nvSpPr>
        <p:spPr>
          <a:xfrm>
            <a:off x="9189720" y="2395728"/>
            <a:ext cx="2286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Preparación de los datos</a:t>
            </a:r>
            <a:endParaRPr lang="en-US" sz="1400" dirty="0"/>
          </a:p>
        </p:txBody>
      </p:sp>
      <p:sp>
        <p:nvSpPr>
          <p:cNvPr id="21" name="Text 19"/>
          <p:cNvSpPr txBox="1"/>
          <p:nvPr/>
        </p:nvSpPr>
        <p:spPr>
          <a:xfrm>
            <a:off x="9189720" y="2770632"/>
            <a:ext cx="2240280" cy="64008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Integrar, filtrar, limpiar y transformar</a:t>
            </a:r>
            <a:endParaRPr lang="en-US" sz="1200" dirty="0"/>
          </a:p>
        </p:txBody>
      </p:sp>
      <p:sp>
        <p:nvSpPr>
          <p:cNvPr id="22" name="Text 20"/>
          <p:cNvSpPr txBox="1"/>
          <p:nvPr/>
        </p:nvSpPr>
        <p:spPr>
          <a:xfrm>
            <a:off x="9189720" y="3264408"/>
            <a:ext cx="2240280" cy="228600"/>
          </a:xfrm>
          <a:prstGeom prst="rect">
            <a:avLst/>
          </a:prstGeom>
          <a:noFill/>
          <a:ln/>
        </p:spPr>
        <p:txBody>
          <a:bodyPr wrap="square" lIns="0" tIns="0" rIns="0" bIns="0" rtlCol="0" anchor="ctr"/>
          <a:lstStyle/>
          <a:p>
            <a:pPr marL="0" indent="0">
              <a:buNone/>
            </a:pPr>
            <a:r>
              <a:rPr lang="en-US" sz="900" b="1" kern="0" spc="100" dirty="0">
                <a:solidFill>
                  <a:srgbClr val="3DDC97"/>
                </a:solidFill>
                <a:latin typeface="Calibri" pitchFamily="34" charset="0"/>
                <a:ea typeface="Calibri" pitchFamily="34" charset="-122"/>
                <a:cs typeface="Calibri" pitchFamily="34" charset="-120"/>
              </a:rPr>
              <a:t>HECHO</a:t>
            </a:r>
            <a:endParaRPr lang="en-US" sz="900" dirty="0"/>
          </a:p>
        </p:txBody>
      </p:sp>
      <p:sp>
        <p:nvSpPr>
          <p:cNvPr id="23" name="Shape 21"/>
          <p:cNvSpPr/>
          <p:nvPr/>
        </p:nvSpPr>
        <p:spPr>
          <a:xfrm>
            <a:off x="548640" y="3794760"/>
            <a:ext cx="3520440" cy="1371600"/>
          </a:xfrm>
          <a:prstGeom prst="roundRect">
            <a:avLst>
              <a:gd name="adj" fmla="val 6667"/>
            </a:avLst>
          </a:prstGeom>
          <a:solidFill>
            <a:srgbClr val="1E2330"/>
          </a:solidFill>
          <a:ln w="12700">
            <a:solidFill>
              <a:srgbClr val="1E2330"/>
            </a:solidFill>
            <a:prstDash val="solid"/>
          </a:ln>
        </p:spPr>
      </p:sp>
      <p:sp>
        <p:nvSpPr>
          <p:cNvPr id="24" name="Shape 22"/>
          <p:cNvSpPr/>
          <p:nvPr/>
        </p:nvSpPr>
        <p:spPr>
          <a:xfrm>
            <a:off x="777240" y="4069080"/>
            <a:ext cx="731520" cy="731520"/>
          </a:xfrm>
          <a:prstGeom prst="ellipse">
            <a:avLst/>
          </a:prstGeom>
          <a:solidFill>
            <a:srgbClr val="1E2330"/>
          </a:solidFill>
          <a:ln w="25400">
            <a:solidFill>
              <a:srgbClr val="6B7385"/>
            </a:solidFill>
            <a:prstDash val="solid"/>
          </a:ln>
        </p:spPr>
      </p:sp>
      <p:sp>
        <p:nvSpPr>
          <p:cNvPr id="25" name="Text 23"/>
          <p:cNvSpPr txBox="1"/>
          <p:nvPr/>
        </p:nvSpPr>
        <p:spPr>
          <a:xfrm>
            <a:off x="777240" y="4069080"/>
            <a:ext cx="731520" cy="731520"/>
          </a:xfrm>
          <a:prstGeom prst="rect">
            <a:avLst/>
          </a:prstGeom>
          <a:noFill/>
          <a:ln/>
        </p:spPr>
        <p:txBody>
          <a:bodyPr wrap="square" lIns="0" tIns="0" rIns="0" bIns="0" rtlCol="0" anchor="ctr"/>
          <a:lstStyle/>
          <a:p>
            <a:pPr marL="0" indent="0" algn="ctr">
              <a:buNone/>
            </a:pPr>
            <a:r>
              <a:rPr lang="en-US" sz="2200" b="1" dirty="0">
                <a:solidFill>
                  <a:srgbClr val="6B7385"/>
                </a:solidFill>
                <a:latin typeface="Arial" pitchFamily="34" charset="0"/>
                <a:ea typeface="Arial" pitchFamily="34" charset="-122"/>
                <a:cs typeface="Arial" pitchFamily="34" charset="-120"/>
              </a:rPr>
              <a:t>4</a:t>
            </a:r>
            <a:endParaRPr lang="en-US" sz="2200" dirty="0"/>
          </a:p>
        </p:txBody>
      </p:sp>
      <p:sp>
        <p:nvSpPr>
          <p:cNvPr id="26" name="Text 24"/>
          <p:cNvSpPr txBox="1"/>
          <p:nvPr/>
        </p:nvSpPr>
        <p:spPr>
          <a:xfrm>
            <a:off x="1691640" y="3995928"/>
            <a:ext cx="2286000" cy="365760"/>
          </a:xfrm>
          <a:prstGeom prst="rect">
            <a:avLst/>
          </a:prstGeom>
          <a:noFill/>
          <a:ln/>
        </p:spPr>
        <p:txBody>
          <a:bodyPr wrap="square" lIns="0" tIns="0" rIns="0" bIns="0" rtlCol="0" anchor="ctr"/>
          <a:lstStyle/>
          <a:p>
            <a:pPr marL="0" indent="0">
              <a:buNone/>
            </a:pPr>
            <a:r>
              <a:rPr lang="en-US" sz="1400" b="1" dirty="0">
                <a:solidFill>
                  <a:srgbClr val="A7B0C0"/>
                </a:solidFill>
                <a:latin typeface="Calibri" pitchFamily="34" charset="0"/>
                <a:ea typeface="Calibri" pitchFamily="34" charset="-122"/>
                <a:cs typeface="Calibri" pitchFamily="34" charset="-120"/>
              </a:rPr>
              <a:t>Modelado</a:t>
            </a:r>
            <a:endParaRPr lang="en-US" sz="1400" dirty="0"/>
          </a:p>
        </p:txBody>
      </p:sp>
      <p:sp>
        <p:nvSpPr>
          <p:cNvPr id="27" name="Text 25"/>
          <p:cNvSpPr txBox="1"/>
          <p:nvPr/>
        </p:nvSpPr>
        <p:spPr>
          <a:xfrm>
            <a:off x="1691640" y="4370832"/>
            <a:ext cx="2240280" cy="64008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Zonas críticas y nivel de riesgo (Random Forest)</a:t>
            </a:r>
            <a:endParaRPr lang="en-US" sz="1200" dirty="0"/>
          </a:p>
        </p:txBody>
      </p:sp>
      <p:sp>
        <p:nvSpPr>
          <p:cNvPr id="28" name="Text 26"/>
          <p:cNvSpPr txBox="1"/>
          <p:nvPr/>
        </p:nvSpPr>
        <p:spPr>
          <a:xfrm>
            <a:off x="1691640" y="4864608"/>
            <a:ext cx="2240280" cy="228600"/>
          </a:xfrm>
          <a:prstGeom prst="rect">
            <a:avLst/>
          </a:prstGeom>
          <a:noFill/>
          <a:ln/>
        </p:spPr>
        <p:txBody>
          <a:bodyPr wrap="square" lIns="0" tIns="0" rIns="0" bIns="0" rtlCol="0" anchor="ctr"/>
          <a:lstStyle/>
          <a:p>
            <a:pPr marL="0" indent="0">
              <a:buNone/>
            </a:pPr>
            <a:r>
              <a:rPr lang="en-US" sz="900" b="1" kern="0" spc="100" dirty="0">
                <a:solidFill>
                  <a:srgbClr val="6B7385"/>
                </a:solidFill>
                <a:latin typeface="Calibri" pitchFamily="34" charset="0"/>
                <a:ea typeface="Calibri" pitchFamily="34" charset="-122"/>
                <a:cs typeface="Calibri" pitchFamily="34" charset="-120"/>
              </a:rPr>
              <a:t>LO QUE SIGUE</a:t>
            </a:r>
            <a:endParaRPr lang="en-US" sz="900" dirty="0"/>
          </a:p>
        </p:txBody>
      </p:sp>
      <p:sp>
        <p:nvSpPr>
          <p:cNvPr id="29" name="Shape 27"/>
          <p:cNvSpPr/>
          <p:nvPr/>
        </p:nvSpPr>
        <p:spPr>
          <a:xfrm>
            <a:off x="4297680" y="3794760"/>
            <a:ext cx="3520440" cy="1371600"/>
          </a:xfrm>
          <a:prstGeom prst="roundRect">
            <a:avLst>
              <a:gd name="adj" fmla="val 6667"/>
            </a:avLst>
          </a:prstGeom>
          <a:solidFill>
            <a:srgbClr val="1E2330"/>
          </a:solidFill>
          <a:ln w="12700">
            <a:solidFill>
              <a:srgbClr val="1E2330"/>
            </a:solidFill>
            <a:prstDash val="solid"/>
          </a:ln>
        </p:spPr>
      </p:sp>
      <p:sp>
        <p:nvSpPr>
          <p:cNvPr id="30" name="Shape 28"/>
          <p:cNvSpPr/>
          <p:nvPr/>
        </p:nvSpPr>
        <p:spPr>
          <a:xfrm>
            <a:off x="4526280" y="4069080"/>
            <a:ext cx="731520" cy="731520"/>
          </a:xfrm>
          <a:prstGeom prst="ellipse">
            <a:avLst/>
          </a:prstGeom>
          <a:solidFill>
            <a:srgbClr val="1E2330"/>
          </a:solidFill>
          <a:ln w="25400">
            <a:solidFill>
              <a:srgbClr val="6B7385"/>
            </a:solidFill>
            <a:prstDash val="solid"/>
          </a:ln>
        </p:spPr>
      </p:sp>
      <p:sp>
        <p:nvSpPr>
          <p:cNvPr id="31" name="Text 29"/>
          <p:cNvSpPr txBox="1"/>
          <p:nvPr/>
        </p:nvSpPr>
        <p:spPr>
          <a:xfrm>
            <a:off x="4526280" y="4069080"/>
            <a:ext cx="731520" cy="731520"/>
          </a:xfrm>
          <a:prstGeom prst="rect">
            <a:avLst/>
          </a:prstGeom>
          <a:noFill/>
          <a:ln/>
        </p:spPr>
        <p:txBody>
          <a:bodyPr wrap="square" lIns="0" tIns="0" rIns="0" bIns="0" rtlCol="0" anchor="ctr"/>
          <a:lstStyle/>
          <a:p>
            <a:pPr marL="0" indent="0" algn="ctr">
              <a:buNone/>
            </a:pPr>
            <a:r>
              <a:rPr lang="en-US" sz="2200" b="1" dirty="0">
                <a:solidFill>
                  <a:srgbClr val="6B7385"/>
                </a:solidFill>
                <a:latin typeface="Arial" pitchFamily="34" charset="0"/>
                <a:ea typeface="Arial" pitchFamily="34" charset="-122"/>
                <a:cs typeface="Arial" pitchFamily="34" charset="-120"/>
              </a:rPr>
              <a:t>5</a:t>
            </a:r>
            <a:endParaRPr lang="en-US" sz="2200" dirty="0"/>
          </a:p>
        </p:txBody>
      </p:sp>
      <p:sp>
        <p:nvSpPr>
          <p:cNvPr id="32" name="Text 30"/>
          <p:cNvSpPr txBox="1"/>
          <p:nvPr/>
        </p:nvSpPr>
        <p:spPr>
          <a:xfrm>
            <a:off x="5440680" y="3995928"/>
            <a:ext cx="2286000" cy="365760"/>
          </a:xfrm>
          <a:prstGeom prst="rect">
            <a:avLst/>
          </a:prstGeom>
          <a:noFill/>
          <a:ln/>
        </p:spPr>
        <p:txBody>
          <a:bodyPr wrap="square" lIns="0" tIns="0" rIns="0" bIns="0" rtlCol="0" anchor="ctr"/>
          <a:lstStyle/>
          <a:p>
            <a:pPr marL="0" indent="0">
              <a:buNone/>
            </a:pPr>
            <a:r>
              <a:rPr lang="en-US" sz="1400" b="1" dirty="0">
                <a:solidFill>
                  <a:srgbClr val="A7B0C0"/>
                </a:solidFill>
                <a:latin typeface="Calibri" pitchFamily="34" charset="0"/>
                <a:ea typeface="Calibri" pitchFamily="34" charset="-122"/>
                <a:cs typeface="Calibri" pitchFamily="34" charset="-120"/>
              </a:rPr>
              <a:t>Evaluación</a:t>
            </a:r>
            <a:endParaRPr lang="en-US" sz="1400" dirty="0"/>
          </a:p>
        </p:txBody>
      </p:sp>
      <p:sp>
        <p:nvSpPr>
          <p:cNvPr id="33" name="Text 31"/>
          <p:cNvSpPr txBox="1"/>
          <p:nvPr/>
        </p:nvSpPr>
        <p:spPr>
          <a:xfrm>
            <a:off x="5440680" y="4370832"/>
            <a:ext cx="2240280" cy="64008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Entrenar con 2024–2025 y probar con 2026</a:t>
            </a:r>
            <a:endParaRPr lang="en-US" sz="1200" dirty="0"/>
          </a:p>
        </p:txBody>
      </p:sp>
      <p:sp>
        <p:nvSpPr>
          <p:cNvPr id="34" name="Text 32"/>
          <p:cNvSpPr txBox="1"/>
          <p:nvPr/>
        </p:nvSpPr>
        <p:spPr>
          <a:xfrm>
            <a:off x="5440680" y="4864608"/>
            <a:ext cx="2240280" cy="228600"/>
          </a:xfrm>
          <a:prstGeom prst="rect">
            <a:avLst/>
          </a:prstGeom>
          <a:noFill/>
          <a:ln/>
        </p:spPr>
        <p:txBody>
          <a:bodyPr wrap="square" lIns="0" tIns="0" rIns="0" bIns="0" rtlCol="0" anchor="ctr"/>
          <a:lstStyle/>
          <a:p>
            <a:pPr marL="0" indent="0">
              <a:buNone/>
            </a:pPr>
            <a:r>
              <a:rPr lang="en-US" sz="900" b="1" kern="0" spc="100" dirty="0">
                <a:solidFill>
                  <a:srgbClr val="6B7385"/>
                </a:solidFill>
                <a:latin typeface="Calibri" pitchFamily="34" charset="0"/>
                <a:ea typeface="Calibri" pitchFamily="34" charset="-122"/>
                <a:cs typeface="Calibri" pitchFamily="34" charset="-120"/>
              </a:rPr>
              <a:t>LO QUE SIGUE</a:t>
            </a:r>
            <a:endParaRPr lang="en-US" sz="900" dirty="0"/>
          </a:p>
        </p:txBody>
      </p:sp>
      <p:sp>
        <p:nvSpPr>
          <p:cNvPr id="35" name="Shape 33"/>
          <p:cNvSpPr/>
          <p:nvPr/>
        </p:nvSpPr>
        <p:spPr>
          <a:xfrm>
            <a:off x="8046720" y="3794760"/>
            <a:ext cx="3520440" cy="1371600"/>
          </a:xfrm>
          <a:prstGeom prst="roundRect">
            <a:avLst>
              <a:gd name="adj" fmla="val 6667"/>
            </a:avLst>
          </a:prstGeom>
          <a:solidFill>
            <a:srgbClr val="1E2330"/>
          </a:solidFill>
          <a:ln w="12700">
            <a:solidFill>
              <a:srgbClr val="1E2330"/>
            </a:solidFill>
            <a:prstDash val="solid"/>
          </a:ln>
        </p:spPr>
      </p:sp>
      <p:sp>
        <p:nvSpPr>
          <p:cNvPr id="36" name="Shape 34"/>
          <p:cNvSpPr/>
          <p:nvPr/>
        </p:nvSpPr>
        <p:spPr>
          <a:xfrm>
            <a:off x="8275320" y="4069080"/>
            <a:ext cx="731520" cy="731520"/>
          </a:xfrm>
          <a:prstGeom prst="ellipse">
            <a:avLst/>
          </a:prstGeom>
          <a:solidFill>
            <a:srgbClr val="1E2330"/>
          </a:solidFill>
          <a:ln w="25400">
            <a:solidFill>
              <a:srgbClr val="6B7385"/>
            </a:solidFill>
            <a:prstDash val="solid"/>
          </a:ln>
        </p:spPr>
      </p:sp>
      <p:sp>
        <p:nvSpPr>
          <p:cNvPr id="37" name="Text 35"/>
          <p:cNvSpPr txBox="1"/>
          <p:nvPr/>
        </p:nvSpPr>
        <p:spPr>
          <a:xfrm>
            <a:off x="8275320" y="4069080"/>
            <a:ext cx="731520" cy="731520"/>
          </a:xfrm>
          <a:prstGeom prst="rect">
            <a:avLst/>
          </a:prstGeom>
          <a:noFill/>
          <a:ln/>
        </p:spPr>
        <p:txBody>
          <a:bodyPr wrap="square" lIns="0" tIns="0" rIns="0" bIns="0" rtlCol="0" anchor="ctr"/>
          <a:lstStyle/>
          <a:p>
            <a:pPr marL="0" indent="0" algn="ctr">
              <a:buNone/>
            </a:pPr>
            <a:r>
              <a:rPr lang="en-US" sz="2200" b="1" dirty="0">
                <a:solidFill>
                  <a:srgbClr val="6B7385"/>
                </a:solidFill>
                <a:latin typeface="Arial" pitchFamily="34" charset="0"/>
                <a:ea typeface="Arial" pitchFamily="34" charset="-122"/>
                <a:cs typeface="Arial" pitchFamily="34" charset="-120"/>
              </a:rPr>
              <a:t>6</a:t>
            </a:r>
            <a:endParaRPr lang="en-US" sz="2200" dirty="0"/>
          </a:p>
        </p:txBody>
      </p:sp>
      <p:sp>
        <p:nvSpPr>
          <p:cNvPr id="38" name="Text 36"/>
          <p:cNvSpPr txBox="1"/>
          <p:nvPr/>
        </p:nvSpPr>
        <p:spPr>
          <a:xfrm>
            <a:off x="9189720" y="3995928"/>
            <a:ext cx="2286000" cy="365760"/>
          </a:xfrm>
          <a:prstGeom prst="rect">
            <a:avLst/>
          </a:prstGeom>
          <a:noFill/>
          <a:ln/>
        </p:spPr>
        <p:txBody>
          <a:bodyPr wrap="square" lIns="0" tIns="0" rIns="0" bIns="0" rtlCol="0" anchor="ctr"/>
          <a:lstStyle/>
          <a:p>
            <a:pPr marL="0" indent="0">
              <a:buNone/>
            </a:pPr>
            <a:r>
              <a:rPr lang="en-US" sz="1400" b="1" dirty="0">
                <a:solidFill>
                  <a:srgbClr val="A7B0C0"/>
                </a:solidFill>
                <a:latin typeface="Calibri" pitchFamily="34" charset="0"/>
                <a:ea typeface="Calibri" pitchFamily="34" charset="-122"/>
                <a:cs typeface="Calibri" pitchFamily="34" charset="-120"/>
              </a:rPr>
              <a:t>Despliegue</a:t>
            </a:r>
            <a:endParaRPr lang="en-US" sz="1400" dirty="0"/>
          </a:p>
        </p:txBody>
      </p:sp>
      <p:sp>
        <p:nvSpPr>
          <p:cNvPr id="39" name="Text 37"/>
          <p:cNvSpPr txBox="1"/>
          <p:nvPr/>
        </p:nvSpPr>
        <p:spPr>
          <a:xfrm>
            <a:off x="9189720" y="4370832"/>
            <a:ext cx="2240280" cy="64008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Dashboard con mapa y escenarios</a:t>
            </a:r>
            <a:endParaRPr lang="en-US" sz="1200" dirty="0"/>
          </a:p>
        </p:txBody>
      </p:sp>
      <p:sp>
        <p:nvSpPr>
          <p:cNvPr id="40" name="Text 38"/>
          <p:cNvSpPr txBox="1"/>
          <p:nvPr/>
        </p:nvSpPr>
        <p:spPr>
          <a:xfrm>
            <a:off x="9189720" y="4864608"/>
            <a:ext cx="2240280" cy="228600"/>
          </a:xfrm>
          <a:prstGeom prst="rect">
            <a:avLst/>
          </a:prstGeom>
          <a:noFill/>
          <a:ln/>
        </p:spPr>
        <p:txBody>
          <a:bodyPr wrap="square" lIns="0" tIns="0" rIns="0" bIns="0" rtlCol="0" anchor="ctr"/>
          <a:lstStyle/>
          <a:p>
            <a:pPr marL="0" indent="0">
              <a:buNone/>
            </a:pPr>
            <a:r>
              <a:rPr lang="en-US" sz="900" b="1" kern="0" spc="100" dirty="0">
                <a:solidFill>
                  <a:srgbClr val="6B7385"/>
                </a:solidFill>
                <a:latin typeface="Calibri" pitchFamily="34" charset="0"/>
                <a:ea typeface="Calibri" pitchFamily="34" charset="-122"/>
                <a:cs typeface="Calibri" pitchFamily="34" charset="-120"/>
              </a:rPr>
              <a:t>LO QUE SIGUE</a:t>
            </a:r>
            <a:endParaRPr lang="en-US" sz="900" dirty="0"/>
          </a:p>
        </p:txBody>
      </p:sp>
      <p:sp>
        <p:nvSpPr>
          <p:cNvPr id="41" name="Shape 39"/>
          <p:cNvSpPr/>
          <p:nvPr/>
        </p:nvSpPr>
        <p:spPr>
          <a:xfrm>
            <a:off x="548640" y="5532120"/>
            <a:ext cx="11091672" cy="822960"/>
          </a:xfrm>
          <a:prstGeom prst="roundRect">
            <a:avLst>
              <a:gd name="adj" fmla="val 11111"/>
            </a:avLst>
          </a:prstGeom>
          <a:solidFill>
            <a:srgbClr val="1E2330"/>
          </a:solidFill>
          <a:ln w="12700">
            <a:solidFill>
              <a:srgbClr val="1E2330"/>
            </a:solidFill>
            <a:prstDash val="solid"/>
          </a:ln>
        </p:spPr>
      </p:sp>
      <p:sp>
        <p:nvSpPr>
          <p:cNvPr id="42" name="Shape 40"/>
          <p:cNvSpPr/>
          <p:nvPr/>
        </p:nvSpPr>
        <p:spPr>
          <a:xfrm>
            <a:off x="731520" y="5669280"/>
            <a:ext cx="548640" cy="548640"/>
          </a:xfrm>
          <a:prstGeom prst="ellipse">
            <a:avLst/>
          </a:prstGeom>
          <a:solidFill>
            <a:srgbClr val="F5B700"/>
          </a:solidFill>
          <a:ln w="12700">
            <a:solidFill>
              <a:srgbClr val="F5B700"/>
            </a:solidFill>
            <a:prstDash val="solid"/>
          </a:ln>
        </p:spPr>
      </p:sp>
      <p:pic>
        <p:nvPicPr>
          <p:cNvPr id="43" name="Image 0" descr="preencoded.png"/>
          <p:cNvPicPr>
            <a:picLocks noChangeAspect="1"/>
          </p:cNvPicPr>
          <p:nvPr/>
        </p:nvPicPr>
        <p:blipFill>
          <a:blip r:embed="rId3"/>
          <a:stretch>
            <a:fillRect/>
          </a:stretch>
        </p:blipFill>
        <p:spPr>
          <a:xfrm>
            <a:off x="874166" y="5811926"/>
            <a:ext cx="263347" cy="263347"/>
          </a:xfrm>
          <a:prstGeom prst="rect">
            <a:avLst/>
          </a:prstGeom>
        </p:spPr>
      </p:pic>
      <p:sp>
        <p:nvSpPr>
          <p:cNvPr id="44" name="Text 41"/>
          <p:cNvSpPr txBox="1"/>
          <p:nvPr/>
        </p:nvSpPr>
        <p:spPr>
          <a:xfrm>
            <a:off x="1463040" y="5532120"/>
            <a:ext cx="9966960" cy="82296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Con qué trabajamos: </a:t>
            </a:r>
            <a:r>
              <a:rPr lang="en-US" sz="1400" dirty="0">
                <a:solidFill>
                  <a:srgbClr val="FFFFFF"/>
                </a:solidFill>
                <a:latin typeface="Calibri" pitchFamily="34" charset="0"/>
                <a:ea typeface="Calibri" pitchFamily="34" charset="-122"/>
                <a:cs typeface="Calibri" pitchFamily="34" charset="-120"/>
              </a:rPr>
              <a:t>Python con pandas y NumPy, matplotlib para los gráficos, Visual Studio Code y Excel para revisar los archivos.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02 · CALIDAD DE DATOS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Antes de analizar, comprobamos que los datos fueran confiables</a:t>
            </a:r>
            <a:endParaRPr lang="en-US" sz="2600" dirty="0"/>
          </a:p>
        </p:txBody>
      </p:sp>
      <p:sp>
        <p:nvSpPr>
          <p:cNvPr id="4" name="Text 2"/>
          <p:cNvSpPr txBox="1"/>
          <p:nvPr/>
        </p:nvSpPr>
        <p:spPr>
          <a:xfrm>
            <a:off x="548640" y="1325880"/>
            <a:ext cx="11064240" cy="365760"/>
          </a:xfrm>
          <a:prstGeom prst="rect">
            <a:avLst/>
          </a:prstGeom>
          <a:noFill/>
          <a:ln/>
        </p:spPr>
        <p:txBody>
          <a:bodyPr wrap="square" lIns="0" tIns="0" rIns="0" bIns="0" rtlCol="0" anchor="ctr"/>
          <a:lstStyle/>
          <a:p>
            <a:pPr marL="0" indent="0">
              <a:buNone/>
            </a:pPr>
            <a:r>
              <a:rPr lang="en-US" sz="1400" dirty="0">
                <a:solidFill>
                  <a:srgbClr val="A7B0C0"/>
                </a:solidFill>
                <a:latin typeface="Calibri" pitchFamily="34" charset="0"/>
                <a:ea typeface="Calibri" pitchFamily="34" charset="-122"/>
                <a:cs typeface="Calibri" pitchFamily="34" charset="-120"/>
              </a:rPr>
              <a:t>Los evaluamos con seis criterios (Wang y Strong, 1996; ISO/IEC 25012).</a:t>
            </a:r>
            <a:endParaRPr lang="en-US" sz="1400" dirty="0"/>
          </a:p>
        </p:txBody>
      </p:sp>
      <p:sp>
        <p:nvSpPr>
          <p:cNvPr id="5" name="Shape 3"/>
          <p:cNvSpPr/>
          <p:nvPr/>
        </p:nvSpPr>
        <p:spPr>
          <a:xfrm>
            <a:off x="548640" y="1874520"/>
            <a:ext cx="3520440" cy="1920240"/>
          </a:xfrm>
          <a:prstGeom prst="roundRect">
            <a:avLst>
              <a:gd name="adj" fmla="val 4762"/>
            </a:avLst>
          </a:prstGeom>
          <a:solidFill>
            <a:srgbClr val="1E2330"/>
          </a:solidFill>
          <a:ln w="12700">
            <a:solidFill>
              <a:srgbClr val="1E2330"/>
            </a:solidFill>
            <a:prstDash val="solid"/>
          </a:ln>
        </p:spPr>
      </p:sp>
      <p:sp>
        <p:nvSpPr>
          <p:cNvPr id="6" name="Text 4"/>
          <p:cNvSpPr txBox="1"/>
          <p:nvPr/>
        </p:nvSpPr>
        <p:spPr>
          <a:xfrm>
            <a:off x="822960" y="2103120"/>
            <a:ext cx="3017520" cy="274320"/>
          </a:xfrm>
          <a:prstGeom prst="rect">
            <a:avLst/>
          </a:prstGeom>
          <a:noFill/>
          <a:ln/>
        </p:spPr>
        <p:txBody>
          <a:bodyPr wrap="square" lIns="0" tIns="0" rIns="0" bIns="0" rtlCol="0" anchor="ctr"/>
          <a:lstStyle/>
          <a:p>
            <a:pPr marL="0" indent="0">
              <a:buNone/>
            </a:pPr>
            <a:r>
              <a:rPr lang="en-US" sz="1200" b="1" kern="0" spc="100" dirty="0">
                <a:solidFill>
                  <a:srgbClr val="A7B0C0"/>
                </a:solidFill>
                <a:latin typeface="Calibri" pitchFamily="34" charset="0"/>
                <a:ea typeface="Calibri" pitchFamily="34" charset="-122"/>
                <a:cs typeface="Calibri" pitchFamily="34" charset="-120"/>
              </a:rPr>
              <a:t>UNICIDAD</a:t>
            </a:r>
            <a:endParaRPr lang="en-US" sz="1200" dirty="0"/>
          </a:p>
        </p:txBody>
      </p:sp>
      <p:sp>
        <p:nvSpPr>
          <p:cNvPr id="7" name="Text 5"/>
          <p:cNvSpPr txBox="1"/>
          <p:nvPr/>
        </p:nvSpPr>
        <p:spPr>
          <a:xfrm>
            <a:off x="822960" y="2423160"/>
            <a:ext cx="3017520" cy="685800"/>
          </a:xfrm>
          <a:prstGeom prst="rect">
            <a:avLst/>
          </a:prstGeom>
          <a:noFill/>
          <a:ln/>
        </p:spPr>
        <p:txBody>
          <a:bodyPr wrap="square" lIns="0" tIns="0" rIns="0" bIns="0" rtlCol="0" anchor="ctr"/>
          <a:lstStyle/>
          <a:p>
            <a:pPr marL="0" indent="0">
              <a:buNone/>
            </a:pPr>
            <a:r>
              <a:rPr lang="en-US" sz="3800" b="1" dirty="0">
                <a:solidFill>
                  <a:srgbClr val="3DDC97"/>
                </a:solidFill>
                <a:latin typeface="Arial" pitchFamily="34" charset="0"/>
                <a:ea typeface="Arial" pitchFamily="34" charset="-122"/>
                <a:cs typeface="Arial" pitchFamily="34" charset="-120"/>
              </a:rPr>
              <a:t>0</a:t>
            </a:r>
            <a:endParaRPr lang="en-US" sz="3800" dirty="0"/>
          </a:p>
        </p:txBody>
      </p:sp>
      <p:sp>
        <p:nvSpPr>
          <p:cNvPr id="8" name="Text 6"/>
          <p:cNvSpPr txBox="1"/>
          <p:nvPr/>
        </p:nvSpPr>
        <p:spPr>
          <a:xfrm>
            <a:off x="822960" y="3154680"/>
            <a:ext cx="3017520" cy="548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registros duplicados en 44.982</a:t>
            </a:r>
            <a:endParaRPr lang="en-US" sz="1300" dirty="0"/>
          </a:p>
        </p:txBody>
      </p:sp>
      <p:sp>
        <p:nvSpPr>
          <p:cNvPr id="9" name="Shape 7"/>
          <p:cNvSpPr/>
          <p:nvPr/>
        </p:nvSpPr>
        <p:spPr>
          <a:xfrm>
            <a:off x="4297680" y="1874520"/>
            <a:ext cx="3520440" cy="1920240"/>
          </a:xfrm>
          <a:prstGeom prst="roundRect">
            <a:avLst>
              <a:gd name="adj" fmla="val 4762"/>
            </a:avLst>
          </a:prstGeom>
          <a:solidFill>
            <a:srgbClr val="1E2330"/>
          </a:solidFill>
          <a:ln w="12700">
            <a:solidFill>
              <a:srgbClr val="1E2330"/>
            </a:solidFill>
            <a:prstDash val="solid"/>
          </a:ln>
        </p:spPr>
      </p:sp>
      <p:sp>
        <p:nvSpPr>
          <p:cNvPr id="10" name="Text 8"/>
          <p:cNvSpPr txBox="1"/>
          <p:nvPr/>
        </p:nvSpPr>
        <p:spPr>
          <a:xfrm>
            <a:off x="4572000" y="2103120"/>
            <a:ext cx="3017520" cy="274320"/>
          </a:xfrm>
          <a:prstGeom prst="rect">
            <a:avLst/>
          </a:prstGeom>
          <a:noFill/>
          <a:ln/>
        </p:spPr>
        <p:txBody>
          <a:bodyPr wrap="square" lIns="0" tIns="0" rIns="0" bIns="0" rtlCol="0" anchor="ctr"/>
          <a:lstStyle/>
          <a:p>
            <a:pPr marL="0" indent="0">
              <a:buNone/>
            </a:pPr>
            <a:r>
              <a:rPr lang="en-US" sz="1200" b="1" kern="0" spc="100" dirty="0">
                <a:solidFill>
                  <a:srgbClr val="A7B0C0"/>
                </a:solidFill>
                <a:latin typeface="Calibri" pitchFamily="34" charset="0"/>
                <a:ea typeface="Calibri" pitchFamily="34" charset="-122"/>
                <a:cs typeface="Calibri" pitchFamily="34" charset="-120"/>
              </a:rPr>
              <a:t>COBERTURA</a:t>
            </a:r>
            <a:endParaRPr lang="en-US" sz="1200" dirty="0"/>
          </a:p>
        </p:txBody>
      </p:sp>
      <p:sp>
        <p:nvSpPr>
          <p:cNvPr id="11" name="Text 9"/>
          <p:cNvSpPr txBox="1"/>
          <p:nvPr/>
        </p:nvSpPr>
        <p:spPr>
          <a:xfrm>
            <a:off x="4572000" y="2423160"/>
            <a:ext cx="3017520" cy="685800"/>
          </a:xfrm>
          <a:prstGeom prst="rect">
            <a:avLst/>
          </a:prstGeom>
          <a:noFill/>
          <a:ln/>
        </p:spPr>
        <p:txBody>
          <a:bodyPr wrap="square" lIns="0" tIns="0" rIns="0" bIns="0" rtlCol="0" anchor="ctr"/>
          <a:lstStyle/>
          <a:p>
            <a:pPr marL="0" indent="0">
              <a:buNone/>
            </a:pPr>
            <a:r>
              <a:rPr lang="en-US" sz="3800" b="1" dirty="0">
                <a:solidFill>
                  <a:srgbClr val="3DDC97"/>
                </a:solidFill>
                <a:latin typeface="Arial" pitchFamily="34" charset="0"/>
                <a:ea typeface="Arial" pitchFamily="34" charset="-122"/>
                <a:cs typeface="Arial" pitchFamily="34" charset="-120"/>
              </a:rPr>
              <a:t>100 %</a:t>
            </a:r>
            <a:endParaRPr lang="en-US" sz="3800" dirty="0"/>
          </a:p>
        </p:txBody>
      </p:sp>
      <p:sp>
        <p:nvSpPr>
          <p:cNvPr id="12" name="Text 10"/>
          <p:cNvSpPr txBox="1"/>
          <p:nvPr/>
        </p:nvSpPr>
        <p:spPr>
          <a:xfrm>
            <a:off x="4572000" y="3154680"/>
            <a:ext cx="3017520" cy="548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de Pichincha y del cantón Quito</a:t>
            </a:r>
            <a:endParaRPr lang="en-US" sz="1300" dirty="0"/>
          </a:p>
        </p:txBody>
      </p:sp>
      <p:sp>
        <p:nvSpPr>
          <p:cNvPr id="13" name="Shape 11"/>
          <p:cNvSpPr/>
          <p:nvPr/>
        </p:nvSpPr>
        <p:spPr>
          <a:xfrm>
            <a:off x="8046720" y="1874520"/>
            <a:ext cx="3520440" cy="1920240"/>
          </a:xfrm>
          <a:prstGeom prst="roundRect">
            <a:avLst>
              <a:gd name="adj" fmla="val 4762"/>
            </a:avLst>
          </a:prstGeom>
          <a:solidFill>
            <a:srgbClr val="1E2330"/>
          </a:solidFill>
          <a:ln w="12700">
            <a:solidFill>
              <a:srgbClr val="1E2330"/>
            </a:solidFill>
            <a:prstDash val="solid"/>
          </a:ln>
        </p:spPr>
      </p:sp>
      <p:sp>
        <p:nvSpPr>
          <p:cNvPr id="14" name="Text 12"/>
          <p:cNvSpPr txBox="1"/>
          <p:nvPr/>
        </p:nvSpPr>
        <p:spPr>
          <a:xfrm>
            <a:off x="8321040" y="2103120"/>
            <a:ext cx="3017520" cy="274320"/>
          </a:xfrm>
          <a:prstGeom prst="rect">
            <a:avLst/>
          </a:prstGeom>
          <a:noFill/>
          <a:ln/>
        </p:spPr>
        <p:txBody>
          <a:bodyPr wrap="square" lIns="0" tIns="0" rIns="0" bIns="0" rtlCol="0" anchor="ctr"/>
          <a:lstStyle/>
          <a:p>
            <a:pPr marL="0" indent="0">
              <a:buNone/>
            </a:pPr>
            <a:r>
              <a:rPr lang="en-US" sz="1200" b="1" kern="0" spc="100" dirty="0">
                <a:solidFill>
                  <a:srgbClr val="A7B0C0"/>
                </a:solidFill>
                <a:latin typeface="Calibri" pitchFamily="34" charset="0"/>
                <a:ea typeface="Calibri" pitchFamily="34" charset="-122"/>
                <a:cs typeface="Calibri" pitchFamily="34" charset="-120"/>
              </a:rPr>
              <a:t>CONSISTENCIA</a:t>
            </a:r>
            <a:endParaRPr lang="en-US" sz="1200" dirty="0"/>
          </a:p>
        </p:txBody>
      </p:sp>
      <p:sp>
        <p:nvSpPr>
          <p:cNvPr id="15" name="Text 13"/>
          <p:cNvSpPr txBox="1"/>
          <p:nvPr/>
        </p:nvSpPr>
        <p:spPr>
          <a:xfrm>
            <a:off x="8321040" y="2423160"/>
            <a:ext cx="3017520" cy="685800"/>
          </a:xfrm>
          <a:prstGeom prst="rect">
            <a:avLst/>
          </a:prstGeom>
          <a:noFill/>
          <a:ln/>
        </p:spPr>
        <p:txBody>
          <a:bodyPr wrap="square" lIns="0" tIns="0" rIns="0" bIns="0" rtlCol="0" anchor="ctr"/>
          <a:lstStyle/>
          <a:p>
            <a:pPr marL="0" indent="0">
              <a:buNone/>
            </a:pPr>
            <a:r>
              <a:rPr lang="en-US" sz="3800" b="1" dirty="0">
                <a:solidFill>
                  <a:srgbClr val="3DDC97"/>
                </a:solidFill>
                <a:latin typeface="Arial" pitchFamily="34" charset="0"/>
                <a:ea typeface="Arial" pitchFamily="34" charset="-122"/>
                <a:cs typeface="Arial" pitchFamily="34" charset="-120"/>
              </a:rPr>
              <a:t>0</a:t>
            </a:r>
            <a:endParaRPr lang="en-US" sz="3800" dirty="0"/>
          </a:p>
        </p:txBody>
      </p:sp>
      <p:sp>
        <p:nvSpPr>
          <p:cNvPr id="16" name="Text 14"/>
          <p:cNvSpPr txBox="1"/>
          <p:nvPr/>
        </p:nvSpPr>
        <p:spPr>
          <a:xfrm>
            <a:off x="8321040" y="3154680"/>
            <a:ext cx="3017520" cy="548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errores: víctimas = fallecidos + lesionados</a:t>
            </a:r>
            <a:endParaRPr lang="en-US" sz="1300" dirty="0"/>
          </a:p>
        </p:txBody>
      </p:sp>
      <p:sp>
        <p:nvSpPr>
          <p:cNvPr id="17" name="Shape 15"/>
          <p:cNvSpPr/>
          <p:nvPr/>
        </p:nvSpPr>
        <p:spPr>
          <a:xfrm>
            <a:off x="548640" y="4023360"/>
            <a:ext cx="3520440" cy="1920240"/>
          </a:xfrm>
          <a:prstGeom prst="roundRect">
            <a:avLst>
              <a:gd name="adj" fmla="val 4762"/>
            </a:avLst>
          </a:prstGeom>
          <a:solidFill>
            <a:srgbClr val="1E2330"/>
          </a:solidFill>
          <a:ln w="12700">
            <a:solidFill>
              <a:srgbClr val="1E2330"/>
            </a:solidFill>
            <a:prstDash val="solid"/>
          </a:ln>
        </p:spPr>
      </p:sp>
      <p:sp>
        <p:nvSpPr>
          <p:cNvPr id="18" name="Text 16"/>
          <p:cNvSpPr txBox="1"/>
          <p:nvPr/>
        </p:nvSpPr>
        <p:spPr>
          <a:xfrm>
            <a:off x="822960" y="4251960"/>
            <a:ext cx="3017520" cy="274320"/>
          </a:xfrm>
          <a:prstGeom prst="rect">
            <a:avLst/>
          </a:prstGeom>
          <a:noFill/>
          <a:ln/>
        </p:spPr>
        <p:txBody>
          <a:bodyPr wrap="square" lIns="0" tIns="0" rIns="0" bIns="0" rtlCol="0" anchor="ctr"/>
          <a:lstStyle/>
          <a:p>
            <a:pPr marL="0" indent="0">
              <a:buNone/>
            </a:pPr>
            <a:r>
              <a:rPr lang="en-US" sz="1200" b="1" kern="0" spc="100" dirty="0">
                <a:solidFill>
                  <a:srgbClr val="A7B0C0"/>
                </a:solidFill>
                <a:latin typeface="Calibri" pitchFamily="34" charset="0"/>
                <a:ea typeface="Calibri" pitchFamily="34" charset="-122"/>
                <a:cs typeface="Calibri" pitchFamily="34" charset="-120"/>
              </a:rPr>
              <a:t>EXACTITUD</a:t>
            </a:r>
            <a:endParaRPr lang="en-US" sz="1200" dirty="0"/>
          </a:p>
        </p:txBody>
      </p:sp>
      <p:sp>
        <p:nvSpPr>
          <p:cNvPr id="19" name="Text 17"/>
          <p:cNvSpPr txBox="1"/>
          <p:nvPr/>
        </p:nvSpPr>
        <p:spPr>
          <a:xfrm>
            <a:off x="822960" y="4572000"/>
            <a:ext cx="3017520" cy="685800"/>
          </a:xfrm>
          <a:prstGeom prst="rect">
            <a:avLst/>
          </a:prstGeom>
          <a:noFill/>
          <a:ln/>
        </p:spPr>
        <p:txBody>
          <a:bodyPr wrap="square" lIns="0" tIns="0" rIns="0" bIns="0" rtlCol="0" anchor="ctr"/>
          <a:lstStyle/>
          <a:p>
            <a:pPr marL="0" indent="0">
              <a:buNone/>
            </a:pPr>
            <a:r>
              <a:rPr lang="en-US" sz="2800" b="1" dirty="0">
                <a:solidFill>
                  <a:srgbClr val="3DDC97"/>
                </a:solidFill>
                <a:latin typeface="Arial" pitchFamily="34" charset="0"/>
                <a:ea typeface="Arial" pitchFamily="34" charset="-122"/>
                <a:cs typeface="Arial" pitchFamily="34" charset="-120"/>
              </a:rPr>
              <a:t>ANT = INEC</a:t>
            </a:r>
            <a:endParaRPr lang="en-US" sz="2800" dirty="0"/>
          </a:p>
        </p:txBody>
      </p:sp>
      <p:sp>
        <p:nvSpPr>
          <p:cNvPr id="20" name="Text 18"/>
          <p:cNvSpPr txBox="1"/>
          <p:nvPr/>
        </p:nvSpPr>
        <p:spPr>
          <a:xfrm>
            <a:off x="822960" y="5303520"/>
            <a:ext cx="3017520" cy="548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2024: 3.889 siniestros y 323 fallecidos en las dos fuentes</a:t>
            </a:r>
            <a:endParaRPr lang="en-US" sz="1300" dirty="0"/>
          </a:p>
        </p:txBody>
      </p:sp>
      <p:sp>
        <p:nvSpPr>
          <p:cNvPr id="21" name="Shape 19"/>
          <p:cNvSpPr/>
          <p:nvPr/>
        </p:nvSpPr>
        <p:spPr>
          <a:xfrm>
            <a:off x="4297680" y="4023360"/>
            <a:ext cx="3520440" cy="1920240"/>
          </a:xfrm>
          <a:prstGeom prst="roundRect">
            <a:avLst>
              <a:gd name="adj" fmla="val 4762"/>
            </a:avLst>
          </a:prstGeom>
          <a:solidFill>
            <a:srgbClr val="1E2330"/>
          </a:solidFill>
          <a:ln w="12700">
            <a:solidFill>
              <a:srgbClr val="1E2330"/>
            </a:solidFill>
            <a:prstDash val="solid"/>
          </a:ln>
        </p:spPr>
      </p:sp>
      <p:sp>
        <p:nvSpPr>
          <p:cNvPr id="22" name="Text 20"/>
          <p:cNvSpPr txBox="1"/>
          <p:nvPr/>
        </p:nvSpPr>
        <p:spPr>
          <a:xfrm>
            <a:off x="4572000" y="4251960"/>
            <a:ext cx="3017520" cy="274320"/>
          </a:xfrm>
          <a:prstGeom prst="rect">
            <a:avLst/>
          </a:prstGeom>
          <a:noFill/>
          <a:ln/>
        </p:spPr>
        <p:txBody>
          <a:bodyPr wrap="square" lIns="0" tIns="0" rIns="0" bIns="0" rtlCol="0" anchor="ctr"/>
          <a:lstStyle/>
          <a:p>
            <a:pPr marL="0" indent="0">
              <a:buNone/>
            </a:pPr>
            <a:r>
              <a:rPr lang="en-US" sz="1200" b="1" kern="0" spc="100" dirty="0">
                <a:solidFill>
                  <a:srgbClr val="A7B0C0"/>
                </a:solidFill>
                <a:latin typeface="Calibri" pitchFamily="34" charset="0"/>
                <a:ea typeface="Calibri" pitchFamily="34" charset="-122"/>
                <a:cs typeface="Calibri" pitchFamily="34" charset="-120"/>
              </a:rPr>
              <a:t>VALIDEZ</a:t>
            </a:r>
            <a:endParaRPr lang="en-US" sz="1200" dirty="0"/>
          </a:p>
        </p:txBody>
      </p:sp>
      <p:sp>
        <p:nvSpPr>
          <p:cNvPr id="23" name="Text 21"/>
          <p:cNvSpPr txBox="1"/>
          <p:nvPr/>
        </p:nvSpPr>
        <p:spPr>
          <a:xfrm>
            <a:off x="4572000" y="4572000"/>
            <a:ext cx="3017520" cy="685800"/>
          </a:xfrm>
          <a:prstGeom prst="rect">
            <a:avLst/>
          </a:prstGeom>
          <a:noFill/>
          <a:ln/>
        </p:spPr>
        <p:txBody>
          <a:bodyPr wrap="square" lIns="0" tIns="0" rIns="0" bIns="0" rtlCol="0" anchor="ctr"/>
          <a:lstStyle/>
          <a:p>
            <a:pPr marL="0" indent="0">
              <a:buNone/>
            </a:pPr>
            <a:r>
              <a:rPr lang="en-US" sz="3800" b="1" dirty="0">
                <a:solidFill>
                  <a:srgbClr val="3DDC97"/>
                </a:solidFill>
                <a:latin typeface="Arial" pitchFamily="34" charset="0"/>
                <a:ea typeface="Arial" pitchFamily="34" charset="-122"/>
                <a:cs typeface="Arial" pitchFamily="34" charset="-120"/>
              </a:rPr>
              <a:t>100 %</a:t>
            </a:r>
            <a:endParaRPr lang="en-US" sz="3800" dirty="0"/>
          </a:p>
        </p:txBody>
      </p:sp>
      <p:sp>
        <p:nvSpPr>
          <p:cNvPr id="24" name="Text 22"/>
          <p:cNvSpPr txBox="1"/>
          <p:nvPr/>
        </p:nvSpPr>
        <p:spPr>
          <a:xfrm>
            <a:off x="4572000" y="5303520"/>
            <a:ext cx="3017520" cy="548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de las coordenadas dentro del límite oficial del DMQ</a:t>
            </a:r>
            <a:endParaRPr lang="en-US" sz="1300" dirty="0"/>
          </a:p>
        </p:txBody>
      </p:sp>
      <p:sp>
        <p:nvSpPr>
          <p:cNvPr id="25" name="Shape 23"/>
          <p:cNvSpPr/>
          <p:nvPr/>
        </p:nvSpPr>
        <p:spPr>
          <a:xfrm>
            <a:off x="8046720" y="4023360"/>
            <a:ext cx="3520440" cy="1920240"/>
          </a:xfrm>
          <a:prstGeom prst="roundRect">
            <a:avLst>
              <a:gd name="adj" fmla="val 4762"/>
            </a:avLst>
          </a:prstGeom>
          <a:solidFill>
            <a:srgbClr val="1E2330"/>
          </a:solidFill>
          <a:ln w="12700">
            <a:solidFill>
              <a:srgbClr val="1E2330"/>
            </a:solidFill>
            <a:prstDash val="solid"/>
          </a:ln>
        </p:spPr>
      </p:sp>
      <p:sp>
        <p:nvSpPr>
          <p:cNvPr id="26" name="Text 24"/>
          <p:cNvSpPr txBox="1"/>
          <p:nvPr/>
        </p:nvSpPr>
        <p:spPr>
          <a:xfrm>
            <a:off x="8321040" y="4251960"/>
            <a:ext cx="3017520" cy="274320"/>
          </a:xfrm>
          <a:prstGeom prst="rect">
            <a:avLst/>
          </a:prstGeom>
          <a:noFill/>
          <a:ln/>
        </p:spPr>
        <p:txBody>
          <a:bodyPr wrap="square" lIns="0" tIns="0" rIns="0" bIns="0" rtlCol="0" anchor="ctr"/>
          <a:lstStyle/>
          <a:p>
            <a:pPr marL="0" indent="0">
              <a:buNone/>
            </a:pPr>
            <a:r>
              <a:rPr lang="en-US" sz="1200" b="1" kern="0" spc="100" dirty="0">
                <a:solidFill>
                  <a:srgbClr val="A7B0C0"/>
                </a:solidFill>
                <a:latin typeface="Calibri" pitchFamily="34" charset="0"/>
                <a:ea typeface="Calibri" pitchFamily="34" charset="-122"/>
                <a:cs typeface="Calibri" pitchFamily="34" charset="-120"/>
              </a:rPr>
              <a:t>COMPLETITUD</a:t>
            </a:r>
            <a:endParaRPr lang="en-US" sz="1200" dirty="0"/>
          </a:p>
        </p:txBody>
      </p:sp>
      <p:sp>
        <p:nvSpPr>
          <p:cNvPr id="27" name="Text 25"/>
          <p:cNvSpPr txBox="1"/>
          <p:nvPr/>
        </p:nvSpPr>
        <p:spPr>
          <a:xfrm>
            <a:off x="8321040" y="4572000"/>
            <a:ext cx="3017520" cy="685800"/>
          </a:xfrm>
          <a:prstGeom prst="rect">
            <a:avLst/>
          </a:prstGeom>
          <a:noFill/>
          <a:ln/>
        </p:spPr>
        <p:txBody>
          <a:bodyPr wrap="square" lIns="0" tIns="0" rIns="0" bIns="0" rtlCol="0" anchor="ctr"/>
          <a:lstStyle/>
          <a:p>
            <a:pPr marL="0" indent="0">
              <a:buNone/>
            </a:pPr>
            <a:r>
              <a:rPr lang="en-US" sz="3800" b="1" dirty="0">
                <a:solidFill>
                  <a:srgbClr val="F5B700"/>
                </a:solidFill>
                <a:latin typeface="Arial" pitchFamily="34" charset="0"/>
                <a:ea typeface="Arial" pitchFamily="34" charset="-122"/>
                <a:cs typeface="Arial" pitchFamily="34" charset="-120"/>
              </a:rPr>
              <a:t>22,8 %</a:t>
            </a:r>
            <a:endParaRPr lang="en-US" sz="3800" dirty="0"/>
          </a:p>
        </p:txBody>
      </p:sp>
      <p:sp>
        <p:nvSpPr>
          <p:cNvPr id="28" name="Text 26"/>
          <p:cNvSpPr txBox="1"/>
          <p:nvPr/>
        </p:nvSpPr>
        <p:spPr>
          <a:xfrm>
            <a:off x="8321040" y="5303520"/>
            <a:ext cx="3017520" cy="548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con coordenadas (10.272). Solo existen desde 2024</a:t>
            </a:r>
            <a:endParaRPr lang="en-US" sz="1300" dirty="0"/>
          </a:p>
        </p:txBody>
      </p:sp>
      <p:sp>
        <p:nvSpPr>
          <p:cNvPr id="29" name="Text 27"/>
          <p:cNvSpPr txBox="1"/>
          <p:nvPr/>
        </p:nvSpPr>
        <p:spPr>
          <a:xfrm>
            <a:off x="548640" y="6217920"/>
            <a:ext cx="11064240" cy="411480"/>
          </a:xfrm>
          <a:prstGeom prst="rect">
            <a:avLst/>
          </a:prstGeom>
          <a:noFill/>
          <a:ln/>
        </p:spPr>
        <p:txBody>
          <a:bodyPr wrap="square" lIns="0" tIns="0" rIns="0" bIns="0" rtlCol="0" anchor="ctr"/>
          <a:lstStyle/>
          <a:p>
            <a:pPr marL="0" indent="0">
              <a:buNone/>
            </a:pPr>
            <a:r>
              <a:rPr lang="en-US" sz="1300" i="1" dirty="0">
                <a:solidFill>
                  <a:srgbClr val="A7B0C0"/>
                </a:solidFill>
                <a:latin typeface="Calibri" pitchFamily="34" charset="0"/>
                <a:ea typeface="Calibri" pitchFamily="34" charset="-122"/>
                <a:cs typeface="Calibri" pitchFamily="34" charset="-120"/>
              </a:rPr>
              <a:t>El único punto débil es la completitud: de 2017 a 2023 la fuente no publica ubicación. Por eso el mapa y el modelo espacial usan solo 2024–2026.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02 · CALIDAD DE DATOS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Los errores que encontramos en las fuentes oficiales… y qué hicimos</a:t>
            </a:r>
            <a:endParaRPr lang="en-US" sz="2600" dirty="0"/>
          </a:p>
        </p:txBody>
      </p:sp>
      <p:sp>
        <p:nvSpPr>
          <p:cNvPr id="4" name="Shape 2"/>
          <p:cNvSpPr/>
          <p:nvPr/>
        </p:nvSpPr>
        <p:spPr>
          <a:xfrm>
            <a:off x="548640" y="1463040"/>
            <a:ext cx="5440680" cy="2011680"/>
          </a:xfrm>
          <a:prstGeom prst="roundRect">
            <a:avLst>
              <a:gd name="adj" fmla="val 4545"/>
            </a:avLst>
          </a:prstGeom>
          <a:solidFill>
            <a:srgbClr val="1E2330"/>
          </a:solidFill>
          <a:ln w="12700">
            <a:solidFill>
              <a:srgbClr val="1E2330"/>
            </a:solidFill>
            <a:prstDash val="solid"/>
          </a:ln>
        </p:spPr>
      </p:sp>
      <p:sp>
        <p:nvSpPr>
          <p:cNvPr id="5" name="Shape 3"/>
          <p:cNvSpPr/>
          <p:nvPr/>
        </p:nvSpPr>
        <p:spPr>
          <a:xfrm>
            <a:off x="822960" y="1737360"/>
            <a:ext cx="685800" cy="685800"/>
          </a:xfrm>
          <a:prstGeom prst="ellipse">
            <a:avLst/>
          </a:prstGeom>
          <a:solidFill>
            <a:srgbClr val="F5B700"/>
          </a:solidFill>
          <a:ln w="12700">
            <a:solidFill>
              <a:srgbClr val="F5B700"/>
            </a:solidFill>
            <a:prstDash val="solid"/>
          </a:ln>
        </p:spPr>
      </p:sp>
      <p:pic>
        <p:nvPicPr>
          <p:cNvPr id="6" name="Image 0" descr="preencoded.png"/>
          <p:cNvPicPr>
            <a:picLocks noChangeAspect="1"/>
          </p:cNvPicPr>
          <p:nvPr/>
        </p:nvPicPr>
        <p:blipFill>
          <a:blip r:embed="rId3"/>
          <a:stretch>
            <a:fillRect/>
          </a:stretch>
        </p:blipFill>
        <p:spPr>
          <a:xfrm>
            <a:off x="1001268" y="1915668"/>
            <a:ext cx="329184" cy="329184"/>
          </a:xfrm>
          <a:prstGeom prst="rect">
            <a:avLst/>
          </a:prstGeom>
        </p:spPr>
      </p:pic>
      <p:sp>
        <p:nvSpPr>
          <p:cNvPr id="7" name="Text 4"/>
          <p:cNvSpPr txBox="1"/>
          <p:nvPr/>
        </p:nvSpPr>
        <p:spPr>
          <a:xfrm>
            <a:off x="1737360" y="1645920"/>
            <a:ext cx="1600200" cy="548640"/>
          </a:xfrm>
          <a:prstGeom prst="rect">
            <a:avLst/>
          </a:prstGeom>
          <a:noFill/>
          <a:ln/>
        </p:spPr>
        <p:txBody>
          <a:bodyPr wrap="square" lIns="0" tIns="0" rIns="0" bIns="0" rtlCol="0" anchor="ctr"/>
          <a:lstStyle/>
          <a:p>
            <a:pPr marL="0" indent="0">
              <a:buNone/>
            </a:pPr>
            <a:r>
              <a:rPr lang="en-US" sz="3000" b="1" dirty="0">
                <a:solidFill>
                  <a:srgbClr val="F5B700"/>
                </a:solidFill>
                <a:latin typeface="Arial" pitchFamily="34" charset="0"/>
                <a:ea typeface="Arial" pitchFamily="34" charset="-122"/>
                <a:cs typeface="Arial" pitchFamily="34" charset="-120"/>
              </a:rPr>
              <a:t>312</a:t>
            </a:r>
            <a:endParaRPr lang="en-US" sz="3000" dirty="0"/>
          </a:p>
        </p:txBody>
      </p:sp>
      <p:sp>
        <p:nvSpPr>
          <p:cNvPr id="8" name="Text 5"/>
          <p:cNvSpPr txBox="1"/>
          <p:nvPr/>
        </p:nvSpPr>
        <p:spPr>
          <a:xfrm>
            <a:off x="3337560" y="1664208"/>
            <a:ext cx="251460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siniestros de Quito ubicados en Guayaquil</a:t>
            </a:r>
            <a:endParaRPr lang="en-US" sz="1400" dirty="0"/>
          </a:p>
        </p:txBody>
      </p:sp>
      <p:sp>
        <p:nvSpPr>
          <p:cNvPr id="9" name="Text 6"/>
          <p:cNvSpPr txBox="1"/>
          <p:nvPr/>
        </p:nvSpPr>
        <p:spPr>
          <a:xfrm>
            <a:off x="1737360" y="2304288"/>
            <a:ext cx="4069080" cy="59436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Diciembre 2024: la dirección decía Ruta Viva o Simón Bolívar, pero la coordenada caía en Guayaquil.</a:t>
            </a:r>
            <a:endParaRPr lang="en-US" sz="1200" dirty="0"/>
          </a:p>
        </p:txBody>
      </p:sp>
      <p:sp>
        <p:nvSpPr>
          <p:cNvPr id="10" name="Text 7"/>
          <p:cNvSpPr txBox="1"/>
          <p:nvPr/>
        </p:nvSpPr>
        <p:spPr>
          <a:xfrm>
            <a:off x="1737360" y="2971800"/>
            <a:ext cx="4069080" cy="320040"/>
          </a:xfrm>
          <a:prstGeom prst="rect">
            <a:avLst/>
          </a:prstGeom>
          <a:noFill/>
          <a:ln/>
        </p:spPr>
        <p:txBody>
          <a:bodyPr wrap="square" lIns="0" tIns="0" rIns="0" bIns="0" rtlCol="0" anchor="ctr"/>
          <a:lstStyle/>
          <a:p>
            <a:pPr marL="0" indent="0">
              <a:buNone/>
            </a:pPr>
            <a:r>
              <a:rPr lang="en-US" sz="1300" b="1" dirty="0">
                <a:solidFill>
                  <a:srgbClr val="3DDC97"/>
                </a:solidFill>
                <a:latin typeface="Calibri" pitchFamily="34" charset="0"/>
                <a:ea typeface="Calibri" pitchFamily="34" charset="-122"/>
                <a:cs typeface="Calibri" pitchFamily="34" charset="-120"/>
              </a:rPr>
              <a:t>→ Se conservaron sin coordenada (N/D)</a:t>
            </a:r>
            <a:endParaRPr lang="en-US" sz="1300" dirty="0"/>
          </a:p>
        </p:txBody>
      </p:sp>
      <p:sp>
        <p:nvSpPr>
          <p:cNvPr id="11" name="Shape 8"/>
          <p:cNvSpPr/>
          <p:nvPr/>
        </p:nvSpPr>
        <p:spPr>
          <a:xfrm>
            <a:off x="6172200" y="1463040"/>
            <a:ext cx="5440680" cy="2011680"/>
          </a:xfrm>
          <a:prstGeom prst="roundRect">
            <a:avLst>
              <a:gd name="adj" fmla="val 4545"/>
            </a:avLst>
          </a:prstGeom>
          <a:solidFill>
            <a:srgbClr val="1E2330"/>
          </a:solidFill>
          <a:ln w="12700">
            <a:solidFill>
              <a:srgbClr val="1E2330"/>
            </a:solidFill>
            <a:prstDash val="solid"/>
          </a:ln>
        </p:spPr>
      </p:sp>
      <p:sp>
        <p:nvSpPr>
          <p:cNvPr id="12" name="Shape 9"/>
          <p:cNvSpPr/>
          <p:nvPr/>
        </p:nvSpPr>
        <p:spPr>
          <a:xfrm>
            <a:off x="6446520" y="1737360"/>
            <a:ext cx="685800" cy="685800"/>
          </a:xfrm>
          <a:prstGeom prst="ellipse">
            <a:avLst/>
          </a:prstGeom>
          <a:solidFill>
            <a:srgbClr val="FF4D4D"/>
          </a:solidFill>
          <a:ln w="12700">
            <a:solidFill>
              <a:srgbClr val="FF4D4D"/>
            </a:solidFill>
            <a:prstDash val="solid"/>
          </a:ln>
        </p:spPr>
      </p:sp>
      <p:pic>
        <p:nvPicPr>
          <p:cNvPr id="13" name="Image 1" descr="preencoded.png"/>
          <p:cNvPicPr>
            <a:picLocks noChangeAspect="1"/>
          </p:cNvPicPr>
          <p:nvPr/>
        </p:nvPicPr>
        <p:blipFill>
          <a:blip r:embed="rId4"/>
          <a:stretch>
            <a:fillRect/>
          </a:stretch>
        </p:blipFill>
        <p:spPr>
          <a:xfrm>
            <a:off x="6624828" y="1915668"/>
            <a:ext cx="329184" cy="329184"/>
          </a:xfrm>
          <a:prstGeom prst="rect">
            <a:avLst/>
          </a:prstGeom>
        </p:spPr>
      </p:pic>
      <p:sp>
        <p:nvSpPr>
          <p:cNvPr id="14" name="Text 10"/>
          <p:cNvSpPr txBox="1"/>
          <p:nvPr/>
        </p:nvSpPr>
        <p:spPr>
          <a:xfrm>
            <a:off x="7360920" y="1645920"/>
            <a:ext cx="1600200" cy="548640"/>
          </a:xfrm>
          <a:prstGeom prst="rect">
            <a:avLst/>
          </a:prstGeom>
          <a:noFill/>
          <a:ln/>
        </p:spPr>
        <p:txBody>
          <a:bodyPr wrap="square" lIns="0" tIns="0" rIns="0" bIns="0" rtlCol="0" anchor="ctr"/>
          <a:lstStyle/>
          <a:p>
            <a:pPr marL="0" indent="0">
              <a:buNone/>
            </a:pPr>
            <a:r>
              <a:rPr lang="en-US" sz="3000" b="1" dirty="0">
                <a:solidFill>
                  <a:srgbClr val="FF4D4D"/>
                </a:solidFill>
                <a:latin typeface="Arial" pitchFamily="34" charset="0"/>
                <a:ea typeface="Arial" pitchFamily="34" charset="-122"/>
                <a:cs typeface="Arial" pitchFamily="34" charset="-120"/>
              </a:rPr>
              <a:t>3</a:t>
            </a:r>
            <a:endParaRPr lang="en-US" sz="3000" dirty="0"/>
          </a:p>
        </p:txBody>
      </p:sp>
      <p:sp>
        <p:nvSpPr>
          <p:cNvPr id="15" name="Text 11"/>
          <p:cNvSpPr txBox="1"/>
          <p:nvPr/>
        </p:nvSpPr>
        <p:spPr>
          <a:xfrm>
            <a:off x="8961120" y="1664208"/>
            <a:ext cx="251460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siniestros que no eran de Quito</a:t>
            </a:r>
            <a:endParaRPr lang="en-US" sz="1400" dirty="0"/>
          </a:p>
        </p:txBody>
      </p:sp>
      <p:sp>
        <p:nvSpPr>
          <p:cNvPr id="16" name="Text 12"/>
          <p:cNvSpPr txBox="1"/>
          <p:nvPr/>
        </p:nvSpPr>
        <p:spPr>
          <a:xfrm>
            <a:off x="7360920" y="2304288"/>
            <a:ext cx="4069080" cy="59436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Etiquetados como Pifo y Checa, pero ocurrieron en Atuntaqui y Caluquí (Imbabura).</a:t>
            </a:r>
            <a:endParaRPr lang="en-US" sz="1200" dirty="0"/>
          </a:p>
        </p:txBody>
      </p:sp>
      <p:sp>
        <p:nvSpPr>
          <p:cNvPr id="17" name="Text 13"/>
          <p:cNvSpPr txBox="1"/>
          <p:nvPr/>
        </p:nvSpPr>
        <p:spPr>
          <a:xfrm>
            <a:off x="7360920" y="2971800"/>
            <a:ext cx="4069080" cy="320040"/>
          </a:xfrm>
          <a:prstGeom prst="rect">
            <a:avLst/>
          </a:prstGeom>
          <a:noFill/>
          <a:ln/>
        </p:spPr>
        <p:txBody>
          <a:bodyPr wrap="square" lIns="0" tIns="0" rIns="0" bIns="0" rtlCol="0" anchor="ctr"/>
          <a:lstStyle/>
          <a:p>
            <a:pPr marL="0" indent="0">
              <a:buNone/>
            </a:pPr>
            <a:r>
              <a:rPr lang="en-US" sz="1300" b="1" dirty="0">
                <a:solidFill>
                  <a:srgbClr val="3DDC97"/>
                </a:solidFill>
                <a:latin typeface="Calibri" pitchFamily="34" charset="0"/>
                <a:ea typeface="Calibri" pitchFamily="34" charset="-122"/>
                <a:cs typeface="Calibri" pitchFamily="34" charset="-120"/>
              </a:rPr>
              <a:t>→ Se eliminaron</a:t>
            </a:r>
            <a:endParaRPr lang="en-US" sz="1300" dirty="0"/>
          </a:p>
        </p:txBody>
      </p:sp>
      <p:sp>
        <p:nvSpPr>
          <p:cNvPr id="18" name="Shape 14"/>
          <p:cNvSpPr/>
          <p:nvPr/>
        </p:nvSpPr>
        <p:spPr>
          <a:xfrm>
            <a:off x="548640" y="3657600"/>
            <a:ext cx="5440680" cy="2011680"/>
          </a:xfrm>
          <a:prstGeom prst="roundRect">
            <a:avLst>
              <a:gd name="adj" fmla="val 4545"/>
            </a:avLst>
          </a:prstGeom>
          <a:solidFill>
            <a:srgbClr val="1E2330"/>
          </a:solidFill>
          <a:ln w="12700">
            <a:solidFill>
              <a:srgbClr val="1E2330"/>
            </a:solidFill>
            <a:prstDash val="solid"/>
          </a:ln>
        </p:spPr>
      </p:sp>
      <p:sp>
        <p:nvSpPr>
          <p:cNvPr id="19" name="Shape 15"/>
          <p:cNvSpPr/>
          <p:nvPr/>
        </p:nvSpPr>
        <p:spPr>
          <a:xfrm>
            <a:off x="822960" y="3931920"/>
            <a:ext cx="685800" cy="685800"/>
          </a:xfrm>
          <a:prstGeom prst="ellipse">
            <a:avLst/>
          </a:prstGeom>
          <a:solidFill>
            <a:srgbClr val="F5B700"/>
          </a:solidFill>
          <a:ln w="12700">
            <a:solidFill>
              <a:srgbClr val="F5B700"/>
            </a:solidFill>
            <a:prstDash val="solid"/>
          </a:ln>
        </p:spPr>
      </p:sp>
      <p:pic>
        <p:nvPicPr>
          <p:cNvPr id="20" name="Image 2" descr="preencoded.png"/>
          <p:cNvPicPr>
            <a:picLocks noChangeAspect="1"/>
          </p:cNvPicPr>
          <p:nvPr/>
        </p:nvPicPr>
        <p:blipFill>
          <a:blip r:embed="rId5"/>
          <a:stretch>
            <a:fillRect/>
          </a:stretch>
        </p:blipFill>
        <p:spPr>
          <a:xfrm>
            <a:off x="1001268" y="4110228"/>
            <a:ext cx="329184" cy="329184"/>
          </a:xfrm>
          <a:prstGeom prst="rect">
            <a:avLst/>
          </a:prstGeom>
        </p:spPr>
      </p:pic>
      <p:sp>
        <p:nvSpPr>
          <p:cNvPr id="21" name="Text 16"/>
          <p:cNvSpPr txBox="1"/>
          <p:nvPr/>
        </p:nvSpPr>
        <p:spPr>
          <a:xfrm>
            <a:off x="1737360" y="3840480"/>
            <a:ext cx="1600200" cy="548640"/>
          </a:xfrm>
          <a:prstGeom prst="rect">
            <a:avLst/>
          </a:prstGeom>
          <a:noFill/>
          <a:ln/>
        </p:spPr>
        <p:txBody>
          <a:bodyPr wrap="square" lIns="0" tIns="0" rIns="0" bIns="0" rtlCol="0" anchor="ctr"/>
          <a:lstStyle/>
          <a:p>
            <a:pPr marL="0" indent="0">
              <a:buNone/>
            </a:pPr>
            <a:r>
              <a:rPr lang="en-US" sz="3000" b="1" dirty="0">
                <a:solidFill>
                  <a:srgbClr val="F5B700"/>
                </a:solidFill>
                <a:latin typeface="Arial" pitchFamily="34" charset="0"/>
                <a:ea typeface="Arial" pitchFamily="34" charset="-122"/>
                <a:cs typeface="Arial" pitchFamily="34" charset="-120"/>
              </a:rPr>
              <a:t>8.074</a:t>
            </a:r>
            <a:endParaRPr lang="en-US" sz="3000" dirty="0"/>
          </a:p>
        </p:txBody>
      </p:sp>
      <p:sp>
        <p:nvSpPr>
          <p:cNvPr id="22" name="Text 17"/>
          <p:cNvSpPr txBox="1"/>
          <p:nvPr/>
        </p:nvSpPr>
        <p:spPr>
          <a:xfrm>
            <a:off x="3337560" y="3858768"/>
            <a:ext cx="251460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siniestros decían solo “QUITO”</a:t>
            </a:r>
            <a:endParaRPr lang="en-US" sz="1400" dirty="0"/>
          </a:p>
        </p:txBody>
      </p:sp>
      <p:sp>
        <p:nvSpPr>
          <p:cNvPr id="23" name="Text 18"/>
          <p:cNvSpPr txBox="1"/>
          <p:nvPr/>
        </p:nvSpPr>
        <p:spPr>
          <a:xfrm>
            <a:off x="1737360" y="4498848"/>
            <a:ext cx="4069080" cy="59436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La ANT no indica en qué parroquia urbana ocurrió el siniestro.</a:t>
            </a:r>
            <a:endParaRPr lang="en-US" sz="1200" dirty="0"/>
          </a:p>
        </p:txBody>
      </p:sp>
      <p:sp>
        <p:nvSpPr>
          <p:cNvPr id="24" name="Text 19"/>
          <p:cNvSpPr txBox="1"/>
          <p:nvPr/>
        </p:nvSpPr>
        <p:spPr>
          <a:xfrm>
            <a:off x="1737360" y="5166360"/>
            <a:ext cx="4069080" cy="320040"/>
          </a:xfrm>
          <a:prstGeom prst="rect">
            <a:avLst/>
          </a:prstGeom>
          <a:noFill/>
          <a:ln/>
        </p:spPr>
        <p:txBody>
          <a:bodyPr wrap="square" lIns="0" tIns="0" rIns="0" bIns="0" rtlCol="0" anchor="ctr"/>
          <a:lstStyle/>
          <a:p>
            <a:pPr marL="0" indent="0">
              <a:buNone/>
            </a:pPr>
            <a:r>
              <a:rPr lang="en-US" sz="1300" b="1" dirty="0">
                <a:solidFill>
                  <a:srgbClr val="3DDC97"/>
                </a:solidFill>
                <a:latin typeface="Calibri" pitchFamily="34" charset="0"/>
                <a:ea typeface="Calibri" pitchFamily="34" charset="-122"/>
                <a:cs typeface="Calibri" pitchFamily="34" charset="-120"/>
              </a:rPr>
              <a:t>→ Parroquia asignada con las coordenadas</a:t>
            </a:r>
            <a:endParaRPr lang="en-US" sz="1300" dirty="0"/>
          </a:p>
        </p:txBody>
      </p:sp>
      <p:sp>
        <p:nvSpPr>
          <p:cNvPr id="25" name="Shape 20"/>
          <p:cNvSpPr/>
          <p:nvPr/>
        </p:nvSpPr>
        <p:spPr>
          <a:xfrm>
            <a:off x="6172200" y="3657600"/>
            <a:ext cx="5440680" cy="2011680"/>
          </a:xfrm>
          <a:prstGeom prst="roundRect">
            <a:avLst>
              <a:gd name="adj" fmla="val 4545"/>
            </a:avLst>
          </a:prstGeom>
          <a:solidFill>
            <a:srgbClr val="1E2330"/>
          </a:solidFill>
          <a:ln w="12700">
            <a:solidFill>
              <a:srgbClr val="1E2330"/>
            </a:solidFill>
            <a:prstDash val="solid"/>
          </a:ln>
        </p:spPr>
      </p:sp>
      <p:sp>
        <p:nvSpPr>
          <p:cNvPr id="26" name="Shape 21"/>
          <p:cNvSpPr/>
          <p:nvPr/>
        </p:nvSpPr>
        <p:spPr>
          <a:xfrm>
            <a:off x="6446520" y="3931920"/>
            <a:ext cx="685800" cy="685800"/>
          </a:xfrm>
          <a:prstGeom prst="ellipse">
            <a:avLst/>
          </a:prstGeom>
          <a:solidFill>
            <a:srgbClr val="F5B700"/>
          </a:solidFill>
          <a:ln w="12700">
            <a:solidFill>
              <a:srgbClr val="F5B700"/>
            </a:solidFill>
            <a:prstDash val="solid"/>
          </a:ln>
        </p:spPr>
      </p:sp>
      <p:pic>
        <p:nvPicPr>
          <p:cNvPr id="27" name="Image 3" descr="preencoded.png"/>
          <p:cNvPicPr>
            <a:picLocks noChangeAspect="1"/>
          </p:cNvPicPr>
          <p:nvPr/>
        </p:nvPicPr>
        <p:blipFill>
          <a:blip r:embed="rId6"/>
          <a:stretch>
            <a:fillRect/>
          </a:stretch>
        </p:blipFill>
        <p:spPr>
          <a:xfrm>
            <a:off x="6624828" y="4110228"/>
            <a:ext cx="329184" cy="329184"/>
          </a:xfrm>
          <a:prstGeom prst="rect">
            <a:avLst/>
          </a:prstGeom>
        </p:spPr>
      </p:pic>
      <p:sp>
        <p:nvSpPr>
          <p:cNvPr id="28" name="Text 22"/>
          <p:cNvSpPr txBox="1"/>
          <p:nvPr/>
        </p:nvSpPr>
        <p:spPr>
          <a:xfrm>
            <a:off x="7360920" y="3840480"/>
            <a:ext cx="1600200" cy="548640"/>
          </a:xfrm>
          <a:prstGeom prst="rect">
            <a:avLst/>
          </a:prstGeom>
          <a:noFill/>
          <a:ln/>
        </p:spPr>
        <p:txBody>
          <a:bodyPr wrap="square" lIns="0" tIns="0" rIns="0" bIns="0" rtlCol="0" anchor="ctr"/>
          <a:lstStyle/>
          <a:p>
            <a:pPr marL="0" indent="0">
              <a:buNone/>
            </a:pPr>
            <a:r>
              <a:rPr lang="en-US" sz="3000" b="1" dirty="0">
                <a:solidFill>
                  <a:srgbClr val="F5B700"/>
                </a:solidFill>
                <a:latin typeface="Arial" pitchFamily="34" charset="0"/>
                <a:ea typeface="Arial" pitchFamily="34" charset="-122"/>
                <a:cs typeface="Arial" pitchFamily="34" charset="-120"/>
              </a:rPr>
              <a:t>2.495</a:t>
            </a:r>
            <a:endParaRPr lang="en-US" sz="3000" dirty="0"/>
          </a:p>
        </p:txBody>
      </p:sp>
      <p:sp>
        <p:nvSpPr>
          <p:cNvPr id="29" name="Text 23"/>
          <p:cNvSpPr txBox="1"/>
          <p:nvPr/>
        </p:nvSpPr>
        <p:spPr>
          <a:xfrm>
            <a:off x="8961120" y="3858768"/>
            <a:ext cx="251460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registros con la causa mal escrita</a:t>
            </a:r>
            <a:endParaRPr lang="en-US" sz="1400" dirty="0"/>
          </a:p>
        </p:txBody>
      </p:sp>
      <p:sp>
        <p:nvSpPr>
          <p:cNvPr id="30" name="Text 24"/>
          <p:cNvSpPr txBox="1"/>
          <p:nvPr/>
        </p:nvSpPr>
        <p:spPr>
          <a:xfrm>
            <a:off x="7360920" y="4498848"/>
            <a:ext cx="4069080" cy="59436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“IMPRUDENCIA  DEL PEATÓN” con doble espacio, y una categoría en singular y en plural.</a:t>
            </a:r>
            <a:endParaRPr lang="en-US" sz="1200" dirty="0"/>
          </a:p>
        </p:txBody>
      </p:sp>
      <p:sp>
        <p:nvSpPr>
          <p:cNvPr id="31" name="Text 25"/>
          <p:cNvSpPr txBox="1"/>
          <p:nvPr/>
        </p:nvSpPr>
        <p:spPr>
          <a:xfrm>
            <a:off x="7360920" y="5166360"/>
            <a:ext cx="4069080" cy="320040"/>
          </a:xfrm>
          <a:prstGeom prst="rect">
            <a:avLst/>
          </a:prstGeom>
          <a:noFill/>
          <a:ln/>
        </p:spPr>
        <p:txBody>
          <a:bodyPr wrap="square" lIns="0" tIns="0" rIns="0" bIns="0" rtlCol="0" anchor="ctr"/>
          <a:lstStyle/>
          <a:p>
            <a:pPr marL="0" indent="0">
              <a:buNone/>
            </a:pPr>
            <a:r>
              <a:rPr lang="en-US" sz="1300" b="1" dirty="0">
                <a:solidFill>
                  <a:srgbClr val="3DDC97"/>
                </a:solidFill>
                <a:latin typeface="Calibri" pitchFamily="34" charset="0"/>
                <a:ea typeface="Calibri" pitchFamily="34" charset="-122"/>
                <a:cs typeface="Calibri" pitchFamily="34" charset="-120"/>
              </a:rPr>
              <a:t>→ Se estandarizaron los textos</a:t>
            </a:r>
            <a:endParaRPr lang="en-US" sz="1300" dirty="0"/>
          </a:p>
        </p:txBody>
      </p:sp>
      <p:sp>
        <p:nvSpPr>
          <p:cNvPr id="32" name="Shape 26"/>
          <p:cNvSpPr/>
          <p:nvPr/>
        </p:nvSpPr>
        <p:spPr>
          <a:xfrm>
            <a:off x="548640" y="5897880"/>
            <a:ext cx="11091672" cy="685800"/>
          </a:xfrm>
          <a:prstGeom prst="roundRect">
            <a:avLst>
              <a:gd name="adj" fmla="val 13333"/>
            </a:avLst>
          </a:prstGeom>
          <a:solidFill>
            <a:srgbClr val="262C3B"/>
          </a:solidFill>
          <a:ln w="12700">
            <a:solidFill>
              <a:srgbClr val="262C3B"/>
            </a:solidFill>
            <a:prstDash val="solid"/>
          </a:ln>
        </p:spPr>
      </p:sp>
      <p:sp>
        <p:nvSpPr>
          <p:cNvPr id="33" name="Text 27"/>
          <p:cNvSpPr txBox="1"/>
          <p:nvPr/>
        </p:nvSpPr>
        <p:spPr>
          <a:xfrm>
            <a:off x="822960" y="5897880"/>
            <a:ext cx="10607040" cy="685800"/>
          </a:xfrm>
          <a:prstGeom prst="rect">
            <a:avLst/>
          </a:prstGeom>
          <a:noFill/>
          <a:ln/>
        </p:spPr>
        <p:txBody>
          <a:bodyPr wrap="square" lIns="0" tIns="0" rIns="0" bIns="0" rtlCol="0" anchor="ctr"/>
          <a:lstStyle/>
          <a:p>
            <a:pPr marL="0" indent="0">
              <a:buNone/>
            </a:pPr>
            <a:r>
              <a:rPr lang="en-US" sz="1500" b="1" dirty="0">
                <a:solidFill>
                  <a:srgbClr val="F5B700"/>
                </a:solidFill>
                <a:latin typeface="Calibri" pitchFamily="34" charset="0"/>
                <a:ea typeface="Calibri" pitchFamily="34" charset="-122"/>
                <a:cs typeface="Calibri" pitchFamily="34" charset="-120"/>
              </a:rPr>
              <a:t>Nuestra regla: </a:t>
            </a:r>
            <a:r>
              <a:rPr lang="en-US" sz="1500" dirty="0">
                <a:solidFill>
                  <a:srgbClr val="FFFFFF"/>
                </a:solidFill>
                <a:latin typeface="Calibri" pitchFamily="34" charset="0"/>
                <a:ea typeface="Calibri" pitchFamily="34" charset="-122"/>
                <a:cs typeface="Calibri" pitchFamily="34" charset="-120"/>
              </a:rPr>
              <a:t>en ningún caso inventamos ni estimamos un dato. Si no estaba o no era confiable, se registró como N/D (no disponible).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03 · PREPARACIÓN, LIMPIEZA Y TRANSFORMACIÓN</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Tres pasos y tres archivos: el original nunca se toca</a:t>
            </a:r>
            <a:endParaRPr lang="en-US" sz="2600" dirty="0"/>
          </a:p>
        </p:txBody>
      </p:sp>
      <p:sp>
        <p:nvSpPr>
          <p:cNvPr id="4" name="Shape 2"/>
          <p:cNvSpPr/>
          <p:nvPr/>
        </p:nvSpPr>
        <p:spPr>
          <a:xfrm>
            <a:off x="548640" y="1463040"/>
            <a:ext cx="3520440" cy="5029200"/>
          </a:xfrm>
          <a:prstGeom prst="roundRect">
            <a:avLst>
              <a:gd name="adj" fmla="val 2597"/>
            </a:avLst>
          </a:prstGeom>
          <a:solidFill>
            <a:srgbClr val="1E2330"/>
          </a:solidFill>
          <a:ln w="12700">
            <a:solidFill>
              <a:srgbClr val="1E2330"/>
            </a:solidFill>
            <a:prstDash val="solid"/>
          </a:ln>
        </p:spPr>
      </p:sp>
      <p:sp>
        <p:nvSpPr>
          <p:cNvPr id="5" name="Shape 3"/>
          <p:cNvSpPr/>
          <p:nvPr/>
        </p:nvSpPr>
        <p:spPr>
          <a:xfrm>
            <a:off x="822960" y="1691640"/>
            <a:ext cx="685800" cy="685800"/>
          </a:xfrm>
          <a:prstGeom prst="ellipse">
            <a:avLst/>
          </a:prstGeom>
          <a:solidFill>
            <a:srgbClr val="F5B700"/>
          </a:solidFill>
          <a:ln w="12700">
            <a:solidFill>
              <a:srgbClr val="F5B700"/>
            </a:solidFill>
            <a:prstDash val="solid"/>
          </a:ln>
        </p:spPr>
      </p:sp>
      <p:pic>
        <p:nvPicPr>
          <p:cNvPr id="6" name="Image 0" descr="preencoded.png"/>
          <p:cNvPicPr>
            <a:picLocks noChangeAspect="1"/>
          </p:cNvPicPr>
          <p:nvPr/>
        </p:nvPicPr>
        <p:blipFill>
          <a:blip r:embed="rId3"/>
          <a:stretch>
            <a:fillRect/>
          </a:stretch>
        </p:blipFill>
        <p:spPr>
          <a:xfrm>
            <a:off x="1001268" y="1869948"/>
            <a:ext cx="329184" cy="329184"/>
          </a:xfrm>
          <a:prstGeom prst="rect">
            <a:avLst/>
          </a:prstGeom>
        </p:spPr>
      </p:pic>
      <p:sp>
        <p:nvSpPr>
          <p:cNvPr id="7" name="Text 4"/>
          <p:cNvSpPr txBox="1"/>
          <p:nvPr/>
        </p:nvSpPr>
        <p:spPr>
          <a:xfrm>
            <a:off x="1691640" y="1737360"/>
            <a:ext cx="2286000" cy="5943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Preparación</a:t>
            </a:r>
            <a:endParaRPr lang="en-US" sz="2000" dirty="0"/>
          </a:p>
        </p:txBody>
      </p:sp>
      <p:sp>
        <p:nvSpPr>
          <p:cNvPr id="8" name="Text 5"/>
          <p:cNvSpPr txBox="1"/>
          <p:nvPr/>
        </p:nvSpPr>
        <p:spPr>
          <a:xfrm>
            <a:off x="822960" y="2606040"/>
            <a:ext cx="3017520"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POR QUÉ</a:t>
            </a:r>
            <a:endParaRPr lang="en-US" sz="1000" dirty="0"/>
          </a:p>
        </p:txBody>
      </p:sp>
      <p:sp>
        <p:nvSpPr>
          <p:cNvPr id="9" name="Text 6"/>
          <p:cNvSpPr txBox="1"/>
          <p:nvPr/>
        </p:nvSpPr>
        <p:spPr>
          <a:xfrm>
            <a:off x="822960" y="2834640"/>
            <a:ext cx="3017520" cy="73152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Teníamos dos fuentes con formatos distintos y de todo el país.</a:t>
            </a:r>
            <a:endParaRPr lang="en-US" sz="1300" dirty="0"/>
          </a:p>
        </p:txBody>
      </p:sp>
      <p:sp>
        <p:nvSpPr>
          <p:cNvPr id="10" name="Text 7"/>
          <p:cNvSpPr txBox="1"/>
          <p:nvPr/>
        </p:nvSpPr>
        <p:spPr>
          <a:xfrm>
            <a:off x="822960" y="3611880"/>
            <a:ext cx="3017520"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QUÉ HICIMOS</a:t>
            </a:r>
            <a:endParaRPr lang="en-US" sz="1000" dirty="0"/>
          </a:p>
        </p:txBody>
      </p:sp>
      <p:sp>
        <p:nvSpPr>
          <p:cNvPr id="11" name="Text 8"/>
          <p:cNvSpPr txBox="1"/>
          <p:nvPr/>
        </p:nvSpPr>
        <p:spPr>
          <a:xfrm>
            <a:off x="822960" y="3840480"/>
            <a:ext cx="3017520" cy="7315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Las unimos en un solo archivo de 32 variables y dejamos únicamente el cantón Quito.</a:t>
            </a:r>
            <a:endParaRPr lang="en-US" sz="1300" dirty="0"/>
          </a:p>
        </p:txBody>
      </p:sp>
      <p:sp>
        <p:nvSpPr>
          <p:cNvPr id="12" name="Shape 9"/>
          <p:cNvSpPr/>
          <p:nvPr/>
        </p:nvSpPr>
        <p:spPr>
          <a:xfrm>
            <a:off x="777240" y="4663440"/>
            <a:ext cx="3063240" cy="868680"/>
          </a:xfrm>
          <a:prstGeom prst="roundRect">
            <a:avLst>
              <a:gd name="adj" fmla="val 6316"/>
            </a:avLst>
          </a:prstGeom>
          <a:solidFill>
            <a:srgbClr val="0D0F14"/>
          </a:solidFill>
          <a:ln w="12700">
            <a:solidFill>
              <a:srgbClr val="0D0F14"/>
            </a:solidFill>
            <a:prstDash val="solid"/>
          </a:ln>
        </p:spPr>
      </p:sp>
      <p:sp>
        <p:nvSpPr>
          <p:cNvPr id="13" name="Text 10"/>
          <p:cNvSpPr txBox="1"/>
          <p:nvPr/>
        </p:nvSpPr>
        <p:spPr>
          <a:xfrm>
            <a:off x="914400" y="4663440"/>
            <a:ext cx="2834640" cy="868680"/>
          </a:xfrm>
          <a:prstGeom prst="rect">
            <a:avLst/>
          </a:prstGeom>
          <a:noFill/>
          <a:ln/>
        </p:spPr>
        <p:txBody>
          <a:bodyPr wrap="square" lIns="0" tIns="0" rIns="0" bIns="0" rtlCol="0" anchor="ctr"/>
          <a:lstStyle/>
          <a:p>
            <a:pPr marL="0" indent="0">
              <a:buNone/>
            </a:pPr>
            <a:r>
              <a:rPr lang="en-US" sz="1050" dirty="0">
                <a:solidFill>
                  <a:srgbClr val="3DDC97"/>
                </a:solidFill>
                <a:latin typeface="Courier New" pitchFamily="34" charset="0"/>
                <a:ea typeface="Courier New" pitchFamily="34" charset="-122"/>
                <a:cs typeface="Courier New" pitchFamily="34" charset="-120"/>
              </a:rPr>
              <a:t>df[df['Cantón'] == 'Quito']</a:t>
            </a:r>
            <a:endParaRPr lang="en-US" sz="1050" dirty="0"/>
          </a:p>
        </p:txBody>
      </p:sp>
      <p:sp>
        <p:nvSpPr>
          <p:cNvPr id="14" name="Text 11"/>
          <p:cNvSpPr txBox="1"/>
          <p:nvPr/>
        </p:nvSpPr>
        <p:spPr>
          <a:xfrm>
            <a:off x="822960" y="5715000"/>
            <a:ext cx="3017520" cy="45720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Original · 44.982 × 32</a:t>
            </a:r>
            <a:endParaRPr lang="en-US" sz="1400" dirty="0"/>
          </a:p>
        </p:txBody>
      </p:sp>
      <p:sp>
        <p:nvSpPr>
          <p:cNvPr id="15" name="Text 12"/>
          <p:cNvSpPr txBox="1"/>
          <p:nvPr/>
        </p:nvSpPr>
        <p:spPr>
          <a:xfrm>
            <a:off x="4069080" y="3566160"/>
            <a:ext cx="274320" cy="548640"/>
          </a:xfrm>
          <a:prstGeom prst="rect">
            <a:avLst/>
          </a:prstGeom>
          <a:noFill/>
          <a:ln/>
        </p:spPr>
        <p:txBody>
          <a:bodyPr wrap="square" lIns="0" tIns="0" rIns="0" bIns="0" rtlCol="0" anchor="ctr"/>
          <a:lstStyle/>
          <a:p>
            <a:pPr marL="0" indent="0" algn="ctr">
              <a:buNone/>
            </a:pPr>
            <a:r>
              <a:rPr lang="en-US" sz="3000" b="1" dirty="0">
                <a:solidFill>
                  <a:srgbClr val="F5B700"/>
                </a:solidFill>
                <a:latin typeface="Calibri" pitchFamily="34" charset="0"/>
                <a:ea typeface="Calibri" pitchFamily="34" charset="-122"/>
                <a:cs typeface="Calibri" pitchFamily="34" charset="-120"/>
              </a:rPr>
              <a:t>›</a:t>
            </a:r>
            <a:endParaRPr lang="en-US" sz="3000" dirty="0"/>
          </a:p>
        </p:txBody>
      </p:sp>
      <p:sp>
        <p:nvSpPr>
          <p:cNvPr id="16" name="Shape 13"/>
          <p:cNvSpPr/>
          <p:nvPr/>
        </p:nvSpPr>
        <p:spPr>
          <a:xfrm>
            <a:off x="4343400" y="1463040"/>
            <a:ext cx="3520440" cy="5029200"/>
          </a:xfrm>
          <a:prstGeom prst="roundRect">
            <a:avLst>
              <a:gd name="adj" fmla="val 2597"/>
            </a:avLst>
          </a:prstGeom>
          <a:solidFill>
            <a:srgbClr val="1E2330"/>
          </a:solidFill>
          <a:ln w="12700">
            <a:solidFill>
              <a:srgbClr val="1E2330"/>
            </a:solidFill>
            <a:prstDash val="solid"/>
          </a:ln>
        </p:spPr>
      </p:sp>
      <p:sp>
        <p:nvSpPr>
          <p:cNvPr id="17" name="Shape 14"/>
          <p:cNvSpPr/>
          <p:nvPr/>
        </p:nvSpPr>
        <p:spPr>
          <a:xfrm>
            <a:off x="4617720" y="1691640"/>
            <a:ext cx="685800" cy="685800"/>
          </a:xfrm>
          <a:prstGeom prst="ellipse">
            <a:avLst/>
          </a:prstGeom>
          <a:solidFill>
            <a:srgbClr val="F5B700"/>
          </a:solidFill>
          <a:ln w="12700">
            <a:solidFill>
              <a:srgbClr val="F5B700"/>
            </a:solidFill>
            <a:prstDash val="solid"/>
          </a:ln>
        </p:spPr>
      </p:sp>
      <p:pic>
        <p:nvPicPr>
          <p:cNvPr id="18" name="Image 1" descr="preencoded.png"/>
          <p:cNvPicPr>
            <a:picLocks noChangeAspect="1"/>
          </p:cNvPicPr>
          <p:nvPr/>
        </p:nvPicPr>
        <p:blipFill>
          <a:blip r:embed="rId4"/>
          <a:stretch>
            <a:fillRect/>
          </a:stretch>
        </p:blipFill>
        <p:spPr>
          <a:xfrm>
            <a:off x="4796028" y="1869948"/>
            <a:ext cx="329184" cy="329184"/>
          </a:xfrm>
          <a:prstGeom prst="rect">
            <a:avLst/>
          </a:prstGeom>
        </p:spPr>
      </p:pic>
      <p:sp>
        <p:nvSpPr>
          <p:cNvPr id="19" name="Text 15"/>
          <p:cNvSpPr txBox="1"/>
          <p:nvPr/>
        </p:nvSpPr>
        <p:spPr>
          <a:xfrm>
            <a:off x="5486400" y="1737360"/>
            <a:ext cx="2286000" cy="5943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Limpieza</a:t>
            </a:r>
            <a:endParaRPr lang="en-US" sz="2000" dirty="0"/>
          </a:p>
        </p:txBody>
      </p:sp>
      <p:sp>
        <p:nvSpPr>
          <p:cNvPr id="20" name="Text 16"/>
          <p:cNvSpPr txBox="1"/>
          <p:nvPr/>
        </p:nvSpPr>
        <p:spPr>
          <a:xfrm>
            <a:off x="4617720" y="2606040"/>
            <a:ext cx="3017520"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POR QUÉ</a:t>
            </a:r>
            <a:endParaRPr lang="en-US" sz="1000" dirty="0"/>
          </a:p>
        </p:txBody>
      </p:sp>
      <p:sp>
        <p:nvSpPr>
          <p:cNvPr id="21" name="Text 17"/>
          <p:cNvSpPr txBox="1"/>
          <p:nvPr/>
        </p:nvSpPr>
        <p:spPr>
          <a:xfrm>
            <a:off x="4617720" y="2834640"/>
            <a:ext cx="3017520" cy="73152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No sabíamos si había duplicados o datos faltantes, y la fecha venía como texto.</a:t>
            </a:r>
            <a:endParaRPr lang="en-US" sz="1300" dirty="0"/>
          </a:p>
        </p:txBody>
      </p:sp>
      <p:sp>
        <p:nvSpPr>
          <p:cNvPr id="22" name="Text 18"/>
          <p:cNvSpPr txBox="1"/>
          <p:nvPr/>
        </p:nvSpPr>
        <p:spPr>
          <a:xfrm>
            <a:off x="4617720" y="3611880"/>
            <a:ext cx="3017520"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QUÉ HICIMOS</a:t>
            </a:r>
            <a:endParaRPr lang="en-US" sz="1000" dirty="0"/>
          </a:p>
        </p:txBody>
      </p:sp>
      <p:sp>
        <p:nvSpPr>
          <p:cNvPr id="23" name="Text 19"/>
          <p:cNvSpPr txBox="1"/>
          <p:nvPr/>
        </p:nvSpPr>
        <p:spPr>
          <a:xfrm>
            <a:off x="4617720" y="3840480"/>
            <a:ext cx="3017520" cy="7315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Revisamos duplicados (0), contamos los N/D aparte y convertimos la fecha.</a:t>
            </a:r>
            <a:endParaRPr lang="en-US" sz="1300" dirty="0"/>
          </a:p>
        </p:txBody>
      </p:sp>
      <p:sp>
        <p:nvSpPr>
          <p:cNvPr id="24" name="Shape 20"/>
          <p:cNvSpPr/>
          <p:nvPr/>
        </p:nvSpPr>
        <p:spPr>
          <a:xfrm>
            <a:off x="4572000" y="4663440"/>
            <a:ext cx="3063240" cy="868680"/>
          </a:xfrm>
          <a:prstGeom prst="roundRect">
            <a:avLst>
              <a:gd name="adj" fmla="val 6316"/>
            </a:avLst>
          </a:prstGeom>
          <a:solidFill>
            <a:srgbClr val="0D0F14"/>
          </a:solidFill>
          <a:ln w="12700">
            <a:solidFill>
              <a:srgbClr val="0D0F14"/>
            </a:solidFill>
            <a:prstDash val="solid"/>
          </a:ln>
        </p:spPr>
      </p:sp>
      <p:sp>
        <p:nvSpPr>
          <p:cNvPr id="25" name="Text 21"/>
          <p:cNvSpPr txBox="1"/>
          <p:nvPr/>
        </p:nvSpPr>
        <p:spPr>
          <a:xfrm>
            <a:off x="4709160" y="4663440"/>
            <a:ext cx="2834640" cy="868680"/>
          </a:xfrm>
          <a:prstGeom prst="rect">
            <a:avLst/>
          </a:prstGeom>
          <a:noFill/>
          <a:ln/>
        </p:spPr>
        <p:txBody>
          <a:bodyPr wrap="square" lIns="0" tIns="0" rIns="0" bIns="0" rtlCol="0" anchor="ctr"/>
          <a:lstStyle/>
          <a:p>
            <a:pPr marL="0" indent="0">
              <a:buNone/>
            </a:pPr>
            <a:r>
              <a:rPr lang="en-US" sz="1050" dirty="0">
                <a:solidFill>
                  <a:srgbClr val="3DDC97"/>
                </a:solidFill>
                <a:latin typeface="Courier New" pitchFamily="34" charset="0"/>
                <a:ea typeface="Courier New" pitchFamily="34" charset="-122"/>
                <a:cs typeface="Courier New" pitchFamily="34" charset="-120"/>
              </a:rPr>
              <a:t>df.duplicated().sum()</a:t>
            </a:r>
            <a:endParaRPr lang="en-US" sz="1050" dirty="0"/>
          </a:p>
          <a:p>
            <a:pPr marL="0" indent="0">
              <a:buNone/>
            </a:pPr>
            <a:r>
              <a:rPr lang="en-US" sz="1050" dirty="0">
                <a:solidFill>
                  <a:srgbClr val="3DDC97"/>
                </a:solidFill>
                <a:latin typeface="Courier New" pitchFamily="34" charset="0"/>
                <a:ea typeface="Courier New" pitchFamily="34" charset="-122"/>
                <a:cs typeface="Courier New" pitchFamily="34" charset="-120"/>
              </a:rPr>
              <a:t>pd.to_datetime(df['Fecha'])</a:t>
            </a:r>
            <a:endParaRPr lang="en-US" sz="1050" dirty="0"/>
          </a:p>
        </p:txBody>
      </p:sp>
      <p:sp>
        <p:nvSpPr>
          <p:cNvPr id="26" name="Text 22"/>
          <p:cNvSpPr txBox="1"/>
          <p:nvPr/>
        </p:nvSpPr>
        <p:spPr>
          <a:xfrm>
            <a:off x="4617720" y="5715000"/>
            <a:ext cx="3017520" cy="45720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Limpio · 44.982 × 32</a:t>
            </a:r>
            <a:endParaRPr lang="en-US" sz="1400" dirty="0"/>
          </a:p>
        </p:txBody>
      </p:sp>
      <p:sp>
        <p:nvSpPr>
          <p:cNvPr id="27" name="Text 23"/>
          <p:cNvSpPr txBox="1"/>
          <p:nvPr/>
        </p:nvSpPr>
        <p:spPr>
          <a:xfrm>
            <a:off x="7863840" y="3566160"/>
            <a:ext cx="274320" cy="548640"/>
          </a:xfrm>
          <a:prstGeom prst="rect">
            <a:avLst/>
          </a:prstGeom>
          <a:noFill/>
          <a:ln/>
        </p:spPr>
        <p:txBody>
          <a:bodyPr wrap="square" lIns="0" tIns="0" rIns="0" bIns="0" rtlCol="0" anchor="ctr"/>
          <a:lstStyle/>
          <a:p>
            <a:pPr marL="0" indent="0" algn="ctr">
              <a:buNone/>
            </a:pPr>
            <a:r>
              <a:rPr lang="en-US" sz="3000" b="1" dirty="0">
                <a:solidFill>
                  <a:srgbClr val="F5B700"/>
                </a:solidFill>
                <a:latin typeface="Calibri" pitchFamily="34" charset="0"/>
                <a:ea typeface="Calibri" pitchFamily="34" charset="-122"/>
                <a:cs typeface="Calibri" pitchFamily="34" charset="-120"/>
              </a:rPr>
              <a:t>›</a:t>
            </a:r>
            <a:endParaRPr lang="en-US" sz="3000" dirty="0"/>
          </a:p>
        </p:txBody>
      </p:sp>
      <p:sp>
        <p:nvSpPr>
          <p:cNvPr id="28" name="Shape 24"/>
          <p:cNvSpPr/>
          <p:nvPr/>
        </p:nvSpPr>
        <p:spPr>
          <a:xfrm>
            <a:off x="8138160" y="1463040"/>
            <a:ext cx="3520440" cy="5029200"/>
          </a:xfrm>
          <a:prstGeom prst="roundRect">
            <a:avLst>
              <a:gd name="adj" fmla="val 2597"/>
            </a:avLst>
          </a:prstGeom>
          <a:solidFill>
            <a:srgbClr val="262C3B"/>
          </a:solidFill>
          <a:ln w="12700">
            <a:solidFill>
              <a:srgbClr val="262C3B"/>
            </a:solidFill>
            <a:prstDash val="solid"/>
          </a:ln>
        </p:spPr>
      </p:sp>
      <p:sp>
        <p:nvSpPr>
          <p:cNvPr id="29" name="Shape 25"/>
          <p:cNvSpPr/>
          <p:nvPr/>
        </p:nvSpPr>
        <p:spPr>
          <a:xfrm>
            <a:off x="8412480" y="1691640"/>
            <a:ext cx="685800" cy="685800"/>
          </a:xfrm>
          <a:prstGeom prst="ellipse">
            <a:avLst/>
          </a:prstGeom>
          <a:solidFill>
            <a:srgbClr val="F5B700"/>
          </a:solidFill>
          <a:ln w="12700">
            <a:solidFill>
              <a:srgbClr val="F5B700"/>
            </a:solidFill>
            <a:prstDash val="solid"/>
          </a:ln>
        </p:spPr>
      </p:sp>
      <p:pic>
        <p:nvPicPr>
          <p:cNvPr id="30" name="Image 2" descr="preencoded.png"/>
          <p:cNvPicPr>
            <a:picLocks noChangeAspect="1"/>
          </p:cNvPicPr>
          <p:nvPr/>
        </p:nvPicPr>
        <p:blipFill>
          <a:blip r:embed="rId5"/>
          <a:stretch>
            <a:fillRect/>
          </a:stretch>
        </p:blipFill>
        <p:spPr>
          <a:xfrm>
            <a:off x="8590788" y="1869948"/>
            <a:ext cx="329184" cy="329184"/>
          </a:xfrm>
          <a:prstGeom prst="rect">
            <a:avLst/>
          </a:prstGeom>
        </p:spPr>
      </p:pic>
      <p:sp>
        <p:nvSpPr>
          <p:cNvPr id="31" name="Text 26"/>
          <p:cNvSpPr txBox="1"/>
          <p:nvPr/>
        </p:nvSpPr>
        <p:spPr>
          <a:xfrm>
            <a:off x="9281160" y="1737360"/>
            <a:ext cx="2286000" cy="5943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Transformación</a:t>
            </a:r>
            <a:endParaRPr lang="en-US" sz="2000" dirty="0"/>
          </a:p>
        </p:txBody>
      </p:sp>
      <p:sp>
        <p:nvSpPr>
          <p:cNvPr id="32" name="Text 27"/>
          <p:cNvSpPr txBox="1"/>
          <p:nvPr/>
        </p:nvSpPr>
        <p:spPr>
          <a:xfrm>
            <a:off x="8412480" y="2606040"/>
            <a:ext cx="3017520"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POR QUÉ</a:t>
            </a:r>
            <a:endParaRPr lang="en-US" sz="1000" dirty="0"/>
          </a:p>
        </p:txBody>
      </p:sp>
      <p:sp>
        <p:nvSpPr>
          <p:cNvPr id="33" name="Text 28"/>
          <p:cNvSpPr txBox="1"/>
          <p:nvPr/>
        </p:nvSpPr>
        <p:spPr>
          <a:xfrm>
            <a:off x="8412480" y="2834640"/>
            <a:ext cx="3017520" cy="73152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Un modelo trabaja con números, y teníamos “Sábado”, “Enero” o “07:30”.</a:t>
            </a:r>
            <a:endParaRPr lang="en-US" sz="1300" dirty="0"/>
          </a:p>
        </p:txBody>
      </p:sp>
      <p:sp>
        <p:nvSpPr>
          <p:cNvPr id="34" name="Text 29"/>
          <p:cNvSpPr txBox="1"/>
          <p:nvPr/>
        </p:nvSpPr>
        <p:spPr>
          <a:xfrm>
            <a:off x="8412480" y="3611880"/>
            <a:ext cx="3017520"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QUÉ HICIMOS</a:t>
            </a:r>
            <a:endParaRPr lang="en-US" sz="1000" dirty="0"/>
          </a:p>
        </p:txBody>
      </p:sp>
      <p:sp>
        <p:nvSpPr>
          <p:cNvPr id="35" name="Text 30"/>
          <p:cNvSpPr txBox="1"/>
          <p:nvPr/>
        </p:nvSpPr>
        <p:spPr>
          <a:xfrm>
            <a:off x="8412480" y="3840480"/>
            <a:ext cx="3017520" cy="7315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Creamos 7 variables nuevas: hora y mes en número, fin de semana, gravedad…</a:t>
            </a:r>
            <a:endParaRPr lang="en-US" sz="1300" dirty="0"/>
          </a:p>
        </p:txBody>
      </p:sp>
      <p:sp>
        <p:nvSpPr>
          <p:cNvPr id="36" name="Shape 31"/>
          <p:cNvSpPr/>
          <p:nvPr/>
        </p:nvSpPr>
        <p:spPr>
          <a:xfrm>
            <a:off x="8366760" y="4663440"/>
            <a:ext cx="3063240" cy="868680"/>
          </a:xfrm>
          <a:prstGeom prst="roundRect">
            <a:avLst>
              <a:gd name="adj" fmla="val 6316"/>
            </a:avLst>
          </a:prstGeom>
          <a:solidFill>
            <a:srgbClr val="0D0F14"/>
          </a:solidFill>
          <a:ln w="12700">
            <a:solidFill>
              <a:srgbClr val="0D0F14"/>
            </a:solidFill>
            <a:prstDash val="solid"/>
          </a:ln>
        </p:spPr>
      </p:sp>
      <p:sp>
        <p:nvSpPr>
          <p:cNvPr id="37" name="Text 32"/>
          <p:cNvSpPr txBox="1"/>
          <p:nvPr/>
        </p:nvSpPr>
        <p:spPr>
          <a:xfrm>
            <a:off x="8503920" y="4663440"/>
            <a:ext cx="2834640" cy="868680"/>
          </a:xfrm>
          <a:prstGeom prst="rect">
            <a:avLst/>
          </a:prstGeom>
          <a:noFill/>
          <a:ln/>
        </p:spPr>
        <p:txBody>
          <a:bodyPr wrap="square" lIns="0" tIns="0" rIns="0" bIns="0" rtlCol="0" anchor="ctr"/>
          <a:lstStyle/>
          <a:p>
            <a:pPr marL="0" indent="0">
              <a:buNone/>
            </a:pPr>
            <a:r>
              <a:rPr lang="en-US" sz="1050" dirty="0">
                <a:solidFill>
                  <a:srgbClr val="3DDC97"/>
                </a:solidFill>
                <a:latin typeface="Courier New" pitchFamily="34" charset="0"/>
                <a:ea typeface="Courier New" pitchFamily="34" charset="-122"/>
                <a:cs typeface="Courier New" pitchFamily="34" charset="-120"/>
              </a:rPr>
              <a:t>np.where(df['Dia_Semana_Num'] &gt;= 6,</a:t>
            </a:r>
            <a:endParaRPr lang="en-US" sz="1050" dirty="0"/>
          </a:p>
          <a:p>
            <a:pPr marL="0" indent="0">
              <a:buNone/>
            </a:pPr>
            <a:r>
              <a:rPr lang="en-US" sz="1050" dirty="0">
                <a:solidFill>
                  <a:srgbClr val="3DDC97"/>
                </a:solidFill>
                <a:latin typeface="Courier New" pitchFamily="34" charset="0"/>
                <a:ea typeface="Courier New" pitchFamily="34" charset="-122"/>
                <a:cs typeface="Courier New" pitchFamily="34" charset="-120"/>
              </a:rPr>
              <a:t>         'SI', 'NO')</a:t>
            </a:r>
            <a:endParaRPr lang="en-US" sz="1050" dirty="0"/>
          </a:p>
        </p:txBody>
      </p:sp>
      <p:sp>
        <p:nvSpPr>
          <p:cNvPr id="38" name="Text 33"/>
          <p:cNvSpPr txBox="1"/>
          <p:nvPr/>
        </p:nvSpPr>
        <p:spPr>
          <a:xfrm>
            <a:off x="8412480" y="5715000"/>
            <a:ext cx="3017520" cy="45720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Transformado · 44.982 × 39</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4171F"/>
        </a:solidFill>
        <a:effectLst/>
      </p:bgPr>
    </p:bg>
    <p:spTree>
      <p:nvGrpSpPr>
        <p:cNvPr id="1" name=""/>
        <p:cNvGrpSpPr/>
        <p:nvPr/>
      </p:nvGrpSpPr>
      <p:grpSpPr>
        <a:xfrm>
          <a:off x="0" y="0"/>
          <a:ext cx="0" cy="0"/>
          <a:chOff x="0" y="0"/>
          <a:chExt cx="0" cy="0"/>
        </a:xfrm>
      </p:grpSpPr>
      <p:pic>
        <p:nvPicPr>
          <p:cNvPr id="2" name="Image 0" descr="mapa_portada.png"/>
          <p:cNvPicPr>
            <a:picLocks noChangeAspect="1"/>
          </p:cNvPicPr>
          <p:nvPr/>
        </p:nvPicPr>
        <p:blipFill>
          <a:blip r:embed="rId3">
            <a:alphaModFix amt="55000"/>
          </a:blip>
          <a:srcRect/>
          <a:stretch/>
        </p:blipFill>
        <p:spPr>
          <a:xfrm>
            <a:off x="6400800" y="0"/>
            <a:ext cx="5788152" cy="6858000"/>
          </a:xfrm>
          <a:prstGeom prst="rect">
            <a:avLst/>
          </a:prstGeom>
        </p:spPr>
      </p:pic>
      <p:sp>
        <p:nvSpPr>
          <p:cNvPr id="3" name="Text 0"/>
          <p:cNvSpPr txBox="1"/>
          <p:nvPr/>
        </p:nvSpPr>
        <p:spPr>
          <a:xfrm>
            <a:off x="548640" y="2011680"/>
            <a:ext cx="6400800" cy="320040"/>
          </a:xfrm>
          <a:prstGeom prst="rect">
            <a:avLst/>
          </a:prstGeom>
          <a:noFill/>
          <a:ln/>
        </p:spPr>
        <p:txBody>
          <a:bodyPr wrap="square" lIns="0" tIns="0" rIns="0" bIns="0" rtlCol="0" anchor="ctr"/>
          <a:lstStyle/>
          <a:p>
            <a:pPr marL="0" indent="0">
              <a:buNone/>
            </a:pPr>
            <a:r>
              <a:rPr lang="en-US" sz="1300" b="1" kern="0" spc="200" dirty="0">
                <a:solidFill>
                  <a:srgbClr val="F5B700"/>
                </a:solidFill>
                <a:latin typeface="Calibri" pitchFamily="34" charset="0"/>
                <a:ea typeface="Calibri" pitchFamily="34" charset="-122"/>
                <a:cs typeface="Calibri" pitchFamily="34" charset="-120"/>
              </a:rPr>
              <a:t>04 · ANÁLISIS EXPLORATORIO</a:t>
            </a:r>
            <a:endParaRPr lang="en-US" sz="1300" dirty="0"/>
          </a:p>
        </p:txBody>
      </p:sp>
      <p:sp>
        <p:nvSpPr>
          <p:cNvPr id="4" name="Text 1"/>
          <p:cNvSpPr txBox="1"/>
          <p:nvPr/>
        </p:nvSpPr>
        <p:spPr>
          <a:xfrm>
            <a:off x="548640" y="2423160"/>
            <a:ext cx="5852160" cy="182880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26 gráficos para responder cinco preguntas</a:t>
            </a:r>
            <a:endParaRPr lang="en-US" sz="3400" dirty="0"/>
          </a:p>
        </p:txBody>
      </p:sp>
      <p:sp>
        <p:nvSpPr>
          <p:cNvPr id="5" name="Text 2"/>
          <p:cNvSpPr txBox="1"/>
          <p:nvPr/>
        </p:nvSpPr>
        <p:spPr>
          <a:xfrm>
            <a:off x="548640" y="4526280"/>
            <a:ext cx="5852160" cy="457200"/>
          </a:xfrm>
          <a:prstGeom prst="rect">
            <a:avLst/>
          </a:prstGeom>
          <a:noFill/>
          <a:ln/>
        </p:spPr>
        <p:txBody>
          <a:bodyPr wrap="square" lIns="0" tIns="0" rIns="0" bIns="0" rtlCol="0" anchor="ctr"/>
          <a:lstStyle/>
          <a:p>
            <a:pPr marL="0" indent="0">
              <a:buNone/>
            </a:pPr>
            <a:r>
              <a:rPr lang="en-US" sz="1900" b="1" dirty="0">
                <a:solidFill>
                  <a:srgbClr val="F5B700"/>
                </a:solidFill>
                <a:latin typeface="Calibri" pitchFamily="34" charset="0"/>
                <a:ea typeface="Calibri" pitchFamily="34" charset="-122"/>
                <a:cs typeface="Calibri" pitchFamily="34" charset="-120"/>
              </a:rPr>
              <a:t>¿Cuántos?   </a:t>
            </a:r>
            <a:r>
              <a:rPr lang="en-US" sz="1900" b="1" dirty="0">
                <a:solidFill>
                  <a:srgbClr val="FFFFFF"/>
                </a:solidFill>
                <a:latin typeface="Calibri" pitchFamily="34" charset="0"/>
                <a:ea typeface="Calibri" pitchFamily="34" charset="-122"/>
                <a:cs typeface="Calibri" pitchFamily="34" charset="-120"/>
              </a:rPr>
              <a:t>¿Cuándo?   </a:t>
            </a:r>
            <a:r>
              <a:rPr lang="en-US" sz="1900" b="1" dirty="0">
                <a:solidFill>
                  <a:srgbClr val="F5B700"/>
                </a:solidFill>
                <a:latin typeface="Calibri" pitchFamily="34" charset="0"/>
                <a:ea typeface="Calibri" pitchFamily="34" charset="-122"/>
                <a:cs typeface="Calibri" pitchFamily="34" charset="-120"/>
              </a:rPr>
              <a:t>¿Dónde?   </a:t>
            </a:r>
            <a:r>
              <a:rPr lang="en-US" sz="1900" b="1" dirty="0">
                <a:solidFill>
                  <a:srgbClr val="FFFFFF"/>
                </a:solidFill>
                <a:latin typeface="Calibri" pitchFamily="34" charset="0"/>
                <a:ea typeface="Calibri" pitchFamily="34" charset="-122"/>
                <a:cs typeface="Calibri" pitchFamily="34" charset="-120"/>
              </a:rPr>
              <a:t>¿Por qué?   </a:t>
            </a:r>
            <a:r>
              <a:rPr lang="en-US" sz="1900" b="1" dirty="0">
                <a:solidFill>
                  <a:srgbClr val="F5B700"/>
                </a:solidFill>
                <a:latin typeface="Calibri" pitchFamily="34" charset="0"/>
                <a:ea typeface="Calibri" pitchFamily="34" charset="-122"/>
                <a:cs typeface="Calibri" pitchFamily="34" charset="-120"/>
              </a:rPr>
              <a:t>¿Quiénes?</a:t>
            </a:r>
            <a:endParaRPr lang="en-US" sz="1900" dirty="0"/>
          </a:p>
        </p:txBody>
      </p:sp>
      <p:sp>
        <p:nvSpPr>
          <p:cNvPr id="6" name="Text 3"/>
          <p:cNvSpPr txBox="1"/>
          <p:nvPr/>
        </p:nvSpPr>
        <p:spPr>
          <a:xfrm>
            <a:off x="548640" y="5212080"/>
            <a:ext cx="5394960" cy="731520"/>
          </a:xfrm>
          <a:prstGeom prst="rect">
            <a:avLst/>
          </a:prstGeom>
          <a:noFill/>
          <a:ln/>
        </p:spPr>
        <p:txBody>
          <a:bodyPr wrap="square" lIns="0" tIns="0" rIns="0" bIns="0" rtlCol="0" anchor="t"/>
          <a:lstStyle/>
          <a:p>
            <a:pPr marL="0" indent="0">
              <a:buNone/>
            </a:pPr>
            <a:r>
              <a:rPr lang="en-US" sz="1400" i="1" dirty="0">
                <a:solidFill>
                  <a:srgbClr val="A7B0C0"/>
                </a:solidFill>
                <a:latin typeface="Calibri" pitchFamily="34" charset="0"/>
                <a:ea typeface="Calibri" pitchFamily="34" charset="-122"/>
                <a:cs typeface="Calibri" pitchFamily="34" charset="-120"/>
              </a:rPr>
              <a:t>Todos los gráficos salen de nuestros scripts en Python y están en los anexos del proyecto escrito.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¿CUÁNTOS?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Cada año hay menos siniestros… pero son más graves</a:t>
            </a:r>
            <a:endParaRPr lang="en-US" sz="2600" dirty="0"/>
          </a:p>
        </p:txBody>
      </p:sp>
      <p:sp>
        <p:nvSpPr>
          <p:cNvPr id="4" name="Shape 2"/>
          <p:cNvSpPr/>
          <p:nvPr/>
        </p:nvSpPr>
        <p:spPr>
          <a:xfrm>
            <a:off x="548640" y="1463040"/>
            <a:ext cx="6766560" cy="3886200"/>
          </a:xfrm>
          <a:prstGeom prst="roundRect">
            <a:avLst>
              <a:gd name="adj" fmla="val 1882"/>
            </a:avLst>
          </a:prstGeom>
          <a:solidFill>
            <a:srgbClr val="FFFFFF"/>
          </a:solidFill>
          <a:ln w="12700">
            <a:solidFill>
              <a:srgbClr val="FFFFFF"/>
            </a:solidFill>
            <a:prstDash val="solid"/>
          </a:ln>
        </p:spPr>
      </p:sp>
      <p:pic>
        <p:nvPicPr>
          <p:cNvPr id="5" name="Image 0" descr="C:/Users/estre/Downloads/proyecto siniestros viales/resultados/grafico_barras_siniestros_por_anio.png"/>
          <p:cNvPicPr>
            <a:picLocks noChangeAspect="1"/>
          </p:cNvPicPr>
          <p:nvPr/>
        </p:nvPicPr>
        <p:blipFill>
          <a:blip r:embed="rId3"/>
          <a:stretch>
            <a:fillRect/>
          </a:stretch>
        </p:blipFill>
        <p:spPr>
          <a:xfrm>
            <a:off x="640080" y="1577340"/>
            <a:ext cx="6583680" cy="3657600"/>
          </a:xfrm>
          <a:prstGeom prst="rect">
            <a:avLst/>
          </a:prstGeom>
        </p:spPr>
      </p:pic>
      <p:sp>
        <p:nvSpPr>
          <p:cNvPr id="6" name="Text 3"/>
          <p:cNvSpPr txBox="1"/>
          <p:nvPr/>
        </p:nvSpPr>
        <p:spPr>
          <a:xfrm>
            <a:off x="548640" y="5458968"/>
            <a:ext cx="6766560"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a:t>
            </a:r>
            <a:endParaRPr lang="en-US" sz="1000" dirty="0"/>
          </a:p>
        </p:txBody>
      </p:sp>
      <p:sp>
        <p:nvSpPr>
          <p:cNvPr id="7" name="Shape 4"/>
          <p:cNvSpPr/>
          <p:nvPr/>
        </p:nvSpPr>
        <p:spPr>
          <a:xfrm>
            <a:off x="7589520" y="1463040"/>
            <a:ext cx="4050792" cy="1828800"/>
          </a:xfrm>
          <a:prstGeom prst="roundRect">
            <a:avLst>
              <a:gd name="adj" fmla="val 5000"/>
            </a:avLst>
          </a:prstGeom>
          <a:solidFill>
            <a:srgbClr val="1E2330"/>
          </a:solidFill>
          <a:ln w="12700">
            <a:solidFill>
              <a:srgbClr val="1E2330"/>
            </a:solidFill>
            <a:prstDash val="solid"/>
          </a:ln>
        </p:spPr>
      </p:sp>
      <p:sp>
        <p:nvSpPr>
          <p:cNvPr id="8" name="Text 5"/>
          <p:cNvSpPr txBox="1"/>
          <p:nvPr/>
        </p:nvSpPr>
        <p:spPr>
          <a:xfrm>
            <a:off x="7818120" y="1600200"/>
            <a:ext cx="3657600" cy="274320"/>
          </a:xfrm>
          <a:prstGeom prst="rect">
            <a:avLst/>
          </a:prstGeom>
          <a:noFill/>
          <a:ln/>
        </p:spPr>
        <p:txBody>
          <a:bodyPr wrap="square" lIns="0" tIns="0" rIns="0" bIns="0" rtlCol="0" anchor="ctr"/>
          <a:lstStyle/>
          <a:p>
            <a:pPr marL="0" indent="0">
              <a:buNone/>
            </a:pPr>
            <a:r>
              <a:rPr lang="en-US" sz="1200" dirty="0">
                <a:solidFill>
                  <a:srgbClr val="A7B0C0"/>
                </a:solidFill>
                <a:latin typeface="Calibri" pitchFamily="34" charset="0"/>
                <a:ea typeface="Calibri" pitchFamily="34" charset="-122"/>
                <a:cs typeface="Calibri" pitchFamily="34" charset="-120"/>
              </a:rPr>
              <a:t>Siniestros registrados</a:t>
            </a:r>
            <a:endParaRPr lang="en-US" sz="1200" dirty="0"/>
          </a:p>
        </p:txBody>
      </p:sp>
      <p:sp>
        <p:nvSpPr>
          <p:cNvPr id="9" name="Text 6"/>
          <p:cNvSpPr txBox="1"/>
          <p:nvPr/>
        </p:nvSpPr>
        <p:spPr>
          <a:xfrm>
            <a:off x="7818120" y="1920240"/>
            <a:ext cx="3657600" cy="59436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8.810</a:t>
            </a:r>
            <a:r>
              <a:rPr lang="en-US" sz="2800" b="1" dirty="0">
                <a:solidFill>
                  <a:srgbClr val="6B7385"/>
                </a:solidFill>
                <a:latin typeface="Arial" pitchFamily="34" charset="0"/>
                <a:ea typeface="Arial" pitchFamily="34" charset="-122"/>
                <a:cs typeface="Arial" pitchFamily="34" charset="-120"/>
              </a:rPr>
              <a:t>  →  </a:t>
            </a:r>
            <a:r>
              <a:rPr lang="en-US" sz="2800" b="1" dirty="0">
                <a:solidFill>
                  <a:srgbClr val="FFFFFF"/>
                </a:solidFill>
                <a:latin typeface="Arial" pitchFamily="34" charset="0"/>
                <a:ea typeface="Arial" pitchFamily="34" charset="-122"/>
                <a:cs typeface="Arial" pitchFamily="34" charset="-120"/>
              </a:rPr>
              <a:t>3.987</a:t>
            </a:r>
            <a:endParaRPr lang="en-US" sz="2800" dirty="0"/>
          </a:p>
        </p:txBody>
      </p:sp>
      <p:sp>
        <p:nvSpPr>
          <p:cNvPr id="10" name="Text 7"/>
          <p:cNvSpPr txBox="1"/>
          <p:nvPr/>
        </p:nvSpPr>
        <p:spPr>
          <a:xfrm>
            <a:off x="7818120" y="2560320"/>
            <a:ext cx="3657600" cy="59436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De 2017 a 2025. La caída de 2020 coincide con la pandemia.</a:t>
            </a:r>
            <a:endParaRPr lang="en-US" sz="1200" dirty="0"/>
          </a:p>
        </p:txBody>
      </p:sp>
      <p:sp>
        <p:nvSpPr>
          <p:cNvPr id="11" name="Shape 8"/>
          <p:cNvSpPr/>
          <p:nvPr/>
        </p:nvSpPr>
        <p:spPr>
          <a:xfrm>
            <a:off x="7589520" y="3520440"/>
            <a:ext cx="4050792" cy="1828800"/>
          </a:xfrm>
          <a:prstGeom prst="roundRect">
            <a:avLst>
              <a:gd name="adj" fmla="val 5000"/>
            </a:avLst>
          </a:prstGeom>
          <a:solidFill>
            <a:srgbClr val="262C3B"/>
          </a:solidFill>
          <a:ln w="12700">
            <a:solidFill>
              <a:srgbClr val="262C3B"/>
            </a:solidFill>
            <a:prstDash val="solid"/>
          </a:ln>
        </p:spPr>
      </p:sp>
      <p:sp>
        <p:nvSpPr>
          <p:cNvPr id="12" name="Text 9"/>
          <p:cNvSpPr txBox="1"/>
          <p:nvPr/>
        </p:nvSpPr>
        <p:spPr>
          <a:xfrm>
            <a:off x="7818120" y="3657600"/>
            <a:ext cx="3657600" cy="274320"/>
          </a:xfrm>
          <a:prstGeom prst="rect">
            <a:avLst/>
          </a:prstGeom>
          <a:noFill/>
          <a:ln/>
        </p:spPr>
        <p:txBody>
          <a:bodyPr wrap="square" lIns="0" tIns="0" rIns="0" bIns="0" rtlCol="0" anchor="ctr"/>
          <a:lstStyle/>
          <a:p>
            <a:pPr marL="0" indent="0">
              <a:buNone/>
            </a:pPr>
            <a:r>
              <a:rPr lang="en-US" sz="1200" dirty="0">
                <a:solidFill>
                  <a:srgbClr val="A7B0C0"/>
                </a:solidFill>
                <a:latin typeface="Calibri" pitchFamily="34" charset="0"/>
                <a:ea typeface="Calibri" pitchFamily="34" charset="-122"/>
                <a:cs typeface="Calibri" pitchFamily="34" charset="-120"/>
              </a:rPr>
              <a:t>Fallecidos por cada 1.000 siniestros</a:t>
            </a:r>
            <a:endParaRPr lang="en-US" sz="1200" dirty="0"/>
          </a:p>
        </p:txBody>
      </p:sp>
      <p:sp>
        <p:nvSpPr>
          <p:cNvPr id="13" name="Text 10"/>
          <p:cNvSpPr txBox="1"/>
          <p:nvPr/>
        </p:nvSpPr>
        <p:spPr>
          <a:xfrm>
            <a:off x="7818120" y="3977640"/>
            <a:ext cx="3657600" cy="640080"/>
          </a:xfrm>
          <a:prstGeom prst="rect">
            <a:avLst/>
          </a:prstGeom>
          <a:noFill/>
          <a:ln/>
        </p:spPr>
        <p:txBody>
          <a:bodyPr wrap="square" lIns="0" tIns="0" rIns="0" bIns="0" rtlCol="0" anchor="ctr"/>
          <a:lstStyle/>
          <a:p>
            <a:pPr marL="0" indent="0">
              <a:buNone/>
            </a:pPr>
            <a:r>
              <a:rPr lang="en-US" sz="3600" b="1" dirty="0">
                <a:solidFill>
                  <a:srgbClr val="F5B700"/>
                </a:solidFill>
                <a:latin typeface="Arial" pitchFamily="34" charset="0"/>
                <a:ea typeface="Arial" pitchFamily="34" charset="-122"/>
                <a:cs typeface="Arial" pitchFamily="34" charset="-120"/>
              </a:rPr>
              <a:t>31</a:t>
            </a:r>
            <a:r>
              <a:rPr lang="en-US" sz="3600" b="1" dirty="0">
                <a:solidFill>
                  <a:srgbClr val="6B7385"/>
                </a:solidFill>
                <a:latin typeface="Arial" pitchFamily="34" charset="0"/>
                <a:ea typeface="Arial" pitchFamily="34" charset="-122"/>
                <a:cs typeface="Arial" pitchFamily="34" charset="-120"/>
              </a:rPr>
              <a:t>  →  </a:t>
            </a:r>
            <a:r>
              <a:rPr lang="en-US" sz="3600" b="1" dirty="0">
                <a:solidFill>
                  <a:srgbClr val="FF4D4D"/>
                </a:solidFill>
                <a:latin typeface="Arial" pitchFamily="34" charset="0"/>
                <a:ea typeface="Arial" pitchFamily="34" charset="-122"/>
                <a:cs typeface="Arial" pitchFamily="34" charset="-120"/>
              </a:rPr>
              <a:t>85</a:t>
            </a:r>
            <a:endParaRPr lang="en-US" sz="3600" dirty="0"/>
          </a:p>
        </p:txBody>
      </p:sp>
      <p:sp>
        <p:nvSpPr>
          <p:cNvPr id="14" name="Text 11"/>
          <p:cNvSpPr txBox="1"/>
          <p:nvPr/>
        </p:nvSpPr>
        <p:spPr>
          <a:xfrm>
            <a:off x="7818120" y="4663440"/>
            <a:ext cx="3657600" cy="548640"/>
          </a:xfrm>
          <a:prstGeom prst="rect">
            <a:avLst/>
          </a:prstGeom>
          <a:noFill/>
          <a:ln/>
        </p:spPr>
        <p:txBody>
          <a:bodyPr wrap="square" lIns="0" tIns="0" rIns="0" bIns="0" rtlCol="0" anchor="t"/>
          <a:lstStyle/>
          <a:p>
            <a:pPr marL="0" indent="0">
              <a:buNone/>
            </a:pPr>
            <a:r>
              <a:rPr lang="en-US" sz="1200" dirty="0">
                <a:solidFill>
                  <a:srgbClr val="A7B0C0"/>
                </a:solidFill>
                <a:latin typeface="Calibri" pitchFamily="34" charset="0"/>
                <a:ea typeface="Calibri" pitchFamily="34" charset="-122"/>
                <a:cs typeface="Calibri" pitchFamily="34" charset="-120"/>
              </a:rPr>
              <a:t>Los fallecidos subieron de 273 a 337.</a:t>
            </a:r>
            <a:endParaRPr lang="en-US" sz="1200" dirty="0"/>
          </a:p>
        </p:txBody>
      </p:sp>
      <p:sp>
        <p:nvSpPr>
          <p:cNvPr id="15" name="Shape 12"/>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6" name="Shape 13"/>
          <p:cNvSpPr/>
          <p:nvPr/>
        </p:nvSpPr>
        <p:spPr>
          <a:xfrm>
            <a:off x="685800" y="6025896"/>
            <a:ext cx="475488" cy="475488"/>
          </a:xfrm>
          <a:prstGeom prst="ellipse">
            <a:avLst/>
          </a:prstGeom>
          <a:solidFill>
            <a:srgbClr val="F5B700"/>
          </a:solidFill>
          <a:ln w="12700">
            <a:solidFill>
              <a:srgbClr val="F5B700"/>
            </a:solidFill>
            <a:prstDash val="solid"/>
          </a:ln>
        </p:spPr>
      </p:sp>
      <p:pic>
        <p:nvPicPr>
          <p:cNvPr id="17" name="Image 1" descr="preencoded.png"/>
          <p:cNvPicPr>
            <a:picLocks noChangeAspect="1"/>
          </p:cNvPicPr>
          <p:nvPr/>
        </p:nvPicPr>
        <p:blipFill>
          <a:blip r:embed="rId4"/>
          <a:stretch>
            <a:fillRect/>
          </a:stretch>
        </p:blipFill>
        <p:spPr>
          <a:xfrm>
            <a:off x="809427" y="6149523"/>
            <a:ext cx="228234" cy="228234"/>
          </a:xfrm>
          <a:prstGeom prst="rect">
            <a:avLst/>
          </a:prstGeom>
        </p:spPr>
      </p:pic>
      <p:sp>
        <p:nvSpPr>
          <p:cNvPr id="18" name="Text 14"/>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no basta con contar siniestros. Hay que saber dónde y cuándo ocurren los más peligrosos.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¿CUÁNDO?</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Los siniestros tienen horario: sábado, 7 de la mañana y 7 de la noche</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grafico_barras_siniestros_por_dia.png"/>
          <p:cNvPicPr>
            <a:picLocks noChangeAspect="1"/>
          </p:cNvPicPr>
          <p:nvPr/>
        </p:nvPicPr>
        <p:blipFill>
          <a:blip r:embed="rId3"/>
          <a:stretch>
            <a:fillRect/>
          </a:stretch>
        </p:blipFill>
        <p:spPr>
          <a:xfrm>
            <a:off x="640080" y="1588770"/>
            <a:ext cx="5225796" cy="2903220"/>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El sábado manda</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8.380 siniestros, un 57 % más que el lunes. El fin de semana concentra el 34,5 %.</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grafico_histograma_hora.png"/>
          <p:cNvPicPr>
            <a:picLocks noChangeAspect="1"/>
          </p:cNvPicPr>
          <p:nvPr/>
        </p:nvPicPr>
        <p:blipFill>
          <a:blip r:embed="rId4"/>
          <a:stretch>
            <a:fillRect/>
          </a:stretch>
        </p:blipFill>
        <p:spPr>
          <a:xfrm>
            <a:off x="6323076" y="1733931"/>
            <a:ext cx="5225796" cy="2612898"/>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3</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Dos picos: 07:00 y 19:00</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2.535 y 2.317 siniestros. La hora más tranquila es las 04:00, con 1.278.</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los siniestros siguen el ritmo de la ciudad: la entrada y salida del trabajo, y el fin de semana.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¿CUÁNDO?</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La madrugada tiene menos siniestros, pero son los más mortales</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grafico_torta_franja_horaria.png"/>
          <p:cNvPicPr>
            <a:picLocks noChangeAspect="1"/>
          </p:cNvPicPr>
          <p:nvPr/>
        </p:nvPicPr>
        <p:blipFill>
          <a:blip r:embed="rId3"/>
          <a:stretch>
            <a:fillRect/>
          </a:stretch>
        </p:blipFill>
        <p:spPr>
          <a:xfrm>
            <a:off x="1767078" y="1554480"/>
            <a:ext cx="2971800" cy="2971800"/>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4</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Mañana, tarde y noche: 27 % cada una</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La madrugada concentra el 19,3 %, aunque en esas horas circulan muchos menos vehículos.</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grafico_torta_gravedad.png"/>
          <p:cNvPicPr>
            <a:picLocks noChangeAspect="1"/>
          </p:cNvPicPr>
          <p:nvPr/>
        </p:nvPicPr>
        <p:blipFill>
          <a:blip r:embed="rId4"/>
          <a:stretch>
            <a:fillRect/>
          </a:stretch>
        </p:blipFill>
        <p:spPr>
          <a:xfrm>
            <a:off x="7450074" y="1554480"/>
            <a:ext cx="2971800" cy="2971800"/>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5</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Casi la mitad deja víctimas</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52,7 % solo daños materiales, 41,8 % con lesionados y 5,6 % con al menos un fallecido.</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en la madrugada mueren 8,9 personas por cada 100 siniestros, más del doble que en la tarde (4,1).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¿DÓNDE?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Tres parroquias encabezan todo: Quitumbe, Iñaquito y Calderón</a:t>
            </a:r>
            <a:endParaRPr lang="en-US" sz="2600" dirty="0"/>
          </a:p>
        </p:txBody>
      </p:sp>
      <p:sp>
        <p:nvSpPr>
          <p:cNvPr id="4" name="Shape 2"/>
          <p:cNvSpPr/>
          <p:nvPr/>
        </p:nvSpPr>
        <p:spPr>
          <a:xfrm>
            <a:off x="548640" y="1463040"/>
            <a:ext cx="3514344" cy="2514600"/>
          </a:xfrm>
          <a:prstGeom prst="roundRect">
            <a:avLst>
              <a:gd name="adj" fmla="val 2909"/>
            </a:avLst>
          </a:prstGeom>
          <a:solidFill>
            <a:srgbClr val="FFFFFF"/>
          </a:solidFill>
          <a:ln w="12700">
            <a:solidFill>
              <a:srgbClr val="FFFFFF"/>
            </a:solidFill>
            <a:prstDash val="solid"/>
          </a:ln>
        </p:spPr>
      </p:sp>
      <p:pic>
        <p:nvPicPr>
          <p:cNvPr id="5" name="Image 0" descr="C:/Users/estre/Downloads/proyecto siniestros viales/resultados/05_siniestros_por_parroquia.png"/>
          <p:cNvPicPr>
            <a:picLocks noChangeAspect="1"/>
          </p:cNvPicPr>
          <p:nvPr/>
        </p:nvPicPr>
        <p:blipFill>
          <a:blip r:embed="rId3"/>
          <a:stretch>
            <a:fillRect/>
          </a:stretch>
        </p:blipFill>
        <p:spPr>
          <a:xfrm>
            <a:off x="640080" y="1720901"/>
            <a:ext cx="3331464" cy="1998878"/>
          </a:xfrm>
          <a:prstGeom prst="rect">
            <a:avLst/>
          </a:prstGeom>
        </p:spPr>
      </p:pic>
      <p:sp>
        <p:nvSpPr>
          <p:cNvPr id="6" name="Text 3"/>
          <p:cNvSpPr txBox="1"/>
          <p:nvPr/>
        </p:nvSpPr>
        <p:spPr>
          <a:xfrm>
            <a:off x="548640"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6</a:t>
            </a:r>
            <a:endParaRPr lang="en-US" sz="1000" dirty="0"/>
          </a:p>
        </p:txBody>
      </p:sp>
      <p:sp>
        <p:nvSpPr>
          <p:cNvPr id="7" name="Text 4"/>
          <p:cNvSpPr txBox="1"/>
          <p:nvPr/>
        </p:nvSpPr>
        <p:spPr>
          <a:xfrm>
            <a:off x="548640"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Más siniestros</a:t>
            </a:r>
            <a:endParaRPr lang="en-US" sz="1500" dirty="0"/>
          </a:p>
        </p:txBody>
      </p:sp>
      <p:sp>
        <p:nvSpPr>
          <p:cNvPr id="8" name="Text 5"/>
          <p:cNvSpPr txBox="1"/>
          <p:nvPr/>
        </p:nvSpPr>
        <p:spPr>
          <a:xfrm>
            <a:off x="548640"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Quitumbe 680, Iñaquito 602 y Calderón 534.</a:t>
            </a:r>
            <a:endParaRPr lang="en-US" sz="1300" dirty="0"/>
          </a:p>
        </p:txBody>
      </p:sp>
      <p:sp>
        <p:nvSpPr>
          <p:cNvPr id="9" name="Shape 6"/>
          <p:cNvSpPr/>
          <p:nvPr/>
        </p:nvSpPr>
        <p:spPr>
          <a:xfrm>
            <a:off x="4337304" y="1463040"/>
            <a:ext cx="3514344" cy="2514600"/>
          </a:xfrm>
          <a:prstGeom prst="roundRect">
            <a:avLst>
              <a:gd name="adj" fmla="val 2909"/>
            </a:avLst>
          </a:prstGeom>
          <a:solidFill>
            <a:srgbClr val="FFFFFF"/>
          </a:solidFill>
          <a:ln w="12700">
            <a:solidFill>
              <a:srgbClr val="FFFFFF"/>
            </a:solidFill>
            <a:prstDash val="solid"/>
          </a:ln>
        </p:spPr>
      </p:sp>
      <p:pic>
        <p:nvPicPr>
          <p:cNvPr id="10" name="Image 1" descr="C:/Users/estre/Downloads/proyecto siniestros viales/resultados/06_victimas_por_parroquia.png"/>
          <p:cNvPicPr>
            <a:picLocks noChangeAspect="1"/>
          </p:cNvPicPr>
          <p:nvPr/>
        </p:nvPicPr>
        <p:blipFill>
          <a:blip r:embed="rId4"/>
          <a:stretch>
            <a:fillRect/>
          </a:stretch>
        </p:blipFill>
        <p:spPr>
          <a:xfrm>
            <a:off x="4428744" y="1720901"/>
            <a:ext cx="3331464" cy="1998878"/>
          </a:xfrm>
          <a:prstGeom prst="rect">
            <a:avLst/>
          </a:prstGeom>
        </p:spPr>
      </p:pic>
      <p:sp>
        <p:nvSpPr>
          <p:cNvPr id="11" name="Text 7"/>
          <p:cNvSpPr txBox="1"/>
          <p:nvPr/>
        </p:nvSpPr>
        <p:spPr>
          <a:xfrm>
            <a:off x="4337304"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7</a:t>
            </a:r>
            <a:endParaRPr lang="en-US" sz="1000" dirty="0"/>
          </a:p>
        </p:txBody>
      </p:sp>
      <p:sp>
        <p:nvSpPr>
          <p:cNvPr id="12" name="Text 8"/>
          <p:cNvSpPr txBox="1"/>
          <p:nvPr/>
        </p:nvSpPr>
        <p:spPr>
          <a:xfrm>
            <a:off x="4337304"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Más víctimas</a:t>
            </a:r>
            <a:endParaRPr lang="en-US" sz="1500" dirty="0"/>
          </a:p>
        </p:txBody>
      </p:sp>
      <p:sp>
        <p:nvSpPr>
          <p:cNvPr id="13" name="Text 9"/>
          <p:cNvSpPr txBox="1"/>
          <p:nvPr/>
        </p:nvSpPr>
        <p:spPr>
          <a:xfrm>
            <a:off x="4337304"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Quitumbe 526, Calderón 424 e Iñaquito 361.</a:t>
            </a:r>
            <a:endParaRPr lang="en-US" sz="1300" dirty="0"/>
          </a:p>
        </p:txBody>
      </p:sp>
      <p:sp>
        <p:nvSpPr>
          <p:cNvPr id="14" name="Shape 10"/>
          <p:cNvSpPr/>
          <p:nvPr/>
        </p:nvSpPr>
        <p:spPr>
          <a:xfrm>
            <a:off x="8125968" y="1463040"/>
            <a:ext cx="3514344" cy="2514600"/>
          </a:xfrm>
          <a:prstGeom prst="roundRect">
            <a:avLst>
              <a:gd name="adj" fmla="val 2909"/>
            </a:avLst>
          </a:prstGeom>
          <a:solidFill>
            <a:srgbClr val="FFFFFF"/>
          </a:solidFill>
          <a:ln w="12700">
            <a:solidFill>
              <a:srgbClr val="FFFFFF"/>
            </a:solidFill>
            <a:prstDash val="solid"/>
          </a:ln>
        </p:spPr>
      </p:sp>
      <p:pic>
        <p:nvPicPr>
          <p:cNvPr id="15" name="Image 2" descr="C:/Users/estre/Downloads/proyecto siniestros viales/resultados/07_fallecidos_por_parroquia.png"/>
          <p:cNvPicPr>
            <a:picLocks noChangeAspect="1"/>
          </p:cNvPicPr>
          <p:nvPr/>
        </p:nvPicPr>
        <p:blipFill>
          <a:blip r:embed="rId5"/>
          <a:stretch>
            <a:fillRect/>
          </a:stretch>
        </p:blipFill>
        <p:spPr>
          <a:xfrm>
            <a:off x="8217408" y="1720901"/>
            <a:ext cx="3331464" cy="1998878"/>
          </a:xfrm>
          <a:prstGeom prst="rect">
            <a:avLst/>
          </a:prstGeom>
        </p:spPr>
      </p:pic>
      <p:sp>
        <p:nvSpPr>
          <p:cNvPr id="16" name="Text 11"/>
          <p:cNvSpPr txBox="1"/>
          <p:nvPr/>
        </p:nvSpPr>
        <p:spPr>
          <a:xfrm>
            <a:off x="8125968"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8</a:t>
            </a:r>
            <a:endParaRPr lang="en-US" sz="1000" dirty="0"/>
          </a:p>
        </p:txBody>
      </p:sp>
      <p:sp>
        <p:nvSpPr>
          <p:cNvPr id="17" name="Text 12"/>
          <p:cNvSpPr txBox="1"/>
          <p:nvPr/>
        </p:nvSpPr>
        <p:spPr>
          <a:xfrm>
            <a:off x="8125968"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Más fallecidos</a:t>
            </a:r>
            <a:endParaRPr lang="en-US" sz="1500" dirty="0"/>
          </a:p>
        </p:txBody>
      </p:sp>
      <p:sp>
        <p:nvSpPr>
          <p:cNvPr id="18" name="Text 13"/>
          <p:cNvSpPr txBox="1"/>
          <p:nvPr/>
        </p:nvSpPr>
        <p:spPr>
          <a:xfrm>
            <a:off x="8125968"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Calderón 62, Quitumbe 55 y Pifo 44.</a:t>
            </a:r>
            <a:endParaRPr lang="en-US" sz="1300" dirty="0"/>
          </a:p>
        </p:txBody>
      </p:sp>
      <p:sp>
        <p:nvSpPr>
          <p:cNvPr id="19" name="Shape 14"/>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20" name="Shape 15"/>
          <p:cNvSpPr/>
          <p:nvPr/>
        </p:nvSpPr>
        <p:spPr>
          <a:xfrm>
            <a:off x="685800" y="6025896"/>
            <a:ext cx="475488" cy="475488"/>
          </a:xfrm>
          <a:prstGeom prst="ellipse">
            <a:avLst/>
          </a:prstGeom>
          <a:solidFill>
            <a:srgbClr val="F5B700"/>
          </a:solidFill>
          <a:ln w="12700">
            <a:solidFill>
              <a:srgbClr val="F5B700"/>
            </a:solidFill>
            <a:prstDash val="solid"/>
          </a:ln>
        </p:spPr>
      </p:sp>
      <p:pic>
        <p:nvPicPr>
          <p:cNvPr id="21" name="Image 3" descr="preencoded.png"/>
          <p:cNvPicPr>
            <a:picLocks noChangeAspect="1"/>
          </p:cNvPicPr>
          <p:nvPr/>
        </p:nvPicPr>
        <p:blipFill>
          <a:blip r:embed="rId6"/>
          <a:stretch>
            <a:fillRect/>
          </a:stretch>
        </p:blipFill>
        <p:spPr>
          <a:xfrm>
            <a:off x="809427" y="6149523"/>
            <a:ext cx="228234" cy="228234"/>
          </a:xfrm>
          <a:prstGeom prst="rect">
            <a:avLst/>
          </a:prstGeom>
        </p:spPr>
      </p:pic>
      <p:sp>
        <p:nvSpPr>
          <p:cNvPr id="22" name="Text 16"/>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10 de las 64 parroquias concentran el 41 % de los siniestros. Y aparece Pifo: tercera en fallecidos con solo 98 siniestros.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¿DÓNDE?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Donde hay más siniestros no es donde más se muere</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08_victimas_promedio_por_parroquia.png"/>
          <p:cNvPicPr>
            <a:picLocks noChangeAspect="1"/>
          </p:cNvPicPr>
          <p:nvPr/>
        </p:nvPicPr>
        <p:blipFill>
          <a:blip r:embed="rId3"/>
          <a:stretch>
            <a:fillRect/>
          </a:stretch>
        </p:blipFill>
        <p:spPr>
          <a:xfrm>
            <a:off x="776478" y="1554480"/>
            <a:ext cx="4953000" cy="2971800"/>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9</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Víctimas por siniestro</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Calderón (0,79), Quitumbe y Tumbaco (0,77) arriba; Puengasí e Itchimbía (0,54) abajo.</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09_letalidad_por_parroquia.png"/>
          <p:cNvPicPr>
            <a:picLocks noChangeAspect="1"/>
          </p:cNvPicPr>
          <p:nvPr/>
        </p:nvPicPr>
        <p:blipFill>
          <a:blip r:embed="rId4"/>
          <a:stretch>
            <a:fillRect/>
          </a:stretch>
        </p:blipFill>
        <p:spPr>
          <a:xfrm>
            <a:off x="6459474" y="1554480"/>
            <a:ext cx="4953000" cy="2971800"/>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10</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Fallecidos por cada 100 siniestros</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Calderón 11,6 y Tumbaco 11,1. Iñaquito, la segunda con más siniestros, solo 3,5.</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tráfico denso y lento = muchos siniestros leves. Vías rápidas = pocos siniestros, pero mortales.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¿POR QUÉ?</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Detrás de casi todos los siniestros está el conductor</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10_siniestros_por_causa.png"/>
          <p:cNvPicPr>
            <a:picLocks noChangeAspect="1"/>
          </p:cNvPicPr>
          <p:nvPr/>
        </p:nvPicPr>
        <p:blipFill>
          <a:blip r:embed="rId3"/>
          <a:stretch>
            <a:fillRect/>
          </a:stretch>
        </p:blipFill>
        <p:spPr>
          <a:xfrm>
            <a:off x="640080" y="1733931"/>
            <a:ext cx="5225796" cy="2612898"/>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11</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Imprudencia: 1 de cada 4</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Impericia e imprudencia del conductor 26,6 %, exceso de velocidad 14,8 % y no respetar las señales 11,4 %.</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11_vehiculos_por_tipo.png"/>
          <p:cNvPicPr>
            <a:picLocks noChangeAspect="1"/>
          </p:cNvPicPr>
          <p:nvPr/>
        </p:nvPicPr>
        <p:blipFill>
          <a:blip r:embed="rId4"/>
          <a:stretch>
            <a:fillRect/>
          </a:stretch>
        </p:blipFill>
        <p:spPr>
          <a:xfrm>
            <a:off x="6459474" y="1554480"/>
            <a:ext cx="4953000" cy="2971800"/>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12</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Automóvil y motocicleta</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El automóvil es el 52,9 % de los vehículos involucrados y la motocicleta el 16,9 %.</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velocidad, irrespeto a las señales y alcohol explican juntos cerca del 45 % de los siniestros.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¿QUIÉNES?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El perfil más frecuente: hombres de 20 a 34 años</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12_personas_por_sexo.png"/>
          <p:cNvPicPr>
            <a:picLocks noChangeAspect="1"/>
          </p:cNvPicPr>
          <p:nvPr/>
        </p:nvPicPr>
        <p:blipFill>
          <a:blip r:embed="rId3"/>
          <a:stretch>
            <a:fillRect/>
          </a:stretch>
        </p:blipFill>
        <p:spPr>
          <a:xfrm>
            <a:off x="776478" y="1554480"/>
            <a:ext cx="4953000" cy="2971800"/>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13</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3 de cada 4 son hombres</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14.427 hombres y 4.653 mujeres entre las personas identificadas.</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13_personas_por_grupo_edad.png"/>
          <p:cNvPicPr>
            <a:picLocks noChangeAspect="1"/>
          </p:cNvPicPr>
          <p:nvPr/>
        </p:nvPicPr>
        <p:blipFill>
          <a:blip r:embed="rId4"/>
          <a:stretch>
            <a:fillRect/>
          </a:stretch>
        </p:blipFill>
        <p:spPr>
          <a:xfrm>
            <a:off x="6459474" y="1554480"/>
            <a:ext cx="4953000" cy="2971800"/>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14</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El pico está en 25 a 29 años</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Las personas de 20 a 34 años son el 42,5 % de los involucrados.</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las campañas de prevención deberían hablarle primero a los conductores jóvenes.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¿DÓNDE Y CUÁNDO?</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La zona rural: menos siniestros, pero el doble de letalidad</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14_siniestros_por_zona.png"/>
          <p:cNvPicPr>
            <a:picLocks noChangeAspect="1"/>
          </p:cNvPicPr>
          <p:nvPr/>
        </p:nvPicPr>
        <p:blipFill>
          <a:blip r:embed="rId3"/>
          <a:stretch>
            <a:fillRect/>
          </a:stretch>
        </p:blipFill>
        <p:spPr>
          <a:xfrm>
            <a:off x="776478" y="1554480"/>
            <a:ext cx="4953000" cy="2971800"/>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15</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Urbana 80 %, rural 20 %</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Pero la zona rural registra 11,2 fallecidos por cada 100 siniestros, frente a 4,8 en la urbana.</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15_siniestros_por_mes.png"/>
          <p:cNvPicPr>
            <a:picLocks noChangeAspect="1"/>
          </p:cNvPicPr>
          <p:nvPr/>
        </p:nvPicPr>
        <p:blipFill>
          <a:blip r:embed="rId4"/>
          <a:stretch>
            <a:fillRect/>
          </a:stretch>
        </p:blipFill>
        <p:spPr>
          <a:xfrm>
            <a:off x="6459474" y="1554480"/>
            <a:ext cx="4953000" cy="2971800"/>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16</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Diciembre es el mes más alto</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3.950 siniestros entre 2017 y 2025. Abril es el más bajo, con 3.300.</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la zona rural, con una quinta parte de los siniestros, concentra el 36,8 % de los fallecidos.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ESTACIONALIDAD</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Solo diciembre se sale del promedio: el resto del año es parejo</a:t>
            </a:r>
            <a:endParaRPr lang="en-US" sz="2600" dirty="0"/>
          </a:p>
        </p:txBody>
      </p:sp>
      <p:sp>
        <p:nvSpPr>
          <p:cNvPr id="4" name="Shape 2"/>
          <p:cNvSpPr/>
          <p:nvPr/>
        </p:nvSpPr>
        <p:spPr>
          <a:xfrm>
            <a:off x="548640" y="1463040"/>
            <a:ext cx="3514344" cy="2514600"/>
          </a:xfrm>
          <a:prstGeom prst="roundRect">
            <a:avLst>
              <a:gd name="adj" fmla="val 2909"/>
            </a:avLst>
          </a:prstGeom>
          <a:solidFill>
            <a:srgbClr val="FFFFFF"/>
          </a:solidFill>
          <a:ln w="12700">
            <a:solidFill>
              <a:srgbClr val="FFFFFF"/>
            </a:solidFill>
            <a:prstDash val="solid"/>
          </a:ln>
        </p:spPr>
      </p:sp>
      <p:pic>
        <p:nvPicPr>
          <p:cNvPr id="5" name="Image 0" descr="C:/Users/estre/Downloads/proyecto siniestros viales/resultados/16_siniestros_por_mes.png"/>
          <p:cNvPicPr>
            <a:picLocks noChangeAspect="1"/>
          </p:cNvPicPr>
          <p:nvPr/>
        </p:nvPicPr>
        <p:blipFill>
          <a:blip r:embed="rId3"/>
          <a:stretch>
            <a:fillRect/>
          </a:stretch>
        </p:blipFill>
        <p:spPr>
          <a:xfrm>
            <a:off x="640080" y="1887474"/>
            <a:ext cx="3331464" cy="1665732"/>
          </a:xfrm>
          <a:prstGeom prst="rect">
            <a:avLst/>
          </a:prstGeom>
        </p:spPr>
      </p:pic>
      <p:sp>
        <p:nvSpPr>
          <p:cNvPr id="6" name="Text 3"/>
          <p:cNvSpPr txBox="1"/>
          <p:nvPr/>
        </p:nvSpPr>
        <p:spPr>
          <a:xfrm>
            <a:off x="548640"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17</a:t>
            </a:r>
            <a:endParaRPr lang="en-US" sz="1000" dirty="0"/>
          </a:p>
        </p:txBody>
      </p:sp>
      <p:sp>
        <p:nvSpPr>
          <p:cNvPr id="7" name="Text 4"/>
          <p:cNvSpPr txBox="1"/>
          <p:nvPr/>
        </p:nvSpPr>
        <p:spPr>
          <a:xfrm>
            <a:off x="548640"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Siniestros por mes</a:t>
            </a:r>
            <a:endParaRPr lang="en-US" sz="1500" dirty="0"/>
          </a:p>
        </p:txBody>
      </p:sp>
      <p:sp>
        <p:nvSpPr>
          <p:cNvPr id="8" name="Text 5"/>
          <p:cNvSpPr txBox="1"/>
          <p:nvPr/>
        </p:nvSpPr>
        <p:spPr>
          <a:xfrm>
            <a:off x="548640"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Diciembre 3.950 y abril 3.300. El promedio es de 3.522 por mes.</a:t>
            </a:r>
            <a:endParaRPr lang="en-US" sz="1300" dirty="0"/>
          </a:p>
        </p:txBody>
      </p:sp>
      <p:sp>
        <p:nvSpPr>
          <p:cNvPr id="9" name="Shape 6"/>
          <p:cNvSpPr/>
          <p:nvPr/>
        </p:nvSpPr>
        <p:spPr>
          <a:xfrm>
            <a:off x="4337304" y="1463040"/>
            <a:ext cx="3514344" cy="2514600"/>
          </a:xfrm>
          <a:prstGeom prst="roundRect">
            <a:avLst>
              <a:gd name="adj" fmla="val 2909"/>
            </a:avLst>
          </a:prstGeom>
          <a:solidFill>
            <a:srgbClr val="FFFFFF"/>
          </a:solidFill>
          <a:ln w="12700">
            <a:solidFill>
              <a:srgbClr val="FFFFFF"/>
            </a:solidFill>
            <a:prstDash val="solid"/>
          </a:ln>
        </p:spPr>
      </p:sp>
      <p:pic>
        <p:nvPicPr>
          <p:cNvPr id="10" name="Image 1" descr="C:/Users/estre/Downloads/proyecto siniestros viales/resultados/17_fallecidos_por_mes.png"/>
          <p:cNvPicPr>
            <a:picLocks noChangeAspect="1"/>
          </p:cNvPicPr>
          <p:nvPr/>
        </p:nvPicPr>
        <p:blipFill>
          <a:blip r:embed="rId4"/>
          <a:stretch>
            <a:fillRect/>
          </a:stretch>
        </p:blipFill>
        <p:spPr>
          <a:xfrm>
            <a:off x="4428744" y="1887474"/>
            <a:ext cx="3331464" cy="1665732"/>
          </a:xfrm>
          <a:prstGeom prst="rect">
            <a:avLst/>
          </a:prstGeom>
        </p:spPr>
      </p:pic>
      <p:sp>
        <p:nvSpPr>
          <p:cNvPr id="11" name="Text 7"/>
          <p:cNvSpPr txBox="1"/>
          <p:nvPr/>
        </p:nvSpPr>
        <p:spPr>
          <a:xfrm>
            <a:off x="4337304"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18</a:t>
            </a:r>
            <a:endParaRPr lang="en-US" sz="1000" dirty="0"/>
          </a:p>
        </p:txBody>
      </p:sp>
      <p:sp>
        <p:nvSpPr>
          <p:cNvPr id="12" name="Text 8"/>
          <p:cNvSpPr txBox="1"/>
          <p:nvPr/>
        </p:nvSpPr>
        <p:spPr>
          <a:xfrm>
            <a:off x="4337304"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Fallecidos por mes</a:t>
            </a:r>
            <a:endParaRPr lang="en-US" sz="1500" dirty="0"/>
          </a:p>
        </p:txBody>
      </p:sp>
      <p:sp>
        <p:nvSpPr>
          <p:cNvPr id="13" name="Text 9"/>
          <p:cNvSpPr txBox="1"/>
          <p:nvPr/>
        </p:nvSpPr>
        <p:spPr>
          <a:xfrm>
            <a:off x="4337304"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Diciembre 263 y agosto 240. Agosto tiene pocos siniestros, pero muchos fallecidos.</a:t>
            </a:r>
            <a:endParaRPr lang="en-US" sz="1300" dirty="0"/>
          </a:p>
        </p:txBody>
      </p:sp>
      <p:sp>
        <p:nvSpPr>
          <p:cNvPr id="14" name="Shape 10"/>
          <p:cNvSpPr/>
          <p:nvPr/>
        </p:nvSpPr>
        <p:spPr>
          <a:xfrm>
            <a:off x="8125968" y="1463040"/>
            <a:ext cx="3514344" cy="2514600"/>
          </a:xfrm>
          <a:prstGeom prst="roundRect">
            <a:avLst>
              <a:gd name="adj" fmla="val 2909"/>
            </a:avLst>
          </a:prstGeom>
          <a:solidFill>
            <a:srgbClr val="FFFFFF"/>
          </a:solidFill>
          <a:ln w="12700">
            <a:solidFill>
              <a:srgbClr val="FFFFFF"/>
            </a:solidFill>
            <a:prstDash val="solid"/>
          </a:ln>
        </p:spPr>
      </p:sp>
      <p:pic>
        <p:nvPicPr>
          <p:cNvPr id="15" name="Image 2" descr="C:/Users/estre/Downloads/proyecto siniestros viales/resultados/18_victimas_promedio_por_mes.png"/>
          <p:cNvPicPr>
            <a:picLocks noChangeAspect="1"/>
          </p:cNvPicPr>
          <p:nvPr/>
        </p:nvPicPr>
        <p:blipFill>
          <a:blip r:embed="rId5"/>
          <a:stretch>
            <a:fillRect/>
          </a:stretch>
        </p:blipFill>
        <p:spPr>
          <a:xfrm>
            <a:off x="8217408" y="1887474"/>
            <a:ext cx="3331464" cy="1665732"/>
          </a:xfrm>
          <a:prstGeom prst="rect">
            <a:avLst/>
          </a:prstGeom>
        </p:spPr>
      </p:pic>
      <p:sp>
        <p:nvSpPr>
          <p:cNvPr id="16" name="Text 11"/>
          <p:cNvSpPr txBox="1"/>
          <p:nvPr/>
        </p:nvSpPr>
        <p:spPr>
          <a:xfrm>
            <a:off x="8125968"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19</a:t>
            </a:r>
            <a:endParaRPr lang="en-US" sz="1000" dirty="0"/>
          </a:p>
        </p:txBody>
      </p:sp>
      <p:sp>
        <p:nvSpPr>
          <p:cNvPr id="17" name="Text 12"/>
          <p:cNvSpPr txBox="1"/>
          <p:nvPr/>
        </p:nvSpPr>
        <p:spPr>
          <a:xfrm>
            <a:off x="8125968"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Víctimas por siniestro</a:t>
            </a:r>
            <a:endParaRPr lang="en-US" sz="1500" dirty="0"/>
          </a:p>
        </p:txBody>
      </p:sp>
      <p:sp>
        <p:nvSpPr>
          <p:cNvPr id="18" name="Text 13"/>
          <p:cNvSpPr txBox="1"/>
          <p:nvPr/>
        </p:nvSpPr>
        <p:spPr>
          <a:xfrm>
            <a:off x="8125968"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Se mantiene estable todo el año, entre 0,63 y 0,68.</a:t>
            </a:r>
            <a:endParaRPr lang="en-US" sz="1300" dirty="0"/>
          </a:p>
        </p:txBody>
      </p:sp>
      <p:sp>
        <p:nvSpPr>
          <p:cNvPr id="19" name="Shape 14"/>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20" name="Shape 15"/>
          <p:cNvSpPr/>
          <p:nvPr/>
        </p:nvSpPr>
        <p:spPr>
          <a:xfrm>
            <a:off x="685800" y="6025896"/>
            <a:ext cx="475488" cy="475488"/>
          </a:xfrm>
          <a:prstGeom prst="ellipse">
            <a:avLst/>
          </a:prstGeom>
          <a:solidFill>
            <a:srgbClr val="F5B700"/>
          </a:solidFill>
          <a:ln w="12700">
            <a:solidFill>
              <a:srgbClr val="F5B700"/>
            </a:solidFill>
            <a:prstDash val="solid"/>
          </a:ln>
        </p:spPr>
      </p:sp>
      <p:pic>
        <p:nvPicPr>
          <p:cNvPr id="21" name="Image 3" descr="preencoded.png"/>
          <p:cNvPicPr>
            <a:picLocks noChangeAspect="1"/>
          </p:cNvPicPr>
          <p:nvPr/>
        </p:nvPicPr>
        <p:blipFill>
          <a:blip r:embed="rId6"/>
          <a:stretch>
            <a:fillRect/>
          </a:stretch>
        </p:blipFill>
        <p:spPr>
          <a:xfrm>
            <a:off x="809427" y="6149523"/>
            <a:ext cx="228234" cy="228234"/>
          </a:xfrm>
          <a:prstGeom prst="rect">
            <a:avLst/>
          </a:prstGeom>
        </p:spPr>
      </p:pic>
      <p:sp>
        <p:nvSpPr>
          <p:cNvPr id="22" name="Text 16"/>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diciembre fue el mes con más siniestros en 5 de los 9 años. Agosto llama la atención: menos siniestros, pero más graves.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ESTACIONALIDAD</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La hora y el día pesan mucho más que el mes</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19_siniestros_por_trimestre.png"/>
          <p:cNvPicPr>
            <a:picLocks noChangeAspect="1"/>
          </p:cNvPicPr>
          <p:nvPr/>
        </p:nvPicPr>
        <p:blipFill>
          <a:blip r:embed="rId3"/>
          <a:stretch>
            <a:fillRect/>
          </a:stretch>
        </p:blipFill>
        <p:spPr>
          <a:xfrm>
            <a:off x="1024128" y="1554480"/>
            <a:ext cx="4457700" cy="2971800"/>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20</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El cuarto trimestre es el más alto</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11.080 siniestros, apenas 7,8 % más que el segundo trimestre (10.281).</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20_estacionalidad.png"/>
          <p:cNvPicPr>
            <a:picLocks noChangeAspect="1"/>
          </p:cNvPicPr>
          <p:nvPr/>
        </p:nvPicPr>
        <p:blipFill>
          <a:blip r:embed="rId4"/>
          <a:stretch>
            <a:fillRect/>
          </a:stretch>
        </p:blipFill>
        <p:spPr>
          <a:xfrm>
            <a:off x="6323076" y="1733931"/>
            <a:ext cx="5225796" cy="2612898"/>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21</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Temporada alta y baja</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Diciembre +12,1 % y octubre +4,1 % sobre el promedio; abril −6,3 %. Los demás, a menos de 3 %.</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entre la hora más alta y la más baja hay 1,98 veces de diferencia; entre días, 1,57; entre meses, solo 1,20.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CORRELACIONES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variables se mueven juntas? Lo medimos por parroquia</a:t>
            </a:r>
            <a:endParaRPr lang="en-US" sz="2600" dirty="0"/>
          </a:p>
        </p:txBody>
      </p:sp>
      <p:sp>
        <p:nvSpPr>
          <p:cNvPr id="4" name="Shape 2"/>
          <p:cNvSpPr/>
          <p:nvPr/>
        </p:nvSpPr>
        <p:spPr>
          <a:xfrm>
            <a:off x="548640" y="1463040"/>
            <a:ext cx="5408676" cy="3154680"/>
          </a:xfrm>
          <a:prstGeom prst="roundRect">
            <a:avLst>
              <a:gd name="adj" fmla="val 2319"/>
            </a:avLst>
          </a:prstGeom>
          <a:solidFill>
            <a:srgbClr val="FFFFFF"/>
          </a:solidFill>
          <a:ln w="12700">
            <a:solidFill>
              <a:srgbClr val="FFFFFF"/>
            </a:solidFill>
            <a:prstDash val="solid"/>
          </a:ln>
        </p:spPr>
      </p:sp>
      <p:pic>
        <p:nvPicPr>
          <p:cNvPr id="5" name="Image 0" descr="C:/Users/estre/Downloads/proyecto siniestros viales/resultados/21_matriz_correlacion.png"/>
          <p:cNvPicPr>
            <a:picLocks noChangeAspect="1"/>
          </p:cNvPicPr>
          <p:nvPr/>
        </p:nvPicPr>
        <p:blipFill>
          <a:blip r:embed="rId3"/>
          <a:stretch>
            <a:fillRect/>
          </a:stretch>
        </p:blipFill>
        <p:spPr>
          <a:xfrm>
            <a:off x="1342535" y="1554480"/>
            <a:ext cx="3820886" cy="2971800"/>
          </a:xfrm>
          <a:prstGeom prst="rect">
            <a:avLst/>
          </a:prstGeom>
        </p:spPr>
      </p:pic>
      <p:sp>
        <p:nvSpPr>
          <p:cNvPr id="6" name="Text 3"/>
          <p:cNvSpPr txBox="1"/>
          <p:nvPr/>
        </p:nvSpPr>
        <p:spPr>
          <a:xfrm>
            <a:off x="548640"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22</a:t>
            </a:r>
            <a:endParaRPr lang="en-US" sz="1000" dirty="0"/>
          </a:p>
        </p:txBody>
      </p:sp>
      <p:sp>
        <p:nvSpPr>
          <p:cNvPr id="7" name="Text 4"/>
          <p:cNvSpPr txBox="1"/>
          <p:nvPr/>
        </p:nvSpPr>
        <p:spPr>
          <a:xfrm>
            <a:off x="548640"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Dos grupos de variables</a:t>
            </a:r>
            <a:endParaRPr lang="en-US" sz="1700" dirty="0"/>
          </a:p>
        </p:txBody>
      </p:sp>
      <p:sp>
        <p:nvSpPr>
          <p:cNvPr id="8" name="Text 5"/>
          <p:cNvSpPr txBox="1"/>
          <p:nvPr/>
        </p:nvSpPr>
        <p:spPr>
          <a:xfrm>
            <a:off x="548640"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Las de cantidad (siniestros, lesionados, fallecidos) van juntas. Las de gravedad van por otro lado.</a:t>
            </a:r>
            <a:endParaRPr lang="en-US" sz="1300" dirty="0"/>
          </a:p>
        </p:txBody>
      </p:sp>
      <p:sp>
        <p:nvSpPr>
          <p:cNvPr id="9" name="Shape 6"/>
          <p:cNvSpPr/>
          <p:nvPr/>
        </p:nvSpPr>
        <p:spPr>
          <a:xfrm>
            <a:off x="6231636" y="1463040"/>
            <a:ext cx="5408676" cy="3154680"/>
          </a:xfrm>
          <a:prstGeom prst="roundRect">
            <a:avLst>
              <a:gd name="adj" fmla="val 2319"/>
            </a:avLst>
          </a:prstGeom>
          <a:solidFill>
            <a:srgbClr val="FFFFFF"/>
          </a:solidFill>
          <a:ln w="12700">
            <a:solidFill>
              <a:srgbClr val="FFFFFF"/>
            </a:solidFill>
            <a:prstDash val="solid"/>
          </a:ln>
        </p:spPr>
      </p:sp>
      <p:pic>
        <p:nvPicPr>
          <p:cNvPr id="10" name="Image 1" descr="C:/Users/estre/Downloads/proyecto siniestros viales/resultados/22_correlacion_con_fallecidos.png"/>
          <p:cNvPicPr>
            <a:picLocks noChangeAspect="1"/>
          </p:cNvPicPr>
          <p:nvPr/>
        </p:nvPicPr>
        <p:blipFill>
          <a:blip r:embed="rId4"/>
          <a:stretch>
            <a:fillRect/>
          </a:stretch>
        </p:blipFill>
        <p:spPr>
          <a:xfrm>
            <a:off x="6707124" y="1554480"/>
            <a:ext cx="4457700" cy="2971800"/>
          </a:xfrm>
          <a:prstGeom prst="rect">
            <a:avLst/>
          </a:prstGeom>
        </p:spPr>
      </p:pic>
      <p:sp>
        <p:nvSpPr>
          <p:cNvPr id="11" name="Text 7"/>
          <p:cNvSpPr txBox="1"/>
          <p:nvPr/>
        </p:nvSpPr>
        <p:spPr>
          <a:xfrm>
            <a:off x="6231636" y="4745736"/>
            <a:ext cx="5408676"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23</a:t>
            </a:r>
            <a:endParaRPr lang="en-US" sz="1000" dirty="0"/>
          </a:p>
        </p:txBody>
      </p:sp>
      <p:sp>
        <p:nvSpPr>
          <p:cNvPr id="12" name="Text 8"/>
          <p:cNvSpPr txBox="1"/>
          <p:nvPr/>
        </p:nvSpPr>
        <p:spPr>
          <a:xfrm>
            <a:off x="6231636" y="4983480"/>
            <a:ext cx="5408676" cy="365760"/>
          </a:xfrm>
          <a:prstGeom prst="rect">
            <a:avLst/>
          </a:prstGeom>
          <a:noFill/>
          <a:ln/>
        </p:spPr>
        <p:txBody>
          <a:bodyPr wrap="square" lIns="0" tIns="0" rIns="0" bIns="0" rtlCol="0" anchor="ctr"/>
          <a:lstStyle/>
          <a:p>
            <a:pPr marL="0" indent="0">
              <a:buNone/>
            </a:pPr>
            <a:r>
              <a:rPr lang="en-US" sz="1700" b="1" dirty="0">
                <a:solidFill>
                  <a:srgbClr val="F5B700"/>
                </a:solidFill>
                <a:latin typeface="Arial" pitchFamily="34" charset="0"/>
                <a:ea typeface="Arial" pitchFamily="34" charset="-122"/>
                <a:cs typeface="Arial" pitchFamily="34" charset="-120"/>
              </a:rPr>
              <a:t>¿Qué explica los fallecidos?</a:t>
            </a:r>
            <a:endParaRPr lang="en-US" sz="1700" dirty="0"/>
          </a:p>
        </p:txBody>
      </p:sp>
      <p:sp>
        <p:nvSpPr>
          <p:cNvPr id="13" name="Text 9"/>
          <p:cNvSpPr txBox="1"/>
          <p:nvPr/>
        </p:nvSpPr>
        <p:spPr>
          <a:xfrm>
            <a:off x="6231636" y="5367528"/>
            <a:ext cx="5408676" cy="5486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Los lesionados (0,73) y los siniestros (0,69). La letalidad, casi nada (0,23).</a:t>
            </a:r>
            <a:endParaRPr lang="en-US" sz="1300" dirty="0"/>
          </a:p>
        </p:txBody>
      </p:sp>
      <p:sp>
        <p:nvSpPr>
          <p:cNvPr id="14" name="Shape 10"/>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15" name="Shape 11"/>
          <p:cNvSpPr/>
          <p:nvPr/>
        </p:nvSpPr>
        <p:spPr>
          <a:xfrm>
            <a:off x="685800" y="6025896"/>
            <a:ext cx="475488" cy="475488"/>
          </a:xfrm>
          <a:prstGeom prst="ellipse">
            <a:avLst/>
          </a:prstGeom>
          <a:solidFill>
            <a:srgbClr val="F5B700"/>
          </a:solidFill>
          <a:ln w="12700">
            <a:solidFill>
              <a:srgbClr val="F5B700"/>
            </a:solidFill>
            <a:prstDash val="solid"/>
          </a:ln>
        </p:spPr>
      </p:sp>
      <p:pic>
        <p:nvPicPr>
          <p:cNvPr id="16" name="Image 2" descr="preencoded.png"/>
          <p:cNvPicPr>
            <a:picLocks noChangeAspect="1"/>
          </p:cNvPicPr>
          <p:nvPr/>
        </p:nvPicPr>
        <p:blipFill>
          <a:blip r:embed="rId5"/>
          <a:stretch>
            <a:fillRect/>
          </a:stretch>
        </p:blipFill>
        <p:spPr>
          <a:xfrm>
            <a:off x="809427" y="6149523"/>
            <a:ext cx="228234" cy="228234"/>
          </a:xfrm>
          <a:prstGeom prst="rect">
            <a:avLst/>
          </a:prstGeom>
        </p:spPr>
      </p:pic>
      <p:sp>
        <p:nvSpPr>
          <p:cNvPr id="17" name="Text 12"/>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el número de fallecidos de una parroquia depende más de cuántos siniestros tiene que de qué tan graves son.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04 · CORRELACIONES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Más siniestros, más lesionados… pero menos letalidad</a:t>
            </a:r>
            <a:endParaRPr lang="en-US" sz="2600" dirty="0"/>
          </a:p>
        </p:txBody>
      </p:sp>
      <p:sp>
        <p:nvSpPr>
          <p:cNvPr id="4" name="Shape 2"/>
          <p:cNvSpPr/>
          <p:nvPr/>
        </p:nvSpPr>
        <p:spPr>
          <a:xfrm>
            <a:off x="548640" y="1463040"/>
            <a:ext cx="3514344" cy="2514600"/>
          </a:xfrm>
          <a:prstGeom prst="roundRect">
            <a:avLst>
              <a:gd name="adj" fmla="val 2909"/>
            </a:avLst>
          </a:prstGeom>
          <a:solidFill>
            <a:srgbClr val="FFFFFF"/>
          </a:solidFill>
          <a:ln w="12700">
            <a:solidFill>
              <a:srgbClr val="FFFFFF"/>
            </a:solidFill>
            <a:prstDash val="solid"/>
          </a:ln>
        </p:spPr>
      </p:sp>
      <p:pic>
        <p:nvPicPr>
          <p:cNvPr id="5" name="Image 0" descr="C:/Users/estre/Downloads/proyecto siniestros viales/resultados/23_siniestros_vs_fallecidos.png"/>
          <p:cNvPicPr>
            <a:picLocks noChangeAspect="1"/>
          </p:cNvPicPr>
          <p:nvPr/>
        </p:nvPicPr>
        <p:blipFill>
          <a:blip r:embed="rId3"/>
          <a:stretch>
            <a:fillRect/>
          </a:stretch>
        </p:blipFill>
        <p:spPr>
          <a:xfrm>
            <a:off x="640080" y="1609852"/>
            <a:ext cx="3331464" cy="2220976"/>
          </a:xfrm>
          <a:prstGeom prst="rect">
            <a:avLst/>
          </a:prstGeom>
        </p:spPr>
      </p:pic>
      <p:sp>
        <p:nvSpPr>
          <p:cNvPr id="6" name="Text 3"/>
          <p:cNvSpPr txBox="1"/>
          <p:nvPr/>
        </p:nvSpPr>
        <p:spPr>
          <a:xfrm>
            <a:off x="548640"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24</a:t>
            </a:r>
            <a:endParaRPr lang="en-US" sz="1000" dirty="0"/>
          </a:p>
        </p:txBody>
      </p:sp>
      <p:sp>
        <p:nvSpPr>
          <p:cNvPr id="7" name="Text 4"/>
          <p:cNvSpPr txBox="1"/>
          <p:nvPr/>
        </p:nvSpPr>
        <p:spPr>
          <a:xfrm>
            <a:off x="548640"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0,69 · fuerte</a:t>
            </a:r>
            <a:endParaRPr lang="en-US" sz="1500" dirty="0"/>
          </a:p>
        </p:txBody>
      </p:sp>
      <p:sp>
        <p:nvSpPr>
          <p:cNvPr id="8" name="Text 5"/>
          <p:cNvSpPr txBox="1"/>
          <p:nvPr/>
        </p:nvSpPr>
        <p:spPr>
          <a:xfrm>
            <a:off x="548640"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Más siniestros, más fallecidos, aunque algunas parroquias se salen de la línea.</a:t>
            </a:r>
            <a:endParaRPr lang="en-US" sz="1300" dirty="0"/>
          </a:p>
        </p:txBody>
      </p:sp>
      <p:sp>
        <p:nvSpPr>
          <p:cNvPr id="9" name="Shape 6"/>
          <p:cNvSpPr/>
          <p:nvPr/>
        </p:nvSpPr>
        <p:spPr>
          <a:xfrm>
            <a:off x="4337304" y="1463040"/>
            <a:ext cx="3514344" cy="2514600"/>
          </a:xfrm>
          <a:prstGeom prst="roundRect">
            <a:avLst>
              <a:gd name="adj" fmla="val 2909"/>
            </a:avLst>
          </a:prstGeom>
          <a:solidFill>
            <a:srgbClr val="FFFFFF"/>
          </a:solidFill>
          <a:ln w="12700">
            <a:solidFill>
              <a:srgbClr val="FFFFFF"/>
            </a:solidFill>
            <a:prstDash val="solid"/>
          </a:ln>
        </p:spPr>
      </p:sp>
      <p:pic>
        <p:nvPicPr>
          <p:cNvPr id="10" name="Image 1" descr="C:/Users/estre/Downloads/proyecto siniestros viales/resultados/24_siniestros_vs_lesionados.png"/>
          <p:cNvPicPr>
            <a:picLocks noChangeAspect="1"/>
          </p:cNvPicPr>
          <p:nvPr/>
        </p:nvPicPr>
        <p:blipFill>
          <a:blip r:embed="rId4"/>
          <a:stretch>
            <a:fillRect/>
          </a:stretch>
        </p:blipFill>
        <p:spPr>
          <a:xfrm>
            <a:off x="4428744" y="1609852"/>
            <a:ext cx="3331464" cy="2220976"/>
          </a:xfrm>
          <a:prstGeom prst="rect">
            <a:avLst/>
          </a:prstGeom>
        </p:spPr>
      </p:pic>
      <p:sp>
        <p:nvSpPr>
          <p:cNvPr id="11" name="Text 7"/>
          <p:cNvSpPr txBox="1"/>
          <p:nvPr/>
        </p:nvSpPr>
        <p:spPr>
          <a:xfrm>
            <a:off x="4337304"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25</a:t>
            </a:r>
            <a:endParaRPr lang="en-US" sz="1000" dirty="0"/>
          </a:p>
        </p:txBody>
      </p:sp>
      <p:sp>
        <p:nvSpPr>
          <p:cNvPr id="12" name="Text 8"/>
          <p:cNvSpPr txBox="1"/>
          <p:nvPr/>
        </p:nvSpPr>
        <p:spPr>
          <a:xfrm>
            <a:off x="4337304"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0,97 · muy fuerte</a:t>
            </a:r>
            <a:endParaRPr lang="en-US" sz="1500" dirty="0"/>
          </a:p>
        </p:txBody>
      </p:sp>
      <p:sp>
        <p:nvSpPr>
          <p:cNvPr id="13" name="Text 9"/>
          <p:cNvSpPr txBox="1"/>
          <p:nvPr/>
        </p:nvSpPr>
        <p:spPr>
          <a:xfrm>
            <a:off x="4337304"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Casi una línea recta: donde hay más siniestros hay más lesionados.</a:t>
            </a:r>
            <a:endParaRPr lang="en-US" sz="1300" dirty="0"/>
          </a:p>
        </p:txBody>
      </p:sp>
      <p:sp>
        <p:nvSpPr>
          <p:cNvPr id="14" name="Shape 10"/>
          <p:cNvSpPr/>
          <p:nvPr/>
        </p:nvSpPr>
        <p:spPr>
          <a:xfrm>
            <a:off x="8125968" y="1463040"/>
            <a:ext cx="3514344" cy="2514600"/>
          </a:xfrm>
          <a:prstGeom prst="roundRect">
            <a:avLst>
              <a:gd name="adj" fmla="val 2909"/>
            </a:avLst>
          </a:prstGeom>
          <a:solidFill>
            <a:srgbClr val="FFFFFF"/>
          </a:solidFill>
          <a:ln w="12700">
            <a:solidFill>
              <a:srgbClr val="FFFFFF"/>
            </a:solidFill>
            <a:prstDash val="solid"/>
          </a:ln>
        </p:spPr>
      </p:sp>
      <p:pic>
        <p:nvPicPr>
          <p:cNvPr id="15" name="Image 2" descr="C:/Users/estre/Downloads/proyecto siniestros viales/resultados/25_siniestros_vs_letalidad.png"/>
          <p:cNvPicPr>
            <a:picLocks noChangeAspect="1"/>
          </p:cNvPicPr>
          <p:nvPr/>
        </p:nvPicPr>
        <p:blipFill>
          <a:blip r:embed="rId5"/>
          <a:stretch>
            <a:fillRect/>
          </a:stretch>
        </p:blipFill>
        <p:spPr>
          <a:xfrm>
            <a:off x="8217408" y="1609852"/>
            <a:ext cx="3331464" cy="2220976"/>
          </a:xfrm>
          <a:prstGeom prst="rect">
            <a:avLst/>
          </a:prstGeom>
        </p:spPr>
      </p:pic>
      <p:sp>
        <p:nvSpPr>
          <p:cNvPr id="16" name="Text 11"/>
          <p:cNvSpPr txBox="1"/>
          <p:nvPr/>
        </p:nvSpPr>
        <p:spPr>
          <a:xfrm>
            <a:off x="8125968" y="4105656"/>
            <a:ext cx="3514344" cy="228600"/>
          </a:xfrm>
          <a:prstGeom prst="rect">
            <a:avLst/>
          </a:prstGeom>
          <a:noFill/>
          <a:ln/>
        </p:spPr>
        <p:txBody>
          <a:bodyPr wrap="square" lIns="0" tIns="0" rIns="0" bIns="0" rtlCol="0" anchor="ctr"/>
          <a:lstStyle/>
          <a:p>
            <a:pPr marL="0" indent="0">
              <a:buNone/>
            </a:pPr>
            <a:r>
              <a:rPr lang="en-US" sz="1000" b="1" kern="0" spc="100" dirty="0">
                <a:solidFill>
                  <a:srgbClr val="6B7385"/>
                </a:solidFill>
                <a:latin typeface="Calibri" pitchFamily="34" charset="0"/>
                <a:ea typeface="Calibri" pitchFamily="34" charset="-122"/>
                <a:cs typeface="Calibri" pitchFamily="34" charset="-120"/>
              </a:rPr>
              <a:t>FIGURA 26</a:t>
            </a:r>
            <a:endParaRPr lang="en-US" sz="1000" dirty="0"/>
          </a:p>
        </p:txBody>
      </p:sp>
      <p:sp>
        <p:nvSpPr>
          <p:cNvPr id="17" name="Text 12"/>
          <p:cNvSpPr txBox="1"/>
          <p:nvPr/>
        </p:nvSpPr>
        <p:spPr>
          <a:xfrm>
            <a:off x="8125968" y="4343400"/>
            <a:ext cx="3514344" cy="365760"/>
          </a:xfrm>
          <a:prstGeom prst="rect">
            <a:avLst/>
          </a:prstGeom>
          <a:noFill/>
          <a:ln/>
        </p:spPr>
        <p:txBody>
          <a:bodyPr wrap="square" lIns="0" tIns="0" rIns="0" bIns="0" rtlCol="0" anchor="ctr"/>
          <a:lstStyle/>
          <a:p>
            <a:pPr marL="0" indent="0">
              <a:buNone/>
            </a:pPr>
            <a:r>
              <a:rPr lang="en-US" sz="1500" b="1" dirty="0">
                <a:solidFill>
                  <a:srgbClr val="F5B700"/>
                </a:solidFill>
                <a:latin typeface="Arial" pitchFamily="34" charset="0"/>
                <a:ea typeface="Arial" pitchFamily="34" charset="-122"/>
                <a:cs typeface="Arial" pitchFamily="34" charset="-120"/>
              </a:rPr>
              <a:t>−0,39 · negativa</a:t>
            </a:r>
            <a:endParaRPr lang="en-US" sz="1500" dirty="0"/>
          </a:p>
        </p:txBody>
      </p:sp>
      <p:sp>
        <p:nvSpPr>
          <p:cNvPr id="18" name="Text 13"/>
          <p:cNvSpPr txBox="1"/>
          <p:nvPr/>
        </p:nvSpPr>
        <p:spPr>
          <a:xfrm>
            <a:off x="8125968" y="4727448"/>
            <a:ext cx="3514344" cy="777240"/>
          </a:xfrm>
          <a:prstGeom prst="rect">
            <a:avLst/>
          </a:prstGeom>
          <a:noFill/>
          <a:ln/>
        </p:spPr>
        <p:txBody>
          <a:bodyPr wrap="square" lIns="0" tIns="0" rIns="0" bIns="0" rtlCol="0" anchor="t"/>
          <a:lstStyle/>
          <a:p>
            <a:pPr marL="0" indent="0">
              <a:buNone/>
            </a:pPr>
            <a:r>
              <a:rPr lang="en-US" sz="1300" dirty="0">
                <a:solidFill>
                  <a:srgbClr val="A7B0C0"/>
                </a:solidFill>
                <a:latin typeface="Calibri" pitchFamily="34" charset="0"/>
                <a:ea typeface="Calibri" pitchFamily="34" charset="-122"/>
                <a:cs typeface="Calibri" pitchFamily="34" charset="-120"/>
              </a:rPr>
              <a:t>Las parroquias con menos siniestros son las que tienen la letalidad más alta.</a:t>
            </a:r>
            <a:endParaRPr lang="en-US" sz="1300" dirty="0"/>
          </a:p>
        </p:txBody>
      </p:sp>
      <p:sp>
        <p:nvSpPr>
          <p:cNvPr id="19" name="Shape 14"/>
          <p:cNvSpPr/>
          <p:nvPr/>
        </p:nvSpPr>
        <p:spPr>
          <a:xfrm>
            <a:off x="548640" y="5943600"/>
            <a:ext cx="11091672" cy="640080"/>
          </a:xfrm>
          <a:prstGeom prst="roundRect">
            <a:avLst>
              <a:gd name="adj" fmla="val 14286"/>
            </a:avLst>
          </a:prstGeom>
          <a:solidFill>
            <a:srgbClr val="262C3B"/>
          </a:solidFill>
          <a:ln w="12700">
            <a:solidFill>
              <a:srgbClr val="262C3B"/>
            </a:solidFill>
            <a:prstDash val="solid"/>
          </a:ln>
        </p:spPr>
      </p:sp>
      <p:sp>
        <p:nvSpPr>
          <p:cNvPr id="20" name="Shape 15"/>
          <p:cNvSpPr/>
          <p:nvPr/>
        </p:nvSpPr>
        <p:spPr>
          <a:xfrm>
            <a:off x="685800" y="6025896"/>
            <a:ext cx="475488" cy="475488"/>
          </a:xfrm>
          <a:prstGeom prst="ellipse">
            <a:avLst/>
          </a:prstGeom>
          <a:solidFill>
            <a:srgbClr val="F5B700"/>
          </a:solidFill>
          <a:ln w="12700">
            <a:solidFill>
              <a:srgbClr val="F5B700"/>
            </a:solidFill>
            <a:prstDash val="solid"/>
          </a:ln>
        </p:spPr>
      </p:sp>
      <p:pic>
        <p:nvPicPr>
          <p:cNvPr id="21" name="Image 3" descr="preencoded.png"/>
          <p:cNvPicPr>
            <a:picLocks noChangeAspect="1"/>
          </p:cNvPicPr>
          <p:nvPr/>
        </p:nvPicPr>
        <p:blipFill>
          <a:blip r:embed="rId6"/>
          <a:stretch>
            <a:fillRect/>
          </a:stretch>
        </p:blipFill>
        <p:spPr>
          <a:xfrm>
            <a:off x="809427" y="6149523"/>
            <a:ext cx="228234" cy="228234"/>
          </a:xfrm>
          <a:prstGeom prst="rect">
            <a:avLst/>
          </a:prstGeom>
        </p:spPr>
      </p:pic>
      <p:sp>
        <p:nvSpPr>
          <p:cNvPr id="22" name="Text 16"/>
          <p:cNvSpPr txBox="1"/>
          <p:nvPr/>
        </p:nvSpPr>
        <p:spPr>
          <a:xfrm>
            <a:off x="1325880" y="5943600"/>
            <a:ext cx="10149840" cy="640080"/>
          </a:xfrm>
          <a:prstGeom prst="rect">
            <a:avLst/>
          </a:prstGeom>
          <a:noFill/>
          <a:ln/>
        </p:spPr>
        <p:txBody>
          <a:bodyPr wrap="square" lIns="0" tIns="0" rIns="0" bIns="0" rtlCol="0" anchor="ctr"/>
          <a:lstStyle/>
          <a:p>
            <a:pPr marL="0" indent="0">
              <a:buNone/>
            </a:pPr>
            <a:r>
              <a:rPr lang="en-US" sz="1400" b="1" dirty="0">
                <a:solidFill>
                  <a:srgbClr val="F5B700"/>
                </a:solidFill>
                <a:latin typeface="Calibri" pitchFamily="34" charset="0"/>
                <a:ea typeface="Calibri" pitchFamily="34" charset="-122"/>
                <a:cs typeface="Calibri" pitchFamily="34" charset="-120"/>
              </a:rPr>
              <a:t>Lo que concluimos: </a:t>
            </a:r>
            <a:r>
              <a:rPr lang="en-US" sz="1400" dirty="0">
                <a:solidFill>
                  <a:srgbClr val="FFFFFF"/>
                </a:solidFill>
                <a:latin typeface="Calibri" pitchFamily="34" charset="0"/>
                <a:ea typeface="Calibri" pitchFamily="34" charset="-122"/>
                <a:cs typeface="Calibri" pitchFamily="34" charset="-120"/>
              </a:rPr>
              <a:t>cantidad y gravedad son dos problemas distintos. Y correlación no significa causa.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14171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marL="0" indent="0">
              <a:buNone/>
            </a:pPr>
            <a:r>
              <a:rPr lang="en-US" sz="1200" b="1" kern="0" spc="200" dirty="0">
                <a:solidFill>
                  <a:srgbClr val="F5B700"/>
                </a:solidFill>
                <a:latin typeface="Calibri" pitchFamily="34" charset="0"/>
                <a:ea typeface="Calibri" pitchFamily="34" charset="-122"/>
                <a:cs typeface="Calibri" pitchFamily="34" charset="-120"/>
              </a:rPr>
              <a:t>05 · SÍNTESIS DE HALLAZGOS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Seis conclusiones después de analizar 44.982 siniestros</a:t>
            </a:r>
            <a:endParaRPr lang="en-US" sz="2600" dirty="0"/>
          </a:p>
        </p:txBody>
      </p:sp>
      <p:sp>
        <p:nvSpPr>
          <p:cNvPr id="4" name="Shape 2"/>
          <p:cNvSpPr/>
          <p:nvPr/>
        </p:nvSpPr>
        <p:spPr>
          <a:xfrm>
            <a:off x="548640" y="1463040"/>
            <a:ext cx="3520440" cy="1920240"/>
          </a:xfrm>
          <a:prstGeom prst="roundRect">
            <a:avLst>
              <a:gd name="adj" fmla="val 4762"/>
            </a:avLst>
          </a:prstGeom>
          <a:solidFill>
            <a:srgbClr val="1E2330"/>
          </a:solidFill>
          <a:ln w="12700">
            <a:solidFill>
              <a:srgbClr val="1E2330"/>
            </a:solidFill>
            <a:prstDash val="solid"/>
          </a:ln>
        </p:spPr>
      </p:sp>
      <p:sp>
        <p:nvSpPr>
          <p:cNvPr id="5" name="Shape 3"/>
          <p:cNvSpPr/>
          <p:nvPr/>
        </p:nvSpPr>
        <p:spPr>
          <a:xfrm>
            <a:off x="822960" y="1737360"/>
            <a:ext cx="640080" cy="640080"/>
          </a:xfrm>
          <a:prstGeom prst="ellipse">
            <a:avLst/>
          </a:prstGeom>
          <a:solidFill>
            <a:srgbClr val="F5B700"/>
          </a:solidFill>
          <a:ln w="12700">
            <a:solidFill>
              <a:srgbClr val="F5B700"/>
            </a:solidFill>
            <a:prstDash val="solid"/>
          </a:ln>
        </p:spPr>
      </p:sp>
      <p:pic>
        <p:nvPicPr>
          <p:cNvPr id="6" name="Image 0" descr="preencoded.png"/>
          <p:cNvPicPr>
            <a:picLocks noChangeAspect="1"/>
          </p:cNvPicPr>
          <p:nvPr/>
        </p:nvPicPr>
        <p:blipFill>
          <a:blip r:embed="rId3"/>
          <a:stretch>
            <a:fillRect/>
          </a:stretch>
        </p:blipFill>
        <p:spPr>
          <a:xfrm>
            <a:off x="989381" y="1903781"/>
            <a:ext cx="307238" cy="307238"/>
          </a:xfrm>
          <a:prstGeom prst="rect">
            <a:avLst/>
          </a:prstGeom>
        </p:spPr>
      </p:pic>
      <p:sp>
        <p:nvSpPr>
          <p:cNvPr id="7" name="Text 4"/>
          <p:cNvSpPr txBox="1"/>
          <p:nvPr/>
        </p:nvSpPr>
        <p:spPr>
          <a:xfrm>
            <a:off x="3291840" y="1737360"/>
            <a:ext cx="502920" cy="548640"/>
          </a:xfrm>
          <a:prstGeom prst="rect">
            <a:avLst/>
          </a:prstGeom>
          <a:noFill/>
          <a:ln/>
        </p:spPr>
        <p:txBody>
          <a:bodyPr wrap="square" lIns="0" tIns="0" rIns="0" bIns="0" rtlCol="0" anchor="ctr"/>
          <a:lstStyle/>
          <a:p>
            <a:pPr marL="0" indent="0" algn="r">
              <a:buNone/>
            </a:pPr>
            <a:r>
              <a:rPr lang="en-US" sz="2600" b="1" dirty="0">
                <a:solidFill>
                  <a:srgbClr val="6B7385"/>
                </a:solidFill>
                <a:latin typeface="Arial" pitchFamily="34" charset="0"/>
                <a:ea typeface="Arial" pitchFamily="34" charset="-122"/>
                <a:cs typeface="Arial" pitchFamily="34" charset="-120"/>
              </a:rPr>
              <a:t>1</a:t>
            </a:r>
            <a:endParaRPr lang="en-US" sz="2600" dirty="0"/>
          </a:p>
        </p:txBody>
      </p:sp>
      <p:sp>
        <p:nvSpPr>
          <p:cNvPr id="8" name="Text 5"/>
          <p:cNvSpPr txBox="1"/>
          <p:nvPr/>
        </p:nvSpPr>
        <p:spPr>
          <a:xfrm>
            <a:off x="822960" y="2487168"/>
            <a:ext cx="30175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Menos siniestros, más mortales</a:t>
            </a:r>
            <a:endParaRPr lang="en-US" sz="1700" dirty="0"/>
          </a:p>
        </p:txBody>
      </p:sp>
      <p:sp>
        <p:nvSpPr>
          <p:cNvPr id="9" name="Text 6"/>
          <p:cNvSpPr txBox="1"/>
          <p:nvPr/>
        </p:nvSpPr>
        <p:spPr>
          <a:xfrm>
            <a:off x="822960" y="2834640"/>
            <a:ext cx="3017520" cy="502920"/>
          </a:xfrm>
          <a:prstGeom prst="rect">
            <a:avLst/>
          </a:prstGeom>
          <a:noFill/>
          <a:ln/>
        </p:spPr>
        <p:txBody>
          <a:bodyPr wrap="square" lIns="0" tIns="0" rIns="0" bIns="0" rtlCol="0" anchor="t"/>
          <a:lstStyle/>
          <a:p>
            <a:pPr marL="0" indent="0">
              <a:buNone/>
            </a:pPr>
            <a:r>
              <a:rPr lang="en-US" sz="1250" dirty="0">
                <a:solidFill>
                  <a:srgbClr val="A7B0C0"/>
                </a:solidFill>
                <a:latin typeface="Calibri" pitchFamily="34" charset="0"/>
                <a:ea typeface="Calibri" pitchFamily="34" charset="-122"/>
                <a:cs typeface="Calibri" pitchFamily="34" charset="-120"/>
              </a:rPr>
              <a:t>La letalidad pasó de 31 a 85 fallecidos por cada 1.000 siniestros.</a:t>
            </a:r>
            <a:endParaRPr lang="en-US" sz="1250" dirty="0"/>
          </a:p>
        </p:txBody>
      </p:sp>
      <p:sp>
        <p:nvSpPr>
          <p:cNvPr id="10" name="Shape 7"/>
          <p:cNvSpPr/>
          <p:nvPr/>
        </p:nvSpPr>
        <p:spPr>
          <a:xfrm>
            <a:off x="4297680" y="1463040"/>
            <a:ext cx="3520440" cy="1920240"/>
          </a:xfrm>
          <a:prstGeom prst="roundRect">
            <a:avLst>
              <a:gd name="adj" fmla="val 4762"/>
            </a:avLst>
          </a:prstGeom>
          <a:solidFill>
            <a:srgbClr val="1E2330"/>
          </a:solidFill>
          <a:ln w="12700">
            <a:solidFill>
              <a:srgbClr val="1E2330"/>
            </a:solidFill>
            <a:prstDash val="solid"/>
          </a:ln>
        </p:spPr>
      </p:sp>
      <p:sp>
        <p:nvSpPr>
          <p:cNvPr id="11" name="Shape 8"/>
          <p:cNvSpPr/>
          <p:nvPr/>
        </p:nvSpPr>
        <p:spPr>
          <a:xfrm>
            <a:off x="4572000" y="1737360"/>
            <a:ext cx="640080" cy="640080"/>
          </a:xfrm>
          <a:prstGeom prst="ellipse">
            <a:avLst/>
          </a:prstGeom>
          <a:solidFill>
            <a:srgbClr val="F5B700"/>
          </a:solidFill>
          <a:ln w="12700">
            <a:solidFill>
              <a:srgbClr val="F5B700"/>
            </a:solidFill>
            <a:prstDash val="solid"/>
          </a:ln>
        </p:spPr>
      </p:sp>
      <p:pic>
        <p:nvPicPr>
          <p:cNvPr id="12" name="Image 1" descr="preencoded.png"/>
          <p:cNvPicPr>
            <a:picLocks noChangeAspect="1"/>
          </p:cNvPicPr>
          <p:nvPr/>
        </p:nvPicPr>
        <p:blipFill>
          <a:blip r:embed="rId4"/>
          <a:stretch>
            <a:fillRect/>
          </a:stretch>
        </p:blipFill>
        <p:spPr>
          <a:xfrm>
            <a:off x="4738421" y="1903781"/>
            <a:ext cx="307238" cy="307238"/>
          </a:xfrm>
          <a:prstGeom prst="rect">
            <a:avLst/>
          </a:prstGeom>
        </p:spPr>
      </p:pic>
      <p:sp>
        <p:nvSpPr>
          <p:cNvPr id="13" name="Text 9"/>
          <p:cNvSpPr txBox="1"/>
          <p:nvPr/>
        </p:nvSpPr>
        <p:spPr>
          <a:xfrm>
            <a:off x="7040880" y="1737360"/>
            <a:ext cx="502920" cy="548640"/>
          </a:xfrm>
          <a:prstGeom prst="rect">
            <a:avLst/>
          </a:prstGeom>
          <a:noFill/>
          <a:ln/>
        </p:spPr>
        <p:txBody>
          <a:bodyPr wrap="square" lIns="0" tIns="0" rIns="0" bIns="0" rtlCol="0" anchor="ctr"/>
          <a:lstStyle/>
          <a:p>
            <a:pPr marL="0" indent="0" algn="r">
              <a:buNone/>
            </a:pPr>
            <a:r>
              <a:rPr lang="en-US" sz="2600" b="1" dirty="0">
                <a:solidFill>
                  <a:srgbClr val="6B7385"/>
                </a:solidFill>
                <a:latin typeface="Arial" pitchFamily="34" charset="0"/>
                <a:ea typeface="Arial" pitchFamily="34" charset="-122"/>
                <a:cs typeface="Arial" pitchFamily="34" charset="-120"/>
              </a:rPr>
              <a:t>2</a:t>
            </a:r>
            <a:endParaRPr lang="en-US" sz="2600" dirty="0"/>
          </a:p>
        </p:txBody>
      </p:sp>
      <p:sp>
        <p:nvSpPr>
          <p:cNvPr id="14" name="Text 10"/>
          <p:cNvSpPr txBox="1"/>
          <p:nvPr/>
        </p:nvSpPr>
        <p:spPr>
          <a:xfrm>
            <a:off x="4572000" y="2487168"/>
            <a:ext cx="30175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Tienen horario</a:t>
            </a:r>
            <a:endParaRPr lang="en-US" sz="1700" dirty="0"/>
          </a:p>
        </p:txBody>
      </p:sp>
      <p:sp>
        <p:nvSpPr>
          <p:cNvPr id="15" name="Text 11"/>
          <p:cNvSpPr txBox="1"/>
          <p:nvPr/>
        </p:nvSpPr>
        <p:spPr>
          <a:xfrm>
            <a:off x="4572000" y="2834640"/>
            <a:ext cx="3017520" cy="502920"/>
          </a:xfrm>
          <a:prstGeom prst="rect">
            <a:avLst/>
          </a:prstGeom>
          <a:noFill/>
          <a:ln/>
        </p:spPr>
        <p:txBody>
          <a:bodyPr wrap="square" lIns="0" tIns="0" rIns="0" bIns="0" rtlCol="0" anchor="t"/>
          <a:lstStyle/>
          <a:p>
            <a:pPr marL="0" indent="0">
              <a:buNone/>
            </a:pPr>
            <a:r>
              <a:rPr lang="en-US" sz="1250" dirty="0">
                <a:solidFill>
                  <a:srgbClr val="A7B0C0"/>
                </a:solidFill>
                <a:latin typeface="Calibri" pitchFamily="34" charset="0"/>
                <a:ea typeface="Calibri" pitchFamily="34" charset="-122"/>
                <a:cs typeface="Calibri" pitchFamily="34" charset="-120"/>
              </a:rPr>
              <a:t>07:00 y 19:00, y el sábado. Se repite todos los años.</a:t>
            </a:r>
            <a:endParaRPr lang="en-US" sz="1250" dirty="0"/>
          </a:p>
        </p:txBody>
      </p:sp>
      <p:sp>
        <p:nvSpPr>
          <p:cNvPr id="16" name="Shape 12"/>
          <p:cNvSpPr/>
          <p:nvPr/>
        </p:nvSpPr>
        <p:spPr>
          <a:xfrm>
            <a:off x="8046720" y="1463040"/>
            <a:ext cx="3520440" cy="1920240"/>
          </a:xfrm>
          <a:prstGeom prst="roundRect">
            <a:avLst>
              <a:gd name="adj" fmla="val 4762"/>
            </a:avLst>
          </a:prstGeom>
          <a:solidFill>
            <a:srgbClr val="1E2330"/>
          </a:solidFill>
          <a:ln w="12700">
            <a:solidFill>
              <a:srgbClr val="1E2330"/>
            </a:solidFill>
            <a:prstDash val="solid"/>
          </a:ln>
        </p:spPr>
      </p:sp>
      <p:sp>
        <p:nvSpPr>
          <p:cNvPr id="17" name="Shape 13"/>
          <p:cNvSpPr/>
          <p:nvPr/>
        </p:nvSpPr>
        <p:spPr>
          <a:xfrm>
            <a:off x="8321040" y="1737360"/>
            <a:ext cx="640080" cy="640080"/>
          </a:xfrm>
          <a:prstGeom prst="ellipse">
            <a:avLst/>
          </a:prstGeom>
          <a:solidFill>
            <a:srgbClr val="F5B700"/>
          </a:solidFill>
          <a:ln w="12700">
            <a:solidFill>
              <a:srgbClr val="F5B700"/>
            </a:solidFill>
            <a:prstDash val="solid"/>
          </a:ln>
        </p:spPr>
      </p:sp>
      <p:pic>
        <p:nvPicPr>
          <p:cNvPr id="18" name="Image 2" descr="preencoded.png"/>
          <p:cNvPicPr>
            <a:picLocks noChangeAspect="1"/>
          </p:cNvPicPr>
          <p:nvPr/>
        </p:nvPicPr>
        <p:blipFill>
          <a:blip r:embed="rId5"/>
          <a:stretch>
            <a:fillRect/>
          </a:stretch>
        </p:blipFill>
        <p:spPr>
          <a:xfrm>
            <a:off x="8487461" y="1903781"/>
            <a:ext cx="307238" cy="307238"/>
          </a:xfrm>
          <a:prstGeom prst="rect">
            <a:avLst/>
          </a:prstGeom>
        </p:spPr>
      </p:pic>
      <p:sp>
        <p:nvSpPr>
          <p:cNvPr id="19" name="Text 14"/>
          <p:cNvSpPr txBox="1"/>
          <p:nvPr/>
        </p:nvSpPr>
        <p:spPr>
          <a:xfrm>
            <a:off x="10789920" y="1737360"/>
            <a:ext cx="502920" cy="548640"/>
          </a:xfrm>
          <a:prstGeom prst="rect">
            <a:avLst/>
          </a:prstGeom>
          <a:noFill/>
          <a:ln/>
        </p:spPr>
        <p:txBody>
          <a:bodyPr wrap="square" lIns="0" tIns="0" rIns="0" bIns="0" rtlCol="0" anchor="ctr"/>
          <a:lstStyle/>
          <a:p>
            <a:pPr marL="0" indent="0" algn="r">
              <a:buNone/>
            </a:pPr>
            <a:r>
              <a:rPr lang="en-US" sz="2600" b="1" dirty="0">
                <a:solidFill>
                  <a:srgbClr val="6B7385"/>
                </a:solidFill>
                <a:latin typeface="Arial" pitchFamily="34" charset="0"/>
                <a:ea typeface="Arial" pitchFamily="34" charset="-122"/>
                <a:cs typeface="Arial" pitchFamily="34" charset="-120"/>
              </a:rPr>
              <a:t>3</a:t>
            </a:r>
            <a:endParaRPr lang="en-US" sz="2600" dirty="0"/>
          </a:p>
        </p:txBody>
      </p:sp>
      <p:sp>
        <p:nvSpPr>
          <p:cNvPr id="20" name="Text 15"/>
          <p:cNvSpPr txBox="1"/>
          <p:nvPr/>
        </p:nvSpPr>
        <p:spPr>
          <a:xfrm>
            <a:off x="8321040" y="2487168"/>
            <a:ext cx="30175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Tienen lugar</a:t>
            </a:r>
            <a:endParaRPr lang="en-US" sz="1700" dirty="0"/>
          </a:p>
        </p:txBody>
      </p:sp>
      <p:sp>
        <p:nvSpPr>
          <p:cNvPr id="21" name="Text 16"/>
          <p:cNvSpPr txBox="1"/>
          <p:nvPr/>
        </p:nvSpPr>
        <p:spPr>
          <a:xfrm>
            <a:off x="8321040" y="2834640"/>
            <a:ext cx="3017520" cy="502920"/>
          </a:xfrm>
          <a:prstGeom prst="rect">
            <a:avLst/>
          </a:prstGeom>
          <a:noFill/>
          <a:ln/>
        </p:spPr>
        <p:txBody>
          <a:bodyPr wrap="square" lIns="0" tIns="0" rIns="0" bIns="0" rtlCol="0" anchor="t"/>
          <a:lstStyle/>
          <a:p>
            <a:pPr marL="0" indent="0">
              <a:buNone/>
            </a:pPr>
            <a:r>
              <a:rPr lang="en-US" sz="1250" dirty="0">
                <a:solidFill>
                  <a:srgbClr val="A7B0C0"/>
                </a:solidFill>
                <a:latin typeface="Calibri" pitchFamily="34" charset="0"/>
                <a:ea typeface="Calibri" pitchFamily="34" charset="-122"/>
                <a:cs typeface="Calibri" pitchFamily="34" charset="-120"/>
              </a:rPr>
              <a:t>10 parroquias concentran el 41 %: Quitumbe, Iñaquito y Calderón al frente.</a:t>
            </a:r>
            <a:endParaRPr lang="en-US" sz="1250" dirty="0"/>
          </a:p>
        </p:txBody>
      </p:sp>
      <p:sp>
        <p:nvSpPr>
          <p:cNvPr id="22" name="Shape 17"/>
          <p:cNvSpPr/>
          <p:nvPr/>
        </p:nvSpPr>
        <p:spPr>
          <a:xfrm>
            <a:off x="548640" y="3611880"/>
            <a:ext cx="3520440" cy="1920240"/>
          </a:xfrm>
          <a:prstGeom prst="roundRect">
            <a:avLst>
              <a:gd name="adj" fmla="val 4762"/>
            </a:avLst>
          </a:prstGeom>
          <a:solidFill>
            <a:srgbClr val="262C3B"/>
          </a:solidFill>
          <a:ln w="12700">
            <a:solidFill>
              <a:srgbClr val="262C3B"/>
            </a:solidFill>
            <a:prstDash val="solid"/>
          </a:ln>
        </p:spPr>
      </p:sp>
      <p:sp>
        <p:nvSpPr>
          <p:cNvPr id="23" name="Shape 18"/>
          <p:cNvSpPr/>
          <p:nvPr/>
        </p:nvSpPr>
        <p:spPr>
          <a:xfrm>
            <a:off x="822960" y="3886200"/>
            <a:ext cx="640080" cy="640080"/>
          </a:xfrm>
          <a:prstGeom prst="ellipse">
            <a:avLst/>
          </a:prstGeom>
          <a:solidFill>
            <a:srgbClr val="F5B700"/>
          </a:solidFill>
          <a:ln w="12700">
            <a:solidFill>
              <a:srgbClr val="F5B700"/>
            </a:solidFill>
            <a:prstDash val="solid"/>
          </a:ln>
        </p:spPr>
      </p:sp>
      <p:pic>
        <p:nvPicPr>
          <p:cNvPr id="24" name="Image 3" descr="preencoded.png"/>
          <p:cNvPicPr>
            <a:picLocks noChangeAspect="1"/>
          </p:cNvPicPr>
          <p:nvPr/>
        </p:nvPicPr>
        <p:blipFill>
          <a:blip r:embed="rId6"/>
          <a:stretch>
            <a:fillRect/>
          </a:stretch>
        </p:blipFill>
        <p:spPr>
          <a:xfrm>
            <a:off x="989381" y="4052621"/>
            <a:ext cx="307238" cy="307238"/>
          </a:xfrm>
          <a:prstGeom prst="rect">
            <a:avLst/>
          </a:prstGeom>
        </p:spPr>
      </p:pic>
      <p:sp>
        <p:nvSpPr>
          <p:cNvPr id="25" name="Text 19"/>
          <p:cNvSpPr txBox="1"/>
          <p:nvPr/>
        </p:nvSpPr>
        <p:spPr>
          <a:xfrm>
            <a:off x="3291840" y="3886200"/>
            <a:ext cx="502920" cy="548640"/>
          </a:xfrm>
          <a:prstGeom prst="rect">
            <a:avLst/>
          </a:prstGeom>
          <a:noFill/>
          <a:ln/>
        </p:spPr>
        <p:txBody>
          <a:bodyPr wrap="square" lIns="0" tIns="0" rIns="0" bIns="0" rtlCol="0" anchor="ctr"/>
          <a:lstStyle/>
          <a:p>
            <a:pPr marL="0" indent="0" algn="r">
              <a:buNone/>
            </a:pPr>
            <a:r>
              <a:rPr lang="en-US" sz="2600" b="1" dirty="0">
                <a:solidFill>
                  <a:srgbClr val="6B7385"/>
                </a:solidFill>
                <a:latin typeface="Arial" pitchFamily="34" charset="0"/>
                <a:ea typeface="Arial" pitchFamily="34" charset="-122"/>
                <a:cs typeface="Arial" pitchFamily="34" charset="-120"/>
              </a:rPr>
              <a:t>4</a:t>
            </a:r>
            <a:endParaRPr lang="en-US" sz="2600" dirty="0"/>
          </a:p>
        </p:txBody>
      </p:sp>
      <p:sp>
        <p:nvSpPr>
          <p:cNvPr id="26" name="Text 20"/>
          <p:cNvSpPr txBox="1"/>
          <p:nvPr/>
        </p:nvSpPr>
        <p:spPr>
          <a:xfrm>
            <a:off x="822960" y="4636008"/>
            <a:ext cx="30175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Cantidad no es gravedad</a:t>
            </a:r>
            <a:endParaRPr lang="en-US" sz="1700" dirty="0"/>
          </a:p>
        </p:txBody>
      </p:sp>
      <p:sp>
        <p:nvSpPr>
          <p:cNvPr id="27" name="Text 21"/>
          <p:cNvSpPr txBox="1"/>
          <p:nvPr/>
        </p:nvSpPr>
        <p:spPr>
          <a:xfrm>
            <a:off x="822960" y="4983480"/>
            <a:ext cx="3017520" cy="502920"/>
          </a:xfrm>
          <a:prstGeom prst="rect">
            <a:avLst/>
          </a:prstGeom>
          <a:noFill/>
          <a:ln/>
        </p:spPr>
        <p:txBody>
          <a:bodyPr wrap="square" lIns="0" tIns="0" rIns="0" bIns="0" rtlCol="0" anchor="t"/>
          <a:lstStyle/>
          <a:p>
            <a:pPr marL="0" indent="0">
              <a:buNone/>
            </a:pPr>
            <a:r>
              <a:rPr lang="en-US" sz="1250" dirty="0">
                <a:solidFill>
                  <a:srgbClr val="A7B0C0"/>
                </a:solidFill>
                <a:latin typeface="Calibri" pitchFamily="34" charset="0"/>
                <a:ea typeface="Calibri" pitchFamily="34" charset="-122"/>
                <a:cs typeface="Calibri" pitchFamily="34" charset="-120"/>
              </a:rPr>
              <a:t>Iñaquito: 602 siniestros y letalidad 3,5. Pifo: 98 siniestros y 44 fallecidos.</a:t>
            </a:r>
            <a:endParaRPr lang="en-US" sz="1250" dirty="0"/>
          </a:p>
        </p:txBody>
      </p:sp>
      <p:sp>
        <p:nvSpPr>
          <p:cNvPr id="28" name="Shape 22"/>
          <p:cNvSpPr/>
          <p:nvPr/>
        </p:nvSpPr>
        <p:spPr>
          <a:xfrm>
            <a:off x="4297680" y="3611880"/>
            <a:ext cx="3520440" cy="1920240"/>
          </a:xfrm>
          <a:prstGeom prst="roundRect">
            <a:avLst>
              <a:gd name="adj" fmla="val 4762"/>
            </a:avLst>
          </a:prstGeom>
          <a:solidFill>
            <a:srgbClr val="1E2330"/>
          </a:solidFill>
          <a:ln w="12700">
            <a:solidFill>
              <a:srgbClr val="1E2330"/>
            </a:solidFill>
            <a:prstDash val="solid"/>
          </a:ln>
        </p:spPr>
      </p:sp>
      <p:sp>
        <p:nvSpPr>
          <p:cNvPr id="29" name="Shape 23"/>
          <p:cNvSpPr/>
          <p:nvPr/>
        </p:nvSpPr>
        <p:spPr>
          <a:xfrm>
            <a:off x="4572000" y="3886200"/>
            <a:ext cx="640080" cy="640080"/>
          </a:xfrm>
          <a:prstGeom prst="ellipse">
            <a:avLst/>
          </a:prstGeom>
          <a:solidFill>
            <a:srgbClr val="F5B700"/>
          </a:solidFill>
          <a:ln w="12700">
            <a:solidFill>
              <a:srgbClr val="F5B700"/>
            </a:solidFill>
            <a:prstDash val="solid"/>
          </a:ln>
        </p:spPr>
      </p:sp>
      <p:pic>
        <p:nvPicPr>
          <p:cNvPr id="30" name="Image 4" descr="preencoded.png"/>
          <p:cNvPicPr>
            <a:picLocks noChangeAspect="1"/>
          </p:cNvPicPr>
          <p:nvPr/>
        </p:nvPicPr>
        <p:blipFill>
          <a:blip r:embed="rId7"/>
          <a:stretch>
            <a:fillRect/>
          </a:stretch>
        </p:blipFill>
        <p:spPr>
          <a:xfrm>
            <a:off x="4738421" y="4052621"/>
            <a:ext cx="307238" cy="307238"/>
          </a:xfrm>
          <a:prstGeom prst="rect">
            <a:avLst/>
          </a:prstGeom>
        </p:spPr>
      </p:pic>
      <p:sp>
        <p:nvSpPr>
          <p:cNvPr id="31" name="Text 24"/>
          <p:cNvSpPr txBox="1"/>
          <p:nvPr/>
        </p:nvSpPr>
        <p:spPr>
          <a:xfrm>
            <a:off x="7040880" y="3886200"/>
            <a:ext cx="502920" cy="548640"/>
          </a:xfrm>
          <a:prstGeom prst="rect">
            <a:avLst/>
          </a:prstGeom>
          <a:noFill/>
          <a:ln/>
        </p:spPr>
        <p:txBody>
          <a:bodyPr wrap="square" lIns="0" tIns="0" rIns="0" bIns="0" rtlCol="0" anchor="ctr"/>
          <a:lstStyle/>
          <a:p>
            <a:pPr marL="0" indent="0" algn="r">
              <a:buNone/>
            </a:pPr>
            <a:r>
              <a:rPr lang="en-US" sz="2600" b="1" dirty="0">
                <a:solidFill>
                  <a:srgbClr val="6B7385"/>
                </a:solidFill>
                <a:latin typeface="Arial" pitchFamily="34" charset="0"/>
                <a:ea typeface="Arial" pitchFamily="34" charset="-122"/>
                <a:cs typeface="Arial" pitchFamily="34" charset="-120"/>
              </a:rPr>
              <a:t>5</a:t>
            </a:r>
            <a:endParaRPr lang="en-US" sz="2600" dirty="0"/>
          </a:p>
        </p:txBody>
      </p:sp>
      <p:sp>
        <p:nvSpPr>
          <p:cNvPr id="32" name="Text 25"/>
          <p:cNvSpPr txBox="1"/>
          <p:nvPr/>
        </p:nvSpPr>
        <p:spPr>
          <a:xfrm>
            <a:off x="4572000" y="4636008"/>
            <a:ext cx="30175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Tienen causa y perfil</a:t>
            </a:r>
            <a:endParaRPr lang="en-US" sz="1700" dirty="0"/>
          </a:p>
        </p:txBody>
      </p:sp>
      <p:sp>
        <p:nvSpPr>
          <p:cNvPr id="33" name="Text 26"/>
          <p:cNvSpPr txBox="1"/>
          <p:nvPr/>
        </p:nvSpPr>
        <p:spPr>
          <a:xfrm>
            <a:off x="4572000" y="4983480"/>
            <a:ext cx="3017520" cy="502920"/>
          </a:xfrm>
          <a:prstGeom prst="rect">
            <a:avLst/>
          </a:prstGeom>
          <a:noFill/>
          <a:ln/>
        </p:spPr>
        <p:txBody>
          <a:bodyPr wrap="square" lIns="0" tIns="0" rIns="0" bIns="0" rtlCol="0" anchor="t"/>
          <a:lstStyle/>
          <a:p>
            <a:pPr marL="0" indent="0">
              <a:buNone/>
            </a:pPr>
            <a:r>
              <a:rPr lang="en-US" sz="1250" dirty="0">
                <a:solidFill>
                  <a:srgbClr val="A7B0C0"/>
                </a:solidFill>
                <a:latin typeface="Calibri" pitchFamily="34" charset="0"/>
                <a:ea typeface="Calibri" pitchFamily="34" charset="-122"/>
                <a:cs typeface="Calibri" pitchFamily="34" charset="-120"/>
              </a:rPr>
              <a:t>El conductor: imprudencia, velocidad y alcohol. Hombres de 20 a 34 años.</a:t>
            </a:r>
            <a:endParaRPr lang="en-US" sz="1250" dirty="0"/>
          </a:p>
        </p:txBody>
      </p:sp>
      <p:sp>
        <p:nvSpPr>
          <p:cNvPr id="34" name="Shape 27"/>
          <p:cNvSpPr/>
          <p:nvPr/>
        </p:nvSpPr>
        <p:spPr>
          <a:xfrm>
            <a:off x="8046720" y="3611880"/>
            <a:ext cx="3520440" cy="1920240"/>
          </a:xfrm>
          <a:prstGeom prst="roundRect">
            <a:avLst>
              <a:gd name="adj" fmla="val 4762"/>
            </a:avLst>
          </a:prstGeom>
          <a:solidFill>
            <a:srgbClr val="262C3B"/>
          </a:solidFill>
          <a:ln w="12700">
            <a:solidFill>
              <a:srgbClr val="262C3B"/>
            </a:solidFill>
            <a:prstDash val="solid"/>
          </a:ln>
        </p:spPr>
      </p:sp>
      <p:sp>
        <p:nvSpPr>
          <p:cNvPr id="35" name="Shape 28"/>
          <p:cNvSpPr/>
          <p:nvPr/>
        </p:nvSpPr>
        <p:spPr>
          <a:xfrm>
            <a:off x="8321040" y="3886200"/>
            <a:ext cx="640080" cy="640080"/>
          </a:xfrm>
          <a:prstGeom prst="ellipse">
            <a:avLst/>
          </a:prstGeom>
          <a:solidFill>
            <a:srgbClr val="FF4D4D"/>
          </a:solidFill>
          <a:ln w="12700">
            <a:solidFill>
              <a:srgbClr val="FF4D4D"/>
            </a:solidFill>
            <a:prstDash val="solid"/>
          </a:ln>
        </p:spPr>
      </p:sp>
      <p:pic>
        <p:nvPicPr>
          <p:cNvPr id="36" name="Image 5" descr="preencoded.png"/>
          <p:cNvPicPr>
            <a:picLocks noChangeAspect="1"/>
          </p:cNvPicPr>
          <p:nvPr/>
        </p:nvPicPr>
        <p:blipFill>
          <a:blip r:embed="rId8"/>
          <a:stretch>
            <a:fillRect/>
          </a:stretch>
        </p:blipFill>
        <p:spPr>
          <a:xfrm>
            <a:off x="8487461" y="4052621"/>
            <a:ext cx="307238" cy="307238"/>
          </a:xfrm>
          <a:prstGeom prst="rect">
            <a:avLst/>
          </a:prstGeom>
        </p:spPr>
      </p:pic>
      <p:sp>
        <p:nvSpPr>
          <p:cNvPr id="37" name="Text 29"/>
          <p:cNvSpPr txBox="1"/>
          <p:nvPr/>
        </p:nvSpPr>
        <p:spPr>
          <a:xfrm>
            <a:off x="10789920" y="3886200"/>
            <a:ext cx="502920" cy="548640"/>
          </a:xfrm>
          <a:prstGeom prst="rect">
            <a:avLst/>
          </a:prstGeom>
          <a:noFill/>
          <a:ln/>
        </p:spPr>
        <p:txBody>
          <a:bodyPr wrap="square" lIns="0" tIns="0" rIns="0" bIns="0" rtlCol="0" anchor="ctr"/>
          <a:lstStyle/>
          <a:p>
            <a:pPr marL="0" indent="0" algn="r">
              <a:buNone/>
            </a:pPr>
            <a:r>
              <a:rPr lang="en-US" sz="2600" b="1" dirty="0">
                <a:solidFill>
                  <a:srgbClr val="6B7385"/>
                </a:solidFill>
                <a:latin typeface="Arial" pitchFamily="34" charset="0"/>
                <a:ea typeface="Arial" pitchFamily="34" charset="-122"/>
                <a:cs typeface="Arial" pitchFamily="34" charset="-120"/>
              </a:rPr>
              <a:t>6</a:t>
            </a:r>
            <a:endParaRPr lang="en-US" sz="2600" dirty="0"/>
          </a:p>
        </p:txBody>
      </p:sp>
      <p:sp>
        <p:nvSpPr>
          <p:cNvPr id="38" name="Text 30"/>
          <p:cNvSpPr txBox="1"/>
          <p:nvPr/>
        </p:nvSpPr>
        <p:spPr>
          <a:xfrm>
            <a:off x="8321040" y="4636008"/>
            <a:ext cx="301752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Lo más grave</a:t>
            </a:r>
            <a:endParaRPr lang="en-US" sz="1700" dirty="0"/>
          </a:p>
        </p:txBody>
      </p:sp>
      <p:sp>
        <p:nvSpPr>
          <p:cNvPr id="39" name="Text 31"/>
          <p:cNvSpPr txBox="1"/>
          <p:nvPr/>
        </p:nvSpPr>
        <p:spPr>
          <a:xfrm>
            <a:off x="8321040" y="4983480"/>
            <a:ext cx="3017520" cy="502920"/>
          </a:xfrm>
          <a:prstGeom prst="rect">
            <a:avLst/>
          </a:prstGeom>
          <a:noFill/>
          <a:ln/>
        </p:spPr>
        <p:txBody>
          <a:bodyPr wrap="square" lIns="0" tIns="0" rIns="0" bIns="0" rtlCol="0" anchor="t"/>
          <a:lstStyle/>
          <a:p>
            <a:pPr marL="0" indent="0">
              <a:buNone/>
            </a:pPr>
            <a:r>
              <a:rPr lang="en-US" sz="1250" dirty="0">
                <a:solidFill>
                  <a:srgbClr val="A7B0C0"/>
                </a:solidFill>
                <a:latin typeface="Calibri" pitchFamily="34" charset="0"/>
                <a:ea typeface="Calibri" pitchFamily="34" charset="-122"/>
                <a:cs typeface="Calibri" pitchFamily="34" charset="-120"/>
              </a:rPr>
              <a:t>La madrugada del fin de semana, la zona rural y los atropellos (825 mortales).</a:t>
            </a:r>
            <a:endParaRPr lang="en-US" sz="1250" dirty="0"/>
          </a:p>
        </p:txBody>
      </p:sp>
      <p:sp>
        <p:nvSpPr>
          <p:cNvPr id="40" name="Shape 32"/>
          <p:cNvSpPr/>
          <p:nvPr/>
        </p:nvSpPr>
        <p:spPr>
          <a:xfrm>
            <a:off x="548640" y="5852160"/>
            <a:ext cx="11091672" cy="731520"/>
          </a:xfrm>
          <a:prstGeom prst="roundRect">
            <a:avLst>
              <a:gd name="adj" fmla="val 12500"/>
            </a:avLst>
          </a:prstGeom>
          <a:solidFill>
            <a:srgbClr val="262C3B"/>
          </a:solidFill>
          <a:ln w="12700">
            <a:solidFill>
              <a:srgbClr val="262C3B"/>
            </a:solidFill>
            <a:prstDash val="solid"/>
          </a:ln>
        </p:spPr>
      </p:sp>
      <p:sp>
        <p:nvSpPr>
          <p:cNvPr id="41" name="Text 33"/>
          <p:cNvSpPr txBox="1"/>
          <p:nvPr/>
        </p:nvSpPr>
        <p:spPr>
          <a:xfrm>
            <a:off x="822960" y="5852160"/>
            <a:ext cx="10607040" cy="731520"/>
          </a:xfrm>
          <a:prstGeom prst="rect">
            <a:avLst/>
          </a:prstGeom>
          <a:noFill/>
          <a:ln/>
        </p:spPr>
        <p:txBody>
          <a:bodyPr wrap="square" lIns="0" tIns="0" rIns="0" bIns="0" rtlCol="0" anchor="ctr"/>
          <a:lstStyle/>
          <a:p>
            <a:pPr marL="0" indent="0">
              <a:buNone/>
            </a:pPr>
            <a:r>
              <a:rPr lang="en-US" sz="1600" b="1" dirty="0">
                <a:solidFill>
                  <a:srgbClr val="F5B700"/>
                </a:solidFill>
                <a:latin typeface="Calibri" pitchFamily="34" charset="0"/>
                <a:ea typeface="Calibri" pitchFamily="34" charset="-122"/>
                <a:cs typeface="Calibri" pitchFamily="34" charset="-120"/>
              </a:rPr>
              <a:t>En una frase: </a:t>
            </a:r>
            <a:r>
              <a:rPr lang="en-US" sz="1600" dirty="0">
                <a:solidFill>
                  <a:srgbClr val="FFFFFF"/>
                </a:solidFill>
                <a:latin typeface="Calibri" pitchFamily="34" charset="0"/>
                <a:ea typeface="Calibri" pitchFamily="34" charset="-122"/>
                <a:cs typeface="Calibri" pitchFamily="34" charset="-120"/>
              </a:rPr>
              <a:t>los siniestros no ocurren al azar. Tienen hora, día, lugar y causa, y por eso se pueden predecir.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4171F"/>
        </a:solidFill>
        <a:effectLst/>
      </p:bgPr>
    </p:bg>
    <p:spTree>
      <p:nvGrpSpPr>
        <p:cNvPr id="1" name=""/>
        <p:cNvGrpSpPr/>
        <p:nvPr/>
      </p:nvGrpSpPr>
      <p:grpSpPr>
        <a:xfrm>
          <a:off x="0" y="0"/>
          <a:ext cx="0" cy="0"/>
          <a:chOff x="0" y="0"/>
          <a:chExt cx="0" cy="0"/>
        </a:xfrm>
      </p:grpSpPr>
      <p:pic>
        <p:nvPicPr>
          <p:cNvPr id="2" name="Image 0" descr="mapa_portada.png"/>
          <p:cNvPicPr>
            <a:picLocks noChangeAspect="1"/>
          </p:cNvPicPr>
          <p:nvPr/>
        </p:nvPicPr>
        <p:blipFill>
          <a:blip r:embed="rId3">
            <a:alphaModFix amt="65000"/>
          </a:blip>
          <a:srcRect/>
          <a:stretch/>
        </p:blipFill>
        <p:spPr>
          <a:xfrm>
            <a:off x="6400800" y="0"/>
            <a:ext cx="5788152" cy="6858000"/>
          </a:xfrm>
          <a:prstGeom prst="rect">
            <a:avLst/>
          </a:prstGeom>
        </p:spPr>
      </p:pic>
      <p:sp>
        <p:nvSpPr>
          <p:cNvPr id="3" name="Text 0"/>
          <p:cNvSpPr txBox="1"/>
          <p:nvPr/>
        </p:nvSpPr>
        <p:spPr>
          <a:xfrm>
            <a:off x="548640" y="822960"/>
            <a:ext cx="5486400" cy="320040"/>
          </a:xfrm>
          <a:prstGeom prst="rect">
            <a:avLst/>
          </a:prstGeom>
          <a:noFill/>
          <a:ln/>
        </p:spPr>
        <p:txBody>
          <a:bodyPr wrap="square" lIns="0" tIns="0" rIns="0" bIns="0" rtlCol="0" anchor="ctr"/>
          <a:lstStyle/>
          <a:p>
            <a:pPr marL="0" indent="0">
              <a:buNone/>
            </a:pPr>
            <a:r>
              <a:rPr lang="en-US" sz="1300" b="1" kern="0" spc="200" dirty="0">
                <a:solidFill>
                  <a:srgbClr val="F5B700"/>
                </a:solidFill>
                <a:latin typeface="Calibri" pitchFamily="34" charset="0"/>
                <a:ea typeface="Calibri" pitchFamily="34" charset="-122"/>
                <a:cs typeface="Calibri" pitchFamily="34" charset="-120"/>
              </a:rPr>
              <a:t>LO QUE SIGUE</a:t>
            </a:r>
            <a:endParaRPr lang="en-US" sz="1300" dirty="0"/>
          </a:p>
        </p:txBody>
      </p:sp>
      <p:sp>
        <p:nvSpPr>
          <p:cNvPr id="4" name="Text 1"/>
          <p:cNvSpPr txBox="1"/>
          <p:nvPr/>
        </p:nvSpPr>
        <p:spPr>
          <a:xfrm>
            <a:off x="548640" y="1188720"/>
            <a:ext cx="5669280" cy="128016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Con estos hallazgos construimos el modelo</a:t>
            </a:r>
            <a:endParaRPr lang="en-US" sz="3200" dirty="0"/>
          </a:p>
        </p:txBody>
      </p:sp>
      <p:sp>
        <p:nvSpPr>
          <p:cNvPr id="5" name="Shape 2"/>
          <p:cNvSpPr/>
          <p:nvPr/>
        </p:nvSpPr>
        <p:spPr>
          <a:xfrm>
            <a:off x="548640" y="2743200"/>
            <a:ext cx="640080" cy="640080"/>
          </a:xfrm>
          <a:prstGeom prst="ellipse">
            <a:avLst/>
          </a:prstGeom>
          <a:solidFill>
            <a:srgbClr val="F5B700"/>
          </a:solidFill>
          <a:ln w="12700">
            <a:solidFill>
              <a:srgbClr val="F5B700"/>
            </a:solidFill>
            <a:prstDash val="solid"/>
          </a:ln>
        </p:spPr>
      </p:sp>
      <p:pic>
        <p:nvPicPr>
          <p:cNvPr id="6" name="Image 1" descr="preencoded.png"/>
          <p:cNvPicPr>
            <a:picLocks noChangeAspect="1"/>
          </p:cNvPicPr>
          <p:nvPr/>
        </p:nvPicPr>
        <p:blipFill>
          <a:blip r:embed="rId4"/>
          <a:stretch>
            <a:fillRect/>
          </a:stretch>
        </p:blipFill>
        <p:spPr>
          <a:xfrm>
            <a:off x="715061" y="2909621"/>
            <a:ext cx="307238" cy="307238"/>
          </a:xfrm>
          <a:prstGeom prst="rect">
            <a:avLst/>
          </a:prstGeom>
        </p:spPr>
      </p:pic>
      <p:sp>
        <p:nvSpPr>
          <p:cNvPr id="7" name="Text 3"/>
          <p:cNvSpPr txBox="1"/>
          <p:nvPr/>
        </p:nvSpPr>
        <p:spPr>
          <a:xfrm>
            <a:off x="1371600" y="2715768"/>
            <a:ext cx="45720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Modelado</a:t>
            </a:r>
            <a:endParaRPr lang="en-US" sz="1700" dirty="0"/>
          </a:p>
        </p:txBody>
      </p:sp>
      <p:sp>
        <p:nvSpPr>
          <p:cNvPr id="8" name="Text 4"/>
          <p:cNvSpPr txBox="1"/>
          <p:nvPr/>
        </p:nvSpPr>
        <p:spPr>
          <a:xfrm>
            <a:off x="1371600" y="3044952"/>
            <a:ext cx="4754880" cy="365760"/>
          </a:xfrm>
          <a:prstGeom prst="rect">
            <a:avLst/>
          </a:prstGeom>
          <a:noFill/>
          <a:ln/>
        </p:spPr>
        <p:txBody>
          <a:bodyPr wrap="square" lIns="0" tIns="0" rIns="0" bIns="0" rtlCol="0" anchor="ctr"/>
          <a:lstStyle/>
          <a:p>
            <a:pPr marL="0" indent="0">
              <a:buNone/>
            </a:pPr>
            <a:r>
              <a:rPr lang="en-US" sz="1300" dirty="0">
                <a:solidFill>
                  <a:srgbClr val="A7B0C0"/>
                </a:solidFill>
                <a:latin typeface="Calibri" pitchFamily="34" charset="0"/>
                <a:ea typeface="Calibri" pitchFamily="34" charset="-122"/>
                <a:cs typeface="Calibri" pitchFamily="34" charset="-120"/>
              </a:rPr>
              <a:t>Zonas críticas y nivel de riesgo por parroquia, día y hora</a:t>
            </a:r>
            <a:endParaRPr lang="en-US" sz="1300" dirty="0"/>
          </a:p>
        </p:txBody>
      </p:sp>
      <p:sp>
        <p:nvSpPr>
          <p:cNvPr id="9" name="Shape 5"/>
          <p:cNvSpPr/>
          <p:nvPr/>
        </p:nvSpPr>
        <p:spPr>
          <a:xfrm>
            <a:off x="548640" y="3611880"/>
            <a:ext cx="640080" cy="640080"/>
          </a:xfrm>
          <a:prstGeom prst="ellipse">
            <a:avLst/>
          </a:prstGeom>
          <a:solidFill>
            <a:srgbClr val="F5B700"/>
          </a:solidFill>
          <a:ln w="12700">
            <a:solidFill>
              <a:srgbClr val="F5B700"/>
            </a:solidFill>
            <a:prstDash val="solid"/>
          </a:ln>
        </p:spPr>
      </p:sp>
      <p:pic>
        <p:nvPicPr>
          <p:cNvPr id="10" name="Image 2" descr="preencoded.png"/>
          <p:cNvPicPr>
            <a:picLocks noChangeAspect="1"/>
          </p:cNvPicPr>
          <p:nvPr/>
        </p:nvPicPr>
        <p:blipFill>
          <a:blip r:embed="rId5"/>
          <a:stretch>
            <a:fillRect/>
          </a:stretch>
        </p:blipFill>
        <p:spPr>
          <a:xfrm>
            <a:off x="715061" y="3778301"/>
            <a:ext cx="307238" cy="307238"/>
          </a:xfrm>
          <a:prstGeom prst="rect">
            <a:avLst/>
          </a:prstGeom>
        </p:spPr>
      </p:pic>
      <p:sp>
        <p:nvSpPr>
          <p:cNvPr id="11" name="Text 6"/>
          <p:cNvSpPr txBox="1"/>
          <p:nvPr/>
        </p:nvSpPr>
        <p:spPr>
          <a:xfrm>
            <a:off x="1371600" y="3584448"/>
            <a:ext cx="45720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Evaluación</a:t>
            </a:r>
            <a:endParaRPr lang="en-US" sz="1700" dirty="0"/>
          </a:p>
        </p:txBody>
      </p:sp>
      <p:sp>
        <p:nvSpPr>
          <p:cNvPr id="12" name="Text 7"/>
          <p:cNvSpPr txBox="1"/>
          <p:nvPr/>
        </p:nvSpPr>
        <p:spPr>
          <a:xfrm>
            <a:off x="1371600" y="3913632"/>
            <a:ext cx="4754880" cy="365760"/>
          </a:xfrm>
          <a:prstGeom prst="rect">
            <a:avLst/>
          </a:prstGeom>
          <a:noFill/>
          <a:ln/>
        </p:spPr>
        <p:txBody>
          <a:bodyPr wrap="square" lIns="0" tIns="0" rIns="0" bIns="0" rtlCol="0" anchor="ctr"/>
          <a:lstStyle/>
          <a:p>
            <a:pPr marL="0" indent="0">
              <a:buNone/>
            </a:pPr>
            <a:r>
              <a:rPr lang="en-US" sz="1300" dirty="0">
                <a:solidFill>
                  <a:srgbClr val="A7B0C0"/>
                </a:solidFill>
                <a:latin typeface="Calibri" pitchFamily="34" charset="0"/>
                <a:ea typeface="Calibri" pitchFamily="34" charset="-122"/>
                <a:cs typeface="Calibri" pitchFamily="34" charset="-120"/>
              </a:rPr>
              <a:t>Entrenar con 2024–2025 y probar con 2026</a:t>
            </a:r>
            <a:endParaRPr lang="en-US" sz="1300" dirty="0"/>
          </a:p>
        </p:txBody>
      </p:sp>
      <p:sp>
        <p:nvSpPr>
          <p:cNvPr id="13" name="Shape 8"/>
          <p:cNvSpPr/>
          <p:nvPr/>
        </p:nvSpPr>
        <p:spPr>
          <a:xfrm>
            <a:off x="548640" y="4480560"/>
            <a:ext cx="640080" cy="640080"/>
          </a:xfrm>
          <a:prstGeom prst="ellipse">
            <a:avLst/>
          </a:prstGeom>
          <a:solidFill>
            <a:srgbClr val="F5B700"/>
          </a:solidFill>
          <a:ln w="12700">
            <a:solidFill>
              <a:srgbClr val="F5B700"/>
            </a:solidFill>
            <a:prstDash val="solid"/>
          </a:ln>
        </p:spPr>
      </p:sp>
      <p:pic>
        <p:nvPicPr>
          <p:cNvPr id="14" name="Image 3" descr="preencoded.png"/>
          <p:cNvPicPr>
            <a:picLocks noChangeAspect="1"/>
          </p:cNvPicPr>
          <p:nvPr/>
        </p:nvPicPr>
        <p:blipFill>
          <a:blip r:embed="rId6"/>
          <a:stretch>
            <a:fillRect/>
          </a:stretch>
        </p:blipFill>
        <p:spPr>
          <a:xfrm>
            <a:off x="715061" y="4646981"/>
            <a:ext cx="307238" cy="307238"/>
          </a:xfrm>
          <a:prstGeom prst="rect">
            <a:avLst/>
          </a:prstGeom>
        </p:spPr>
      </p:pic>
      <p:sp>
        <p:nvSpPr>
          <p:cNvPr id="15" name="Text 9"/>
          <p:cNvSpPr txBox="1"/>
          <p:nvPr/>
        </p:nvSpPr>
        <p:spPr>
          <a:xfrm>
            <a:off x="1371600" y="4453128"/>
            <a:ext cx="45720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Dashboard</a:t>
            </a:r>
            <a:endParaRPr lang="en-US" sz="1700" dirty="0"/>
          </a:p>
        </p:txBody>
      </p:sp>
      <p:sp>
        <p:nvSpPr>
          <p:cNvPr id="16" name="Text 10"/>
          <p:cNvSpPr txBox="1"/>
          <p:nvPr/>
        </p:nvSpPr>
        <p:spPr>
          <a:xfrm>
            <a:off x="1371600" y="4782312"/>
            <a:ext cx="4754880" cy="365760"/>
          </a:xfrm>
          <a:prstGeom prst="rect">
            <a:avLst/>
          </a:prstGeom>
          <a:noFill/>
          <a:ln/>
        </p:spPr>
        <p:txBody>
          <a:bodyPr wrap="square" lIns="0" tIns="0" rIns="0" bIns="0" rtlCol="0" anchor="ctr"/>
          <a:lstStyle/>
          <a:p>
            <a:pPr marL="0" indent="0">
              <a:buNone/>
            </a:pPr>
            <a:r>
              <a:rPr lang="en-US" sz="1300" dirty="0">
                <a:solidFill>
                  <a:srgbClr val="A7B0C0"/>
                </a:solidFill>
                <a:latin typeface="Calibri" pitchFamily="34" charset="0"/>
                <a:ea typeface="Calibri" pitchFamily="34" charset="-122"/>
                <a:cs typeface="Calibri" pitchFamily="34" charset="-120"/>
              </a:rPr>
              <a:t>Mapa y escenarios, validado en la Av. Simón Bolívar</a:t>
            </a:r>
            <a:endParaRPr lang="en-US" sz="1300" dirty="0"/>
          </a:p>
        </p:txBody>
      </p:sp>
      <p:sp>
        <p:nvSpPr>
          <p:cNvPr id="17" name="Text 11"/>
          <p:cNvSpPr txBox="1"/>
          <p:nvPr/>
        </p:nvSpPr>
        <p:spPr>
          <a:xfrm>
            <a:off x="548640" y="5486400"/>
            <a:ext cx="5486400" cy="548640"/>
          </a:xfrm>
          <a:prstGeom prst="rect">
            <a:avLst/>
          </a:prstGeom>
          <a:noFill/>
          <a:ln/>
        </p:spPr>
        <p:txBody>
          <a:bodyPr wrap="square" lIns="0" tIns="0" rIns="0" bIns="0" rtlCol="0" anchor="ctr"/>
          <a:lstStyle/>
          <a:p>
            <a:pPr marL="0" indent="0">
              <a:buNone/>
            </a:pPr>
            <a:r>
              <a:rPr lang="en-US" sz="2600" b="1" dirty="0">
                <a:solidFill>
                  <a:srgbClr val="F5B700"/>
                </a:solidFill>
                <a:latin typeface="Arial" pitchFamily="34" charset="0"/>
                <a:ea typeface="Arial" pitchFamily="34" charset="-122"/>
                <a:cs typeface="Arial" pitchFamily="34" charset="-120"/>
              </a:rPr>
              <a:t>Gracias. ¿Preguntas?</a:t>
            </a:r>
            <a:endParaRPr lang="en-US" sz="2600" dirty="0"/>
          </a:p>
        </p:txBody>
      </p:sp>
      <p:sp>
        <p:nvSpPr>
          <p:cNvPr id="18" name="Text 12"/>
          <p:cNvSpPr txBox="1"/>
          <p:nvPr/>
        </p:nvSpPr>
        <p:spPr>
          <a:xfrm>
            <a:off x="548640" y="6080760"/>
            <a:ext cx="5669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Maximiliano Parra  ·  Jonathan Larraga  ·  Ariel Pilliza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4032</Words>
  <Application>Microsoft Office PowerPoint</Application>
  <PresentationFormat>Panorámica</PresentationFormat>
  <Paragraphs>303</Paragraphs>
  <Slides>20</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Predictivo de Accidentes de Tránsito en Quito — Avance 2</dc:title>
  <dc:subject>PptxGenJS Presentation</dc:subject>
  <dc:creator>PptxGenJS</dc:creator>
  <cp:lastModifiedBy>Maximiliano Parra</cp:lastModifiedBy>
  <cp:revision>2</cp:revision>
  <dcterms:created xsi:type="dcterms:W3CDTF">2026-10-06T21:42:36Z</dcterms:created>
  <dcterms:modified xsi:type="dcterms:W3CDTF">2026-10-06T21:57:28Z</dcterms:modified>
</cp:coreProperties>
</file>